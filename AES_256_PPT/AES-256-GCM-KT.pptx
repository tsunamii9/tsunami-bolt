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88" r:id="rId7"/>
    <p:sldId id="261" r:id="rId8"/>
    <p:sldId id="262" r:id="rId9"/>
    <p:sldId id="263" r:id="rId10"/>
    <p:sldId id="264" r:id="rId11"/>
    <p:sldId id="265" r:id="rId12"/>
    <p:sldId id="290"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7FD96D-4321-FA4A-94C8-0C3F770D3E24}" v="1" dt="2026-08-06T20:04:38.3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303"/>
    <p:restoredTop sz="94610"/>
  </p:normalViewPr>
  <p:slideViewPr>
    <p:cSldViewPr snapToGrid="0" snapToObjects="1">
      <p:cViewPr varScale="1">
        <p:scale>
          <a:sx n="116" d="100"/>
          <a:sy n="116" d="100"/>
        </p:scale>
        <p:origin x="208" y="3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4966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Two rules for the next 45 minutes: interrupt me, and no question is too basic — half this room writes crypto code and half this room just needs to know why the payloads got bigger. Every term I use gets defined on the slide where it first appears.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on the split. Non-developers: you are welcome to drop off after part 1, but part 3 has the "what does this cost us operationally" material, so leads should stay.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specific compliance control here — the deck has a placeholder on the open-decisions slide. A mandate people can cite is far easier to sell than "security said so".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the non-developers here. Nothing in the next twelve minutes requires you to read code.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locked box / tamper-evident seal / signature triple is the one analogy to repeat all session. AEAD gets defined here and used freely afterwards.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A493B-61A4-4A0D-337A-E195D8AE20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6402DD-DEAE-2AF6-51C5-B3D1FAC8CF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45DF40-B92B-955B-AA04-2F142C4AB246}"/>
              </a:ext>
            </a:extLst>
          </p:cNvPr>
          <p:cNvSpPr>
            <a:spLocks noGrp="1"/>
          </p:cNvSpPr>
          <p:nvPr>
            <p:ph type="body" idx="1"/>
          </p:nvPr>
        </p:nvSpPr>
        <p:spPr/>
        <p:txBody>
          <a:bodyPr/>
          <a:lstStyle/>
          <a:p>
            <a:r>
              <a:rPr lang="en-US" dirty="0"/>
              <a:t>The locked box / tamper-evident seal / signature triple is the one analogy to repeat all session. AEAD gets defined here and used freely afterwards.</a:t>
            </a:r>
          </a:p>
        </p:txBody>
      </p:sp>
      <p:sp>
        <p:nvSpPr>
          <p:cNvPr id="4" name="Slide Number Placeholder 3">
            <a:extLst>
              <a:ext uri="{FF2B5EF4-FFF2-40B4-BE49-F238E27FC236}">
                <a16:creationId xmlns:a16="http://schemas.microsoft.com/office/drawing/2014/main" id="{D355AFE5-34DD-9332-8686-F774FDCFB136}"/>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9540408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Someone always asks "we already have HTTPS, why encrypt again?" — plant the answer here so slide 25 can expand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defuse panic and to defuse cynicism at the same time: no, we were not breached; no, this is not security theatre.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If the room only remembers one slide, it should be this one. Ask whether anyone wants a term repeated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non-technical stakeholder asks you afterwards what we did, this is the slide to send them.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part 1. Say explicitly: non-developers, this is your natural exit point, and everything from here is implementation detail.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mandate — put the actual source on the record. RBI = Reserve Bank of India (our banking regulator); CERT-In = India's national cyber agency under MeitY. So when anyone asks "who said we have to do this", it is Indian regulators, not a vendor or an internal preference.
Define the two terms plainly: CBOM (Cryptographic Bill of Materials) is an inventory of all our crypto — like an SBOM but for ciphers, keys and certs. QBOM (Quantum Bill of Materials) tags each one safe/unsafe against quantum. Note out loud that our HKDF info string, CBOM-AES-256-GCM-SHA384, is named directly after this framework.
The driver to say slowly: "harvest now, decrypt later." Nobody has a quantum computer today — but an adversary can record our encrypted traffic now and decrypt it later once they do. Banking data (KYC, transactions, anything under RBI retention) stays sensitive for years, so it has to be protected against that future today. That is why a regulator moves early.
Critical honesty point — do not let the room think AES-256-GCM alone = fully compliant. Our team owns three of the four rows: AES-256, SHA-384, and the GCM cipher suite. The fourth row, Hybrid PQC key exchange (X25519 + Kyber-768), is the ASYMMETRIC part that quantum actually threatens (Shor breaks X25519; Kyber is the post-quantum reinforcement). It lives in the TLS termination layer and is a separate workstream. If asked "so are we quantum-safe now?": our payload layer is; full compliance also needs the TLS stack doing hybrid Kyber, which platform owns.
If asked why ChaCha20-Poly1305 is also on the approved list: it is the IETF equivalent AEAD, equally safe, used when there is no AES hardware. We pick AES-256-GCM because our servers have AES-NI, so it is both approved and faster.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check: you should be about 15 minutes in when this slide appears.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aloud. Point at three rows: integrity, padding, and key derivation.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 04 is the one to dwell on — it is specific to us, and it is the strongest argument in the deck.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question "is this slower than what we had" — answer here, it is usually faster on any CPU made in the last decade.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the quantum angle — an engineer who knows the literature will lose trust in the rest of the deck if you do. The honest framing lands better anyway.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info string is the part people skip. Stress that it is what stops key confusion between services.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Anticipate: "why does our library have two modes?" This slide is the answer. Both are correct, for different inputs.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 defect found in the source docs. Raising it live is far cheaper than debugging it across two services next month.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 real endpoint handy, show the actual request in Postman right after this slide — it makes the demo land faster.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demo.py from the terminal, full screen, font size up. Act 3 is the money shot — pause on the traceback and say "under CBC this would have returned garbage and we would have parsed 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check: roughly 33 minutes in here. If you are behind, compress the alternatives slide, not the hardening ones.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team takes exactly one action item away from part 3, make it this one.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version byte is the second concrete decision this session needs. It costs nothing now.</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and without blame. A KT deck reaches far more people than a repo does, and secrets in documentation outlive the documentation.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Leads care about this slide. It stops "we are encrypted now" becoming an excuse to skip authorization review.</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Someone will ask about ChaCha20 — it is the fashionable answer. Give it credit; the reason we are not using it is genuinely just AES-NI plus the mandate.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the four dates in before you present. A migration plan with TBD dates reads as a wish, not a plan.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owners and dates live, on the slide, before anyone leaves the room.</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come up every time. Having them on the slide saves you from being surprised and keeps the Q&amp;A moving.</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open in a second window during Q&amp;A.</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one as a handout. It is the reason nobody has to be embarrassed about not knowing a word.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back-to-back with the glossary. Two sides of one page is the whole handout.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1"/>
        </a:solidFill>
        <a:effectLst/>
      </p:bgPr>
    </p:bg>
    <p:spTree>
      <p:nvGrpSpPr>
        <p:cNvPr id="1" name=""/>
        <p:cNvGrpSpPr/>
        <p:nvPr/>
      </p:nvGrpSpPr>
      <p:grpSpPr>
        <a:xfrm>
          <a:off x="0" y="0"/>
          <a:ext cx="0" cy="0"/>
          <a:chOff x="0" y="0"/>
          <a:chExt cx="0" cy="0"/>
        </a:xfrm>
      </p:grpSpPr>
      <p:sp>
        <p:nvSpPr>
          <p:cNvPr id="2" name="Text 0"/>
          <p:cNvSpPr/>
          <p:nvPr/>
        </p:nvSpPr>
        <p:spPr>
          <a:xfrm>
            <a:off x="566928" y="1481328"/>
            <a:ext cx="8595360" cy="91440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AES-256-GCM</a:t>
            </a:r>
            <a:endParaRPr lang="en-US" sz="5200" dirty="0"/>
          </a:p>
        </p:txBody>
      </p:sp>
      <p:sp>
        <p:nvSpPr>
          <p:cNvPr id="3" name="Text 1"/>
          <p:cNvSpPr/>
          <p:nvPr/>
        </p:nvSpPr>
        <p:spPr>
          <a:xfrm>
            <a:off x="566928" y="2359152"/>
            <a:ext cx="8595360" cy="731520"/>
          </a:xfrm>
          <a:prstGeom prst="rect">
            <a:avLst/>
          </a:prstGeom>
          <a:noFill/>
          <a:ln/>
        </p:spPr>
        <p:txBody>
          <a:bodyPr wrap="square" lIns="0" tIns="0" rIns="0" bIns="0" rtlCol="0" anchor="ctr"/>
          <a:lstStyle/>
          <a:p>
            <a:pPr marL="0" indent="0">
              <a:buNone/>
            </a:pPr>
            <a:r>
              <a:rPr lang="en-US" sz="4000" b="1" dirty="0">
                <a:solidFill>
                  <a:srgbClr val="E8A033"/>
                </a:solidFill>
                <a:latin typeface="Cambria" pitchFamily="34" charset="0"/>
                <a:ea typeface="Cambria" pitchFamily="34" charset="-122"/>
                <a:cs typeface="Cambria" pitchFamily="34" charset="-120"/>
              </a:rPr>
              <a:t>+ HKDF-SHA384</a:t>
            </a:r>
            <a:endParaRPr lang="en-US" sz="4000" dirty="0"/>
          </a:p>
        </p:txBody>
      </p:sp>
      <p:sp>
        <p:nvSpPr>
          <p:cNvPr id="4" name="Text 2"/>
          <p:cNvSpPr/>
          <p:nvPr/>
        </p:nvSpPr>
        <p:spPr>
          <a:xfrm>
            <a:off x="566928" y="3310128"/>
            <a:ext cx="7863840" cy="457200"/>
          </a:xfrm>
          <a:prstGeom prst="rect">
            <a:avLst/>
          </a:prstGeom>
          <a:noFill/>
          <a:ln/>
        </p:spPr>
        <p:txBody>
          <a:bodyPr wrap="square" lIns="0" tIns="0" rIns="0" bIns="0" rtlCol="0" anchor="ctr"/>
          <a:lstStyle/>
          <a:p>
            <a:pPr marL="0" indent="0">
              <a:buNone/>
            </a:pPr>
            <a:r>
              <a:rPr lang="en-US" sz="1600" dirty="0">
                <a:solidFill>
                  <a:srgbClr val="A8B8C6"/>
                </a:solidFill>
                <a:latin typeface="Calibri" pitchFamily="34" charset="0"/>
                <a:ea typeface="Calibri" pitchFamily="34" charset="-122"/>
                <a:cs typeface="Calibri" pitchFamily="34" charset="-120"/>
              </a:rPr>
              <a:t>What compliance asked for, why it beats what we have, and how to integrate/migrate with it.</a:t>
            </a:r>
            <a:endParaRPr lang="en-US" sz="1600" dirty="0"/>
          </a:p>
        </p:txBody>
      </p:sp>
      <p:sp>
        <p:nvSpPr>
          <p:cNvPr id="5" name="Shape 3"/>
          <p:cNvSpPr/>
          <p:nvPr/>
        </p:nvSpPr>
        <p:spPr>
          <a:xfrm>
            <a:off x="566928" y="4224528"/>
            <a:ext cx="589788" cy="566928"/>
          </a:xfrm>
          <a:prstGeom prst="rect">
            <a:avLst/>
          </a:prstGeom>
          <a:solidFill>
            <a:srgbClr val="2C3E50"/>
          </a:solidFill>
          <a:ln w="19050">
            <a:solidFill>
              <a:srgbClr val="FFFFFF"/>
            </a:solidFill>
            <a:prstDash val="solid"/>
          </a:ln>
        </p:spPr>
        <p:txBody>
          <a:bodyPr/>
          <a:lstStyle/>
          <a:p>
            <a:endParaRPr lang="en-US"/>
          </a:p>
        </p:txBody>
      </p:sp>
      <p:sp>
        <p:nvSpPr>
          <p:cNvPr id="6" name="Text 4"/>
          <p:cNvSpPr/>
          <p:nvPr/>
        </p:nvSpPr>
        <p:spPr>
          <a:xfrm>
            <a:off x="566928" y="4270248"/>
            <a:ext cx="589788" cy="23774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header</a:t>
            </a:r>
            <a:endParaRPr lang="en-US" sz="1150" dirty="0"/>
          </a:p>
        </p:txBody>
      </p:sp>
      <p:sp>
        <p:nvSpPr>
          <p:cNvPr id="7" name="Text 5"/>
          <p:cNvSpPr/>
          <p:nvPr/>
        </p:nvSpPr>
        <p:spPr>
          <a:xfrm>
            <a:off x="566928" y="4507992"/>
            <a:ext cx="589788" cy="219456"/>
          </a:xfrm>
          <a:prstGeom prst="rect">
            <a:avLst/>
          </a:prstGeom>
          <a:noFill/>
          <a:ln/>
        </p:spPr>
        <p:txBody>
          <a:bodyPr wrap="square" lIns="0" tIns="0" rIns="0" bIns="0" rtlCol="0" anchor="ctr"/>
          <a:lstStyle/>
          <a:p>
            <a:pPr marL="0" indent="0" algn="ctr">
              <a:buNone/>
            </a:pPr>
            <a:r>
              <a:rPr lang="en-US" sz="950" dirty="0">
                <a:solidFill>
                  <a:srgbClr val="FFFFFF"/>
                </a:solidFill>
                <a:latin typeface="Courier New" pitchFamily="34" charset="0"/>
                <a:ea typeface="Courier New" pitchFamily="34" charset="-122"/>
                <a:cs typeface="Courier New" pitchFamily="34" charset="-120"/>
              </a:rPr>
              <a:t>4 B</a:t>
            </a:r>
            <a:endParaRPr lang="en-US" sz="950" dirty="0"/>
          </a:p>
        </p:txBody>
      </p:sp>
      <p:sp>
        <p:nvSpPr>
          <p:cNvPr id="8" name="Shape 6"/>
          <p:cNvSpPr/>
          <p:nvPr/>
        </p:nvSpPr>
        <p:spPr>
          <a:xfrm>
            <a:off x="1156716" y="4224528"/>
            <a:ext cx="1179576" cy="566928"/>
          </a:xfrm>
          <a:prstGeom prst="rect">
            <a:avLst/>
          </a:prstGeom>
          <a:solidFill>
            <a:srgbClr val="E8A033"/>
          </a:solidFill>
          <a:ln w="19050">
            <a:solidFill>
              <a:srgbClr val="FFFFFF"/>
            </a:solidFill>
            <a:prstDash val="solid"/>
          </a:ln>
        </p:spPr>
        <p:txBody>
          <a:bodyPr/>
          <a:lstStyle/>
          <a:p>
            <a:endParaRPr lang="en-US"/>
          </a:p>
        </p:txBody>
      </p:sp>
      <p:sp>
        <p:nvSpPr>
          <p:cNvPr id="9" name="Text 7"/>
          <p:cNvSpPr/>
          <p:nvPr/>
        </p:nvSpPr>
        <p:spPr>
          <a:xfrm>
            <a:off x="1156716" y="4270248"/>
            <a:ext cx="1179576" cy="237744"/>
          </a:xfrm>
          <a:prstGeom prst="rect">
            <a:avLst/>
          </a:prstGeom>
          <a:noFill/>
          <a:ln/>
        </p:spPr>
        <p:txBody>
          <a:bodyPr wrap="square" lIns="0" tIns="0" rIns="0" bIns="0" rtlCol="0" anchor="ctr"/>
          <a:lstStyle/>
          <a:p>
            <a:pPr marL="0" indent="0" algn="ctr">
              <a:buNone/>
            </a:pPr>
            <a:r>
              <a:rPr lang="en-US" sz="1150" b="1" dirty="0">
                <a:solidFill>
                  <a:srgbClr val="0F1721"/>
                </a:solidFill>
                <a:latin typeface="Calibri" pitchFamily="34" charset="0"/>
                <a:ea typeface="Calibri" pitchFamily="34" charset="-122"/>
                <a:cs typeface="Calibri" pitchFamily="34" charset="-120"/>
              </a:rPr>
              <a:t>salt</a:t>
            </a:r>
            <a:endParaRPr lang="en-US" sz="1150" dirty="0"/>
          </a:p>
        </p:txBody>
      </p:sp>
      <p:sp>
        <p:nvSpPr>
          <p:cNvPr id="10" name="Text 8"/>
          <p:cNvSpPr/>
          <p:nvPr/>
        </p:nvSpPr>
        <p:spPr>
          <a:xfrm>
            <a:off x="1156716" y="4507992"/>
            <a:ext cx="1179576" cy="219456"/>
          </a:xfrm>
          <a:prstGeom prst="rect">
            <a:avLst/>
          </a:prstGeom>
          <a:noFill/>
          <a:ln/>
        </p:spPr>
        <p:txBody>
          <a:bodyPr wrap="square" lIns="0" tIns="0" rIns="0" bIns="0" rtlCol="0" anchor="ctr"/>
          <a:lstStyle/>
          <a:p>
            <a:pPr marL="0" indent="0" algn="ctr">
              <a:buNone/>
            </a:pPr>
            <a:r>
              <a:rPr lang="en-US" sz="950" dirty="0">
                <a:solidFill>
                  <a:srgbClr val="0F1721"/>
                </a:solidFill>
                <a:latin typeface="Courier New" pitchFamily="34" charset="0"/>
                <a:ea typeface="Courier New" pitchFamily="34" charset="-122"/>
                <a:cs typeface="Courier New" pitchFamily="34" charset="-120"/>
              </a:rPr>
              <a:t>16 B</a:t>
            </a:r>
            <a:endParaRPr lang="en-US" sz="950" dirty="0"/>
          </a:p>
        </p:txBody>
      </p:sp>
      <p:sp>
        <p:nvSpPr>
          <p:cNvPr id="11" name="Shape 9"/>
          <p:cNvSpPr/>
          <p:nvPr/>
        </p:nvSpPr>
        <p:spPr>
          <a:xfrm>
            <a:off x="2336292" y="4224528"/>
            <a:ext cx="943661" cy="566928"/>
          </a:xfrm>
          <a:prstGeom prst="rect">
            <a:avLst/>
          </a:prstGeom>
          <a:solidFill>
            <a:srgbClr val="C98F2E"/>
          </a:solidFill>
          <a:ln w="19050">
            <a:solidFill>
              <a:srgbClr val="FFFFFF"/>
            </a:solidFill>
            <a:prstDash val="solid"/>
          </a:ln>
        </p:spPr>
        <p:txBody>
          <a:bodyPr/>
          <a:lstStyle/>
          <a:p>
            <a:endParaRPr lang="en-US"/>
          </a:p>
        </p:txBody>
      </p:sp>
      <p:sp>
        <p:nvSpPr>
          <p:cNvPr id="12" name="Text 10"/>
          <p:cNvSpPr/>
          <p:nvPr/>
        </p:nvSpPr>
        <p:spPr>
          <a:xfrm>
            <a:off x="2336292" y="4270248"/>
            <a:ext cx="943661" cy="23774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nonce</a:t>
            </a:r>
            <a:endParaRPr lang="en-US" sz="1150" dirty="0"/>
          </a:p>
        </p:txBody>
      </p:sp>
      <p:sp>
        <p:nvSpPr>
          <p:cNvPr id="13" name="Text 11"/>
          <p:cNvSpPr/>
          <p:nvPr/>
        </p:nvSpPr>
        <p:spPr>
          <a:xfrm>
            <a:off x="2336292" y="4507992"/>
            <a:ext cx="943661" cy="219456"/>
          </a:xfrm>
          <a:prstGeom prst="rect">
            <a:avLst/>
          </a:prstGeom>
          <a:noFill/>
          <a:ln/>
        </p:spPr>
        <p:txBody>
          <a:bodyPr wrap="square" lIns="0" tIns="0" rIns="0" bIns="0" rtlCol="0" anchor="ctr"/>
          <a:lstStyle/>
          <a:p>
            <a:pPr marL="0" indent="0" algn="ctr">
              <a:buNone/>
            </a:pPr>
            <a:r>
              <a:rPr lang="en-US" sz="950" dirty="0">
                <a:solidFill>
                  <a:srgbClr val="FFFFFF"/>
                </a:solidFill>
                <a:latin typeface="Courier New" pitchFamily="34" charset="0"/>
                <a:ea typeface="Courier New" pitchFamily="34" charset="-122"/>
                <a:cs typeface="Courier New" pitchFamily="34" charset="-120"/>
              </a:rPr>
              <a:t>12 B</a:t>
            </a:r>
            <a:endParaRPr lang="en-US" sz="950" dirty="0"/>
          </a:p>
        </p:txBody>
      </p:sp>
      <p:sp>
        <p:nvSpPr>
          <p:cNvPr id="14" name="Shape 12"/>
          <p:cNvSpPr/>
          <p:nvPr/>
        </p:nvSpPr>
        <p:spPr>
          <a:xfrm>
            <a:off x="3279953" y="4224528"/>
            <a:ext cx="3971239" cy="566928"/>
          </a:xfrm>
          <a:prstGeom prst="rect">
            <a:avLst/>
          </a:prstGeom>
          <a:solidFill>
            <a:srgbClr val="1B2735"/>
          </a:solidFill>
          <a:ln w="19050">
            <a:solidFill>
              <a:srgbClr val="FFFFFF"/>
            </a:solidFill>
            <a:prstDash val="solid"/>
          </a:ln>
        </p:spPr>
        <p:txBody>
          <a:bodyPr/>
          <a:lstStyle/>
          <a:p>
            <a:endParaRPr lang="en-US"/>
          </a:p>
        </p:txBody>
      </p:sp>
      <p:sp>
        <p:nvSpPr>
          <p:cNvPr id="15" name="Text 13"/>
          <p:cNvSpPr/>
          <p:nvPr/>
        </p:nvSpPr>
        <p:spPr>
          <a:xfrm>
            <a:off x="3279953" y="4270248"/>
            <a:ext cx="3971239" cy="23774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ciphertext</a:t>
            </a:r>
            <a:endParaRPr lang="en-US" sz="1150" dirty="0"/>
          </a:p>
        </p:txBody>
      </p:sp>
      <p:sp>
        <p:nvSpPr>
          <p:cNvPr id="16" name="Text 14"/>
          <p:cNvSpPr/>
          <p:nvPr/>
        </p:nvSpPr>
        <p:spPr>
          <a:xfrm>
            <a:off x="3279953" y="4507992"/>
            <a:ext cx="3971239" cy="219456"/>
          </a:xfrm>
          <a:prstGeom prst="rect">
            <a:avLst/>
          </a:prstGeom>
          <a:noFill/>
          <a:ln/>
        </p:spPr>
        <p:txBody>
          <a:bodyPr wrap="square" lIns="0" tIns="0" rIns="0" bIns="0" rtlCol="0" anchor="ctr"/>
          <a:lstStyle/>
          <a:p>
            <a:pPr marL="0" indent="0" algn="ctr">
              <a:buNone/>
            </a:pPr>
            <a:r>
              <a:rPr lang="en-US" sz="950" dirty="0">
                <a:solidFill>
                  <a:srgbClr val="FFFFFF"/>
                </a:solidFill>
                <a:latin typeface="Courier New" pitchFamily="34" charset="0"/>
                <a:ea typeface="Courier New" pitchFamily="34" charset="-122"/>
                <a:cs typeface="Courier New" pitchFamily="34" charset="-120"/>
              </a:rPr>
              <a:t>N bytes</a:t>
            </a:r>
            <a:endParaRPr lang="en-US" sz="950" dirty="0"/>
          </a:p>
        </p:txBody>
      </p:sp>
      <p:sp>
        <p:nvSpPr>
          <p:cNvPr id="17" name="Shape 15"/>
          <p:cNvSpPr/>
          <p:nvPr/>
        </p:nvSpPr>
        <p:spPr>
          <a:xfrm>
            <a:off x="7251192" y="4224528"/>
            <a:ext cx="1179576" cy="566928"/>
          </a:xfrm>
          <a:prstGeom prst="rect">
            <a:avLst/>
          </a:prstGeom>
          <a:solidFill>
            <a:srgbClr val="2BA88C"/>
          </a:solidFill>
          <a:ln w="19050">
            <a:solidFill>
              <a:srgbClr val="FFFFFF"/>
            </a:solidFill>
            <a:prstDash val="solid"/>
          </a:ln>
        </p:spPr>
        <p:txBody>
          <a:bodyPr/>
          <a:lstStyle/>
          <a:p>
            <a:endParaRPr lang="en-US"/>
          </a:p>
        </p:txBody>
      </p:sp>
      <p:sp>
        <p:nvSpPr>
          <p:cNvPr id="18" name="Text 16"/>
          <p:cNvSpPr/>
          <p:nvPr/>
        </p:nvSpPr>
        <p:spPr>
          <a:xfrm>
            <a:off x="7251192" y="4270248"/>
            <a:ext cx="1179576" cy="23774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tag</a:t>
            </a:r>
            <a:endParaRPr lang="en-US" sz="1150" dirty="0"/>
          </a:p>
        </p:txBody>
      </p:sp>
      <p:sp>
        <p:nvSpPr>
          <p:cNvPr id="19" name="Text 17"/>
          <p:cNvSpPr/>
          <p:nvPr/>
        </p:nvSpPr>
        <p:spPr>
          <a:xfrm>
            <a:off x="7251192" y="4507992"/>
            <a:ext cx="1179576" cy="219456"/>
          </a:xfrm>
          <a:prstGeom prst="rect">
            <a:avLst/>
          </a:prstGeom>
          <a:noFill/>
          <a:ln/>
        </p:spPr>
        <p:txBody>
          <a:bodyPr wrap="square" lIns="0" tIns="0" rIns="0" bIns="0" rtlCol="0" anchor="ctr"/>
          <a:lstStyle/>
          <a:p>
            <a:pPr marL="0" indent="0" algn="ctr">
              <a:buNone/>
            </a:pPr>
            <a:r>
              <a:rPr lang="en-US" sz="950" dirty="0">
                <a:solidFill>
                  <a:srgbClr val="FFFFFF"/>
                </a:solidFill>
                <a:latin typeface="Courier New" pitchFamily="34" charset="0"/>
                <a:ea typeface="Courier New" pitchFamily="34" charset="-122"/>
                <a:cs typeface="Courier New" pitchFamily="34" charset="-120"/>
              </a:rPr>
              <a:t>16 B</a:t>
            </a:r>
            <a:endParaRPr lang="en-US" sz="950" dirty="0"/>
          </a:p>
        </p:txBody>
      </p:sp>
      <p:sp>
        <p:nvSpPr>
          <p:cNvPr id="20" name="Text 18"/>
          <p:cNvSpPr/>
          <p:nvPr/>
        </p:nvSpPr>
        <p:spPr>
          <a:xfrm>
            <a:off x="566928" y="4882896"/>
            <a:ext cx="7863840" cy="274320"/>
          </a:xfrm>
          <a:prstGeom prst="rect">
            <a:avLst/>
          </a:prstGeom>
          <a:noFill/>
          <a:ln/>
        </p:spPr>
        <p:txBody>
          <a:bodyPr wrap="square" lIns="0" tIns="0" rIns="0" bIns="0" rtlCol="0" anchor="ctr"/>
          <a:lstStyle/>
          <a:p>
            <a:pPr marL="0" indent="0">
              <a:buNone/>
            </a:pPr>
            <a:r>
              <a:rPr lang="en-US" sz="1050" i="1" dirty="0">
                <a:solidFill>
                  <a:srgbClr val="6E8296"/>
                </a:solidFill>
                <a:latin typeface="Calibri" pitchFamily="34" charset="0"/>
                <a:ea typeface="Calibri" pitchFamily="34" charset="-122"/>
                <a:cs typeface="Calibri" pitchFamily="34" charset="-120"/>
              </a:rPr>
              <a:t>every encrypted payload we send, laid out byte by byte</a:t>
            </a:r>
            <a:endParaRPr lang="en-US" sz="1050" dirty="0"/>
          </a:p>
        </p:txBody>
      </p:sp>
      <p:sp>
        <p:nvSpPr>
          <p:cNvPr id="21" name="Text 19"/>
          <p:cNvSpPr/>
          <p:nvPr/>
        </p:nvSpPr>
        <p:spPr>
          <a:xfrm>
            <a:off x="8869680" y="1572768"/>
            <a:ext cx="2743200" cy="274320"/>
          </a:xfrm>
          <a:prstGeom prst="rect">
            <a:avLst/>
          </a:prstGeom>
          <a:noFill/>
          <a:ln/>
        </p:spPr>
        <p:txBody>
          <a:bodyPr wrap="square" lIns="0" tIns="0" rIns="0" bIns="0" rtlCol="0" anchor="ctr"/>
          <a:lstStyle/>
          <a:p>
            <a:pPr marL="0" indent="0">
              <a:buNone/>
            </a:pPr>
            <a:r>
              <a:rPr lang="en-US" sz="1050" b="1" kern="0" spc="200" dirty="0">
                <a:solidFill>
                  <a:srgbClr val="E8A033"/>
                </a:solidFill>
                <a:latin typeface="Calibri" pitchFamily="34" charset="0"/>
                <a:ea typeface="Calibri" pitchFamily="34" charset="-122"/>
                <a:cs typeface="Calibri" pitchFamily="34" charset="-120"/>
              </a:rPr>
              <a:t>KNOWLEDGE TRANSFER</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HOW THIS SESSION RUNS</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Three parts. </a:t>
            </a:r>
            <a:endParaRPr lang="en-US" sz="3100" dirty="0"/>
          </a:p>
        </p:txBody>
      </p:sp>
      <p:sp>
        <p:nvSpPr>
          <p:cNvPr id="4" name="Shape 2"/>
          <p:cNvSpPr/>
          <p:nvPr/>
        </p:nvSpPr>
        <p:spPr>
          <a:xfrm>
            <a:off x="566928" y="1572768"/>
            <a:ext cx="3502152" cy="2788920"/>
          </a:xfrm>
          <a:prstGeom prst="roundRect">
            <a:avLst>
              <a:gd name="adj" fmla="val 1967"/>
            </a:avLst>
          </a:prstGeom>
          <a:solidFill>
            <a:srgbClr val="FBEEDA"/>
          </a:solidFill>
          <a:ln w="6350">
            <a:solidFill>
              <a:srgbClr val="FBEEDA"/>
            </a:solidFill>
            <a:prstDash val="solid"/>
          </a:ln>
          <a:effectLst>
            <a:outerShdw blurRad="114300" dist="25400" dir="5400000" algn="bl" rotWithShape="0">
              <a:srgbClr val="9FB0BF">
                <a:alpha val="25000"/>
              </a:srgbClr>
            </a:outerShdw>
          </a:effectLst>
        </p:spPr>
        <p:txBody>
          <a:bodyPr/>
          <a:lstStyle/>
          <a:p>
            <a:endParaRPr lang="en-US"/>
          </a:p>
        </p:txBody>
      </p:sp>
      <p:sp>
        <p:nvSpPr>
          <p:cNvPr id="5" name="Shape 3"/>
          <p:cNvSpPr/>
          <p:nvPr/>
        </p:nvSpPr>
        <p:spPr>
          <a:xfrm>
            <a:off x="841248" y="1828800"/>
            <a:ext cx="475488" cy="475488"/>
          </a:xfrm>
          <a:prstGeom prst="ellipse">
            <a:avLst/>
          </a:prstGeom>
          <a:solidFill>
            <a:srgbClr val="E8A033"/>
          </a:solidFill>
          <a:ln w="6350">
            <a:solidFill>
              <a:srgbClr val="E8A033"/>
            </a:solidFill>
            <a:prstDash val="solid"/>
          </a:ln>
        </p:spPr>
        <p:txBody>
          <a:bodyPr/>
          <a:lstStyle/>
          <a:p>
            <a:endParaRPr lang="en-US"/>
          </a:p>
        </p:txBody>
      </p:sp>
      <p:sp>
        <p:nvSpPr>
          <p:cNvPr id="6" name="Text 4"/>
          <p:cNvSpPr/>
          <p:nvPr/>
        </p:nvSpPr>
        <p:spPr>
          <a:xfrm>
            <a:off x="841248" y="1828800"/>
            <a:ext cx="475488" cy="475488"/>
          </a:xfrm>
          <a:prstGeom prst="rect">
            <a:avLst/>
          </a:prstGeom>
          <a:noFill/>
          <a:ln/>
        </p:spPr>
        <p:txBody>
          <a:bodyPr wrap="square" lIns="0" tIns="0" rIns="0" bIns="0" rtlCol="0" anchor="ctr"/>
          <a:lstStyle/>
          <a:p>
            <a:pPr marL="0" indent="0" algn="ctr">
              <a:buNone/>
            </a:pPr>
            <a:r>
              <a:rPr lang="en-US" sz="1700" b="1" dirty="0">
                <a:solidFill>
                  <a:srgbClr val="0F1721"/>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435608" y="1956816"/>
            <a:ext cx="1463040" cy="256032"/>
          </a:xfrm>
          <a:prstGeom prst="rect">
            <a:avLst/>
          </a:prstGeom>
          <a:noFill/>
          <a:ln/>
        </p:spPr>
        <p:txBody>
          <a:bodyPr wrap="square" lIns="0" tIns="0" rIns="0" bIns="0" rtlCol="0" anchor="t"/>
          <a:lstStyle/>
          <a:p>
            <a:pPr marL="0" indent="0" algn="l">
              <a:lnSpc>
                <a:spcPct val="106000"/>
              </a:lnSpc>
              <a:buNone/>
            </a:pPr>
            <a:r>
              <a:rPr lang="en-US" sz="1150" b="1" dirty="0">
                <a:solidFill>
                  <a:srgbClr val="7A8894"/>
                </a:solidFill>
                <a:latin typeface="Calibri" pitchFamily="34" charset="0"/>
                <a:ea typeface="Calibri" pitchFamily="34" charset="-122"/>
                <a:cs typeface="Calibri" pitchFamily="34" charset="-120"/>
              </a:rPr>
              <a:t>12 min</a:t>
            </a:r>
            <a:endParaRPr lang="en-US" sz="1150" dirty="0"/>
          </a:p>
        </p:txBody>
      </p:sp>
      <p:sp>
        <p:nvSpPr>
          <p:cNvPr id="8" name="Text 6"/>
          <p:cNvSpPr/>
          <p:nvPr/>
        </p:nvSpPr>
        <p:spPr>
          <a:xfrm>
            <a:off x="841248" y="2487168"/>
            <a:ext cx="2953512" cy="365760"/>
          </a:xfrm>
          <a:prstGeom prst="rect">
            <a:avLst/>
          </a:prstGeom>
          <a:noFill/>
          <a:ln/>
        </p:spPr>
        <p:txBody>
          <a:bodyPr wrap="square" lIns="0" tIns="0" rIns="0" bIns="0" rtlCol="0" anchor="t"/>
          <a:lstStyle/>
          <a:p>
            <a:pPr marL="0" indent="0" algn="l">
              <a:lnSpc>
                <a:spcPct val="106000"/>
              </a:lnSpc>
              <a:buNone/>
            </a:pPr>
            <a:r>
              <a:rPr lang="en-US" sz="1900" b="1" dirty="0">
                <a:solidFill>
                  <a:srgbClr val="16212E"/>
                </a:solidFill>
                <a:latin typeface="Calibri" pitchFamily="34" charset="0"/>
                <a:ea typeface="Calibri" pitchFamily="34" charset="-122"/>
                <a:cs typeface="Calibri" pitchFamily="34" charset="-120"/>
              </a:rPr>
              <a:t>The idea</a:t>
            </a:r>
            <a:endParaRPr lang="en-US" sz="1900" dirty="0"/>
          </a:p>
        </p:txBody>
      </p:sp>
      <p:sp>
        <p:nvSpPr>
          <p:cNvPr id="9" name="Text 7"/>
          <p:cNvSpPr/>
          <p:nvPr/>
        </p:nvSpPr>
        <p:spPr>
          <a:xfrm>
            <a:off x="841248" y="2889504"/>
            <a:ext cx="2953512" cy="256032"/>
          </a:xfrm>
          <a:prstGeom prst="rect">
            <a:avLst/>
          </a:prstGeom>
          <a:noFill/>
          <a:ln/>
        </p:spPr>
        <p:txBody>
          <a:bodyPr wrap="square" lIns="0" tIns="0" rIns="0" bIns="0" rtlCol="0" anchor="t"/>
          <a:lstStyle/>
          <a:p>
            <a:pPr marL="0" indent="0" algn="l">
              <a:lnSpc>
                <a:spcPct val="106000"/>
              </a:lnSpc>
              <a:buNone/>
            </a:pPr>
            <a:r>
              <a:rPr lang="en-US" sz="1200" b="1" dirty="0">
                <a:solidFill>
                  <a:srgbClr val="A3701A"/>
                </a:solidFill>
                <a:latin typeface="Calibri" pitchFamily="34" charset="0"/>
                <a:ea typeface="Calibri" pitchFamily="34" charset="-122"/>
                <a:cs typeface="Calibri" pitchFamily="34" charset="-120"/>
              </a:rPr>
              <a:t>Everyone. No code.</a:t>
            </a:r>
            <a:endParaRPr lang="en-US" sz="1200" dirty="0"/>
          </a:p>
        </p:txBody>
      </p:sp>
      <p:sp>
        <p:nvSpPr>
          <p:cNvPr id="10" name="Text 8"/>
          <p:cNvSpPr/>
          <p:nvPr/>
        </p:nvSpPr>
        <p:spPr>
          <a:xfrm>
            <a:off x="841248" y="3218688"/>
            <a:ext cx="2953512" cy="1005840"/>
          </a:xfrm>
          <a:prstGeom prst="rect">
            <a:avLst/>
          </a:prstGeom>
          <a:noFill/>
          <a:ln/>
        </p:spPr>
        <p:txBody>
          <a:bodyPr wrap="square" lIns="0" tIns="0" rIns="0" bIns="0" rtlCol="0" anchor="t"/>
          <a:lstStyle/>
          <a:p>
            <a:pPr marL="0" indent="0" algn="l">
              <a:lnSpc>
                <a:spcPct val="115000"/>
              </a:lnSpc>
              <a:buNone/>
            </a:pPr>
            <a:r>
              <a:rPr lang="en-US" sz="1250" dirty="0">
                <a:solidFill>
                  <a:srgbClr val="3D4C5A"/>
                </a:solidFill>
                <a:latin typeface="Calibri" pitchFamily="34" charset="0"/>
                <a:ea typeface="Calibri" pitchFamily="34" charset="-122"/>
                <a:cs typeface="Calibri" pitchFamily="34" charset="-120"/>
              </a:rPr>
              <a:t>What encryption promises, where AES came from, and every keyword defined in plain language.</a:t>
            </a:r>
            <a:endParaRPr lang="en-US" sz="1250" dirty="0"/>
          </a:p>
        </p:txBody>
      </p:sp>
      <p:sp>
        <p:nvSpPr>
          <p:cNvPr id="11" name="Shape 9"/>
          <p:cNvSpPr/>
          <p:nvPr/>
        </p:nvSpPr>
        <p:spPr>
          <a:xfrm>
            <a:off x="4361688" y="1572768"/>
            <a:ext cx="3502152" cy="2788920"/>
          </a:xfrm>
          <a:prstGeom prst="roundRect">
            <a:avLst>
              <a:gd name="adj" fmla="val 1967"/>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2" name="Shape 10"/>
          <p:cNvSpPr/>
          <p:nvPr/>
        </p:nvSpPr>
        <p:spPr>
          <a:xfrm>
            <a:off x="4636008" y="1828800"/>
            <a:ext cx="475488" cy="475488"/>
          </a:xfrm>
          <a:prstGeom prst="ellipse">
            <a:avLst/>
          </a:prstGeom>
          <a:solidFill>
            <a:srgbClr val="1B2735"/>
          </a:solidFill>
          <a:ln w="6350">
            <a:solidFill>
              <a:srgbClr val="1B2735"/>
            </a:solidFill>
            <a:prstDash val="solid"/>
          </a:ln>
        </p:spPr>
        <p:txBody>
          <a:bodyPr/>
          <a:lstStyle/>
          <a:p>
            <a:endParaRPr lang="en-US"/>
          </a:p>
        </p:txBody>
      </p:sp>
      <p:sp>
        <p:nvSpPr>
          <p:cNvPr id="13" name="Text 11"/>
          <p:cNvSpPr/>
          <p:nvPr/>
        </p:nvSpPr>
        <p:spPr>
          <a:xfrm>
            <a:off x="4636008" y="182880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4" name="Text 12"/>
          <p:cNvSpPr/>
          <p:nvPr/>
        </p:nvSpPr>
        <p:spPr>
          <a:xfrm>
            <a:off x="5230368" y="1956816"/>
            <a:ext cx="1463040" cy="256032"/>
          </a:xfrm>
          <a:prstGeom prst="rect">
            <a:avLst/>
          </a:prstGeom>
          <a:noFill/>
          <a:ln/>
        </p:spPr>
        <p:txBody>
          <a:bodyPr wrap="square" lIns="0" tIns="0" rIns="0" bIns="0" rtlCol="0" anchor="t"/>
          <a:lstStyle/>
          <a:p>
            <a:pPr marL="0" indent="0" algn="l">
              <a:lnSpc>
                <a:spcPct val="106000"/>
              </a:lnSpc>
              <a:buNone/>
            </a:pPr>
            <a:r>
              <a:rPr lang="en-US" sz="1150" b="1" dirty="0">
                <a:solidFill>
                  <a:srgbClr val="7A8894"/>
                </a:solidFill>
                <a:latin typeface="Calibri" pitchFamily="34" charset="0"/>
                <a:ea typeface="Calibri" pitchFamily="34" charset="-122"/>
                <a:cs typeface="Calibri" pitchFamily="34" charset="-120"/>
              </a:rPr>
              <a:t>18 min</a:t>
            </a:r>
            <a:endParaRPr lang="en-US" sz="1150" dirty="0"/>
          </a:p>
        </p:txBody>
      </p:sp>
      <p:sp>
        <p:nvSpPr>
          <p:cNvPr id="15" name="Text 13"/>
          <p:cNvSpPr/>
          <p:nvPr/>
        </p:nvSpPr>
        <p:spPr>
          <a:xfrm>
            <a:off x="4636008" y="2487168"/>
            <a:ext cx="2953512" cy="365760"/>
          </a:xfrm>
          <a:prstGeom prst="rect">
            <a:avLst/>
          </a:prstGeom>
          <a:noFill/>
          <a:ln/>
        </p:spPr>
        <p:txBody>
          <a:bodyPr wrap="square" lIns="0" tIns="0" rIns="0" bIns="0" rtlCol="0" anchor="t"/>
          <a:lstStyle/>
          <a:p>
            <a:pPr marL="0" indent="0" algn="l">
              <a:lnSpc>
                <a:spcPct val="106000"/>
              </a:lnSpc>
              <a:buNone/>
            </a:pPr>
            <a:r>
              <a:rPr lang="en-US" sz="1900" b="1" dirty="0">
                <a:solidFill>
                  <a:srgbClr val="16212E"/>
                </a:solidFill>
                <a:latin typeface="Calibri" pitchFamily="34" charset="0"/>
                <a:ea typeface="Calibri" pitchFamily="34" charset="-122"/>
                <a:cs typeface="Calibri" pitchFamily="34" charset="-120"/>
              </a:rPr>
              <a:t>The implementation</a:t>
            </a:r>
            <a:endParaRPr lang="en-US" sz="1900" dirty="0"/>
          </a:p>
        </p:txBody>
      </p:sp>
      <p:sp>
        <p:nvSpPr>
          <p:cNvPr id="16" name="Text 14"/>
          <p:cNvSpPr/>
          <p:nvPr/>
        </p:nvSpPr>
        <p:spPr>
          <a:xfrm>
            <a:off x="4636008" y="2889504"/>
            <a:ext cx="2953512" cy="256032"/>
          </a:xfrm>
          <a:prstGeom prst="rect">
            <a:avLst/>
          </a:prstGeom>
          <a:noFill/>
          <a:ln/>
        </p:spPr>
        <p:txBody>
          <a:bodyPr wrap="square" lIns="0" tIns="0" rIns="0" bIns="0" rtlCol="0" anchor="t"/>
          <a:lstStyle/>
          <a:p>
            <a:pPr marL="0" indent="0" algn="l">
              <a:lnSpc>
                <a:spcPct val="106000"/>
              </a:lnSpc>
              <a:buNone/>
            </a:pPr>
            <a:r>
              <a:rPr lang="en-US" sz="1200" b="1" dirty="0">
                <a:solidFill>
                  <a:srgbClr val="1B2735"/>
                </a:solidFill>
                <a:latin typeface="Calibri" pitchFamily="34" charset="0"/>
                <a:ea typeface="Calibri" pitchFamily="34" charset="-122"/>
                <a:cs typeface="Calibri" pitchFamily="34" charset="-120"/>
              </a:rPr>
              <a:t>Developers.</a:t>
            </a:r>
            <a:endParaRPr lang="en-US" sz="1200" dirty="0"/>
          </a:p>
        </p:txBody>
      </p:sp>
      <p:sp>
        <p:nvSpPr>
          <p:cNvPr id="17" name="Text 15"/>
          <p:cNvSpPr/>
          <p:nvPr/>
        </p:nvSpPr>
        <p:spPr>
          <a:xfrm>
            <a:off x="4636008" y="3218688"/>
            <a:ext cx="2953512" cy="1005840"/>
          </a:xfrm>
          <a:prstGeom prst="rect">
            <a:avLst/>
          </a:prstGeom>
          <a:noFill/>
          <a:ln/>
        </p:spPr>
        <p:txBody>
          <a:bodyPr wrap="square" lIns="0" tIns="0" rIns="0" bIns="0" rtlCol="0" anchor="t"/>
          <a:lstStyle/>
          <a:p>
            <a:pPr marL="0" indent="0" algn="l">
              <a:lnSpc>
                <a:spcPct val="115000"/>
              </a:lnSpc>
              <a:buNone/>
            </a:pPr>
            <a:r>
              <a:rPr lang="en-US" sz="1250" dirty="0">
                <a:solidFill>
                  <a:srgbClr val="3D4C5A"/>
                </a:solidFill>
                <a:latin typeface="Calibri" pitchFamily="34" charset="0"/>
                <a:ea typeface="Calibri" pitchFamily="34" charset="-122"/>
                <a:cs typeface="Calibri" pitchFamily="34" charset="-120"/>
              </a:rPr>
              <a:t>CBC vs GCM, why 256, why HKDF, the exact byte format, our call path</a:t>
            </a:r>
            <a:endParaRPr lang="en-US" sz="1250" dirty="0"/>
          </a:p>
        </p:txBody>
      </p:sp>
      <p:sp>
        <p:nvSpPr>
          <p:cNvPr id="18" name="Shape 16"/>
          <p:cNvSpPr/>
          <p:nvPr/>
        </p:nvSpPr>
        <p:spPr>
          <a:xfrm>
            <a:off x="8156448" y="1572768"/>
            <a:ext cx="3502152" cy="2788920"/>
          </a:xfrm>
          <a:prstGeom prst="roundRect">
            <a:avLst>
              <a:gd name="adj" fmla="val 1967"/>
            </a:avLst>
          </a:prstGeom>
          <a:solidFill>
            <a:srgbClr val="E2F4EF"/>
          </a:solidFill>
          <a:ln w="6350">
            <a:solidFill>
              <a:srgbClr val="E2F4EF"/>
            </a:solidFill>
            <a:prstDash val="solid"/>
          </a:ln>
          <a:effectLst>
            <a:outerShdw blurRad="114300" dist="25400" dir="5400000" algn="bl" rotWithShape="0">
              <a:srgbClr val="9FB0BF">
                <a:alpha val="25000"/>
              </a:srgbClr>
            </a:outerShdw>
          </a:effectLst>
        </p:spPr>
        <p:txBody>
          <a:bodyPr/>
          <a:lstStyle/>
          <a:p>
            <a:endParaRPr lang="en-US"/>
          </a:p>
        </p:txBody>
      </p:sp>
      <p:sp>
        <p:nvSpPr>
          <p:cNvPr id="19" name="Shape 17"/>
          <p:cNvSpPr/>
          <p:nvPr/>
        </p:nvSpPr>
        <p:spPr>
          <a:xfrm>
            <a:off x="8430768" y="1828800"/>
            <a:ext cx="475488" cy="475488"/>
          </a:xfrm>
          <a:prstGeom prst="ellipse">
            <a:avLst/>
          </a:prstGeom>
          <a:solidFill>
            <a:srgbClr val="2BA88C"/>
          </a:solidFill>
          <a:ln w="6350">
            <a:solidFill>
              <a:srgbClr val="2BA88C"/>
            </a:solidFill>
            <a:prstDash val="solid"/>
          </a:ln>
        </p:spPr>
        <p:txBody>
          <a:bodyPr/>
          <a:lstStyle/>
          <a:p>
            <a:endParaRPr lang="en-US"/>
          </a:p>
        </p:txBody>
      </p:sp>
      <p:sp>
        <p:nvSpPr>
          <p:cNvPr id="20" name="Text 18"/>
          <p:cNvSpPr/>
          <p:nvPr/>
        </p:nvSpPr>
        <p:spPr>
          <a:xfrm>
            <a:off x="8430768" y="182880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21" name="Text 19"/>
          <p:cNvSpPr/>
          <p:nvPr/>
        </p:nvSpPr>
        <p:spPr>
          <a:xfrm>
            <a:off x="9025128" y="1956816"/>
            <a:ext cx="1463040" cy="256032"/>
          </a:xfrm>
          <a:prstGeom prst="rect">
            <a:avLst/>
          </a:prstGeom>
          <a:noFill/>
          <a:ln/>
        </p:spPr>
        <p:txBody>
          <a:bodyPr wrap="square" lIns="0" tIns="0" rIns="0" bIns="0" rtlCol="0" anchor="t"/>
          <a:lstStyle/>
          <a:p>
            <a:pPr marL="0" indent="0" algn="l">
              <a:lnSpc>
                <a:spcPct val="106000"/>
              </a:lnSpc>
              <a:buNone/>
            </a:pPr>
            <a:r>
              <a:rPr lang="en-US" sz="1150" b="1" dirty="0">
                <a:solidFill>
                  <a:srgbClr val="7A8894"/>
                </a:solidFill>
                <a:latin typeface="Calibri" pitchFamily="34" charset="0"/>
                <a:ea typeface="Calibri" pitchFamily="34" charset="-122"/>
                <a:cs typeface="Calibri" pitchFamily="34" charset="-120"/>
              </a:rPr>
              <a:t>10 min</a:t>
            </a:r>
            <a:endParaRPr lang="en-US" sz="1150" dirty="0"/>
          </a:p>
        </p:txBody>
      </p:sp>
      <p:sp>
        <p:nvSpPr>
          <p:cNvPr id="22" name="Text 20"/>
          <p:cNvSpPr/>
          <p:nvPr/>
        </p:nvSpPr>
        <p:spPr>
          <a:xfrm>
            <a:off x="8430768" y="2487168"/>
            <a:ext cx="2953512" cy="365760"/>
          </a:xfrm>
          <a:prstGeom prst="rect">
            <a:avLst/>
          </a:prstGeom>
          <a:noFill/>
          <a:ln/>
        </p:spPr>
        <p:txBody>
          <a:bodyPr wrap="square" lIns="0" tIns="0" rIns="0" bIns="0" rtlCol="0" anchor="t"/>
          <a:lstStyle/>
          <a:p>
            <a:pPr marL="0" indent="0" algn="l">
              <a:lnSpc>
                <a:spcPct val="106000"/>
              </a:lnSpc>
              <a:buNone/>
            </a:pPr>
            <a:r>
              <a:rPr lang="en-US" sz="1900" b="1" dirty="0">
                <a:solidFill>
                  <a:srgbClr val="16212E"/>
                </a:solidFill>
                <a:latin typeface="Calibri" pitchFamily="34" charset="0"/>
                <a:ea typeface="Calibri" pitchFamily="34" charset="-122"/>
                <a:cs typeface="Calibri" pitchFamily="34" charset="-120"/>
              </a:rPr>
              <a:t>Hardening &amp; migration</a:t>
            </a:r>
            <a:endParaRPr lang="en-US" sz="1900" dirty="0"/>
          </a:p>
        </p:txBody>
      </p:sp>
      <p:sp>
        <p:nvSpPr>
          <p:cNvPr id="23" name="Text 21"/>
          <p:cNvSpPr/>
          <p:nvPr/>
        </p:nvSpPr>
        <p:spPr>
          <a:xfrm>
            <a:off x="8430768" y="2889504"/>
            <a:ext cx="2953512" cy="256032"/>
          </a:xfrm>
          <a:prstGeom prst="rect">
            <a:avLst/>
          </a:prstGeom>
          <a:noFill/>
          <a:ln/>
        </p:spPr>
        <p:txBody>
          <a:bodyPr wrap="square" lIns="0" tIns="0" rIns="0" bIns="0" rtlCol="0" anchor="t"/>
          <a:lstStyle/>
          <a:p>
            <a:pPr marL="0" indent="0" algn="l">
              <a:lnSpc>
                <a:spcPct val="106000"/>
              </a:lnSpc>
              <a:buNone/>
            </a:pPr>
            <a:r>
              <a:rPr lang="en-US" sz="1200" b="1" dirty="0">
                <a:solidFill>
                  <a:srgbClr val="2BA88C"/>
                </a:solidFill>
                <a:latin typeface="Calibri" pitchFamily="34" charset="0"/>
                <a:ea typeface="Calibri" pitchFamily="34" charset="-122"/>
                <a:cs typeface="Calibri" pitchFamily="34" charset="-120"/>
              </a:rPr>
              <a:t>Devs + leads.</a:t>
            </a:r>
            <a:endParaRPr lang="en-US" sz="1200" dirty="0"/>
          </a:p>
        </p:txBody>
      </p:sp>
      <p:sp>
        <p:nvSpPr>
          <p:cNvPr id="24" name="Text 22"/>
          <p:cNvSpPr/>
          <p:nvPr/>
        </p:nvSpPr>
        <p:spPr>
          <a:xfrm>
            <a:off x="8430768" y="3218688"/>
            <a:ext cx="2953512" cy="1005840"/>
          </a:xfrm>
          <a:prstGeom prst="rect">
            <a:avLst/>
          </a:prstGeom>
          <a:noFill/>
          <a:ln/>
        </p:spPr>
        <p:txBody>
          <a:bodyPr wrap="square" lIns="0" tIns="0" rIns="0" bIns="0" rtlCol="0" anchor="t"/>
          <a:lstStyle/>
          <a:p>
            <a:pPr marL="0" indent="0" algn="l">
              <a:lnSpc>
                <a:spcPct val="115000"/>
              </a:lnSpc>
              <a:buNone/>
            </a:pPr>
            <a:r>
              <a:rPr lang="en-US" sz="1250" dirty="0">
                <a:solidFill>
                  <a:srgbClr val="3D4C5A"/>
                </a:solidFill>
                <a:latin typeface="Calibri" pitchFamily="34" charset="0"/>
                <a:ea typeface="Calibri" pitchFamily="34" charset="-122"/>
                <a:cs typeface="Calibri" pitchFamily="34" charset="-120"/>
              </a:rPr>
              <a:t>What we add on top of plain GCM, the alternatives we rejected, and how we get off CBC.</a:t>
            </a:r>
            <a:endParaRPr lang="en-US" sz="1250" dirty="0"/>
          </a:p>
        </p:txBody>
      </p:sp>
      <p:sp>
        <p:nvSpPr>
          <p:cNvPr id="30" name="Text 28"/>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Agenda</a:t>
            </a:r>
            <a:endParaRPr lang="en-US" sz="950" dirty="0"/>
          </a:p>
        </p:txBody>
      </p:sp>
      <p:sp>
        <p:nvSpPr>
          <p:cNvPr id="31" name="Text 29"/>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THE CHANGE IN ONE SLIDE</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From AES-128-CBC to AES-256-GCM</a:t>
            </a:r>
            <a:endParaRPr lang="en-US" sz="3100" dirty="0"/>
          </a:p>
        </p:txBody>
      </p:sp>
      <p:sp>
        <p:nvSpPr>
          <p:cNvPr id="4" name="Shape 2"/>
          <p:cNvSpPr/>
          <p:nvPr/>
        </p:nvSpPr>
        <p:spPr>
          <a:xfrm>
            <a:off x="566928" y="1591056"/>
            <a:ext cx="5230368" cy="3310128"/>
          </a:xfrm>
          <a:prstGeom prst="roundRect">
            <a:avLst>
              <a:gd name="adj" fmla="val 1657"/>
            </a:avLst>
          </a:prstGeom>
          <a:solidFill>
            <a:srgbClr val="FBEAE9"/>
          </a:solidFill>
          <a:ln w="6350">
            <a:solidFill>
              <a:srgbClr val="FBEAE9"/>
            </a:solidFill>
            <a:prstDash val="solid"/>
          </a:ln>
          <a:effectLst>
            <a:outerShdw blurRad="114300" dist="25400" dir="5400000" algn="bl" rotWithShape="0">
              <a:srgbClr val="9FB0BF">
                <a:alpha val="25000"/>
              </a:srgbClr>
            </a:outerShdw>
          </a:effectLst>
        </p:spPr>
        <p:txBody>
          <a:bodyPr/>
          <a:lstStyle/>
          <a:p>
            <a:endParaRPr lang="en-US"/>
          </a:p>
        </p:txBody>
      </p:sp>
      <p:sp>
        <p:nvSpPr>
          <p:cNvPr id="5" name="Shape 3"/>
          <p:cNvSpPr/>
          <p:nvPr/>
        </p:nvSpPr>
        <p:spPr>
          <a:xfrm>
            <a:off x="877824" y="1810512"/>
            <a:ext cx="1371600" cy="329184"/>
          </a:xfrm>
          <a:prstGeom prst="roundRect">
            <a:avLst>
              <a:gd name="adj" fmla="val 138889"/>
            </a:avLst>
          </a:prstGeom>
          <a:solidFill>
            <a:srgbClr val="D0524E"/>
          </a:solidFill>
          <a:ln w="6350">
            <a:solidFill>
              <a:srgbClr val="D0524E"/>
            </a:solidFill>
            <a:prstDash val="solid"/>
          </a:ln>
        </p:spPr>
        <p:txBody>
          <a:bodyPr/>
          <a:lstStyle/>
          <a:p>
            <a:endParaRPr lang="en-US"/>
          </a:p>
        </p:txBody>
      </p:sp>
      <p:sp>
        <p:nvSpPr>
          <p:cNvPr id="6" name="Text 4"/>
          <p:cNvSpPr/>
          <p:nvPr/>
        </p:nvSpPr>
        <p:spPr>
          <a:xfrm>
            <a:off x="877824" y="1810512"/>
            <a:ext cx="1371600" cy="329184"/>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TODAY</a:t>
            </a:r>
            <a:endParaRPr lang="en-US" sz="1050" dirty="0"/>
          </a:p>
        </p:txBody>
      </p:sp>
      <p:sp>
        <p:nvSpPr>
          <p:cNvPr id="7" name="Text 5"/>
          <p:cNvSpPr/>
          <p:nvPr/>
        </p:nvSpPr>
        <p:spPr>
          <a:xfrm>
            <a:off x="877824" y="2286000"/>
            <a:ext cx="4608576" cy="384048"/>
          </a:xfrm>
          <a:prstGeom prst="rect">
            <a:avLst/>
          </a:prstGeom>
          <a:noFill/>
          <a:ln/>
        </p:spPr>
        <p:txBody>
          <a:bodyPr wrap="square" lIns="0" tIns="0" rIns="0" bIns="0" rtlCol="0" anchor="t"/>
          <a:lstStyle/>
          <a:p>
            <a:pPr marL="0" indent="0" algn="l">
              <a:lnSpc>
                <a:spcPct val="106000"/>
              </a:lnSpc>
              <a:buNone/>
            </a:pPr>
            <a:r>
              <a:rPr lang="en-US" sz="2200" b="1" dirty="0">
                <a:solidFill>
                  <a:srgbClr val="16212E"/>
                </a:solidFill>
                <a:latin typeface="Calibri" pitchFamily="34" charset="0"/>
                <a:ea typeface="Calibri" pitchFamily="34" charset="-122"/>
                <a:cs typeface="Calibri" pitchFamily="34" charset="-120"/>
              </a:rPr>
              <a:t>AES-128-CBC</a:t>
            </a:r>
            <a:endParaRPr lang="en-US" sz="2200" dirty="0"/>
          </a:p>
        </p:txBody>
      </p:sp>
      <p:sp>
        <p:nvSpPr>
          <p:cNvPr id="8" name="Text 6"/>
          <p:cNvSpPr/>
          <p:nvPr/>
        </p:nvSpPr>
        <p:spPr>
          <a:xfrm>
            <a:off x="877824" y="2743200"/>
            <a:ext cx="4608576" cy="2011680"/>
          </a:xfrm>
          <a:prstGeom prst="rect">
            <a:avLst/>
          </a:prstGeom>
          <a:noFill/>
          <a:ln/>
        </p:spPr>
        <p:txBody>
          <a:bodyPr wrap="square" lIns="0" tIns="0" rIns="0" bIns="0" rtlCol="0" anchor="ctr"/>
          <a:lstStyle/>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128-bit key, 10 rounds</a:t>
            </a:r>
            <a:endParaRPr lang="en-US" sz="1250" dirty="0"/>
          </a:p>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CryptoJS-compatible "Salted__" format</a:t>
            </a:r>
            <a:endParaRPr lang="en-US" sz="1250" dirty="0"/>
          </a:p>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Key stretched with EVP_BytesToKey — MD5, one iteration</a:t>
            </a:r>
            <a:endParaRPr lang="en-US" sz="1250" dirty="0"/>
          </a:p>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No integrity check: a tampered payload decrypts to garbage, silently</a:t>
            </a:r>
            <a:endParaRPr lang="en-US" sz="1250" dirty="0"/>
          </a:p>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Needs a separate HMAC to be safe. We never added one.</a:t>
            </a:r>
            <a:endParaRPr lang="en-US" sz="1250" dirty="0"/>
          </a:p>
        </p:txBody>
      </p:sp>
      <p:sp>
        <p:nvSpPr>
          <p:cNvPr id="9" name="Shape 7"/>
          <p:cNvSpPr/>
          <p:nvPr/>
        </p:nvSpPr>
        <p:spPr>
          <a:xfrm>
            <a:off x="6126480" y="1591056"/>
            <a:ext cx="5230368" cy="3310128"/>
          </a:xfrm>
          <a:prstGeom prst="roundRect">
            <a:avLst>
              <a:gd name="adj" fmla="val 1657"/>
            </a:avLst>
          </a:prstGeom>
          <a:solidFill>
            <a:srgbClr val="E2F4EF"/>
          </a:solidFill>
          <a:ln w="6350">
            <a:solidFill>
              <a:srgbClr val="E2F4EF"/>
            </a:solidFill>
            <a:prstDash val="solid"/>
          </a:ln>
          <a:effectLst>
            <a:outerShdw blurRad="114300" dist="25400" dir="5400000" algn="bl" rotWithShape="0">
              <a:srgbClr val="9FB0BF">
                <a:alpha val="25000"/>
              </a:srgbClr>
            </a:outerShdw>
          </a:effectLst>
        </p:spPr>
        <p:txBody>
          <a:bodyPr/>
          <a:lstStyle/>
          <a:p>
            <a:endParaRPr lang="en-US"/>
          </a:p>
        </p:txBody>
      </p:sp>
      <p:sp>
        <p:nvSpPr>
          <p:cNvPr id="10" name="Shape 8"/>
          <p:cNvSpPr/>
          <p:nvPr/>
        </p:nvSpPr>
        <p:spPr>
          <a:xfrm>
            <a:off x="6437376" y="1810512"/>
            <a:ext cx="1371600" cy="329184"/>
          </a:xfrm>
          <a:prstGeom prst="roundRect">
            <a:avLst>
              <a:gd name="adj" fmla="val 138889"/>
            </a:avLst>
          </a:prstGeom>
          <a:solidFill>
            <a:srgbClr val="2BA88C"/>
          </a:solidFill>
          <a:ln w="6350">
            <a:solidFill>
              <a:srgbClr val="2BA88C"/>
            </a:solidFill>
            <a:prstDash val="solid"/>
          </a:ln>
        </p:spPr>
        <p:txBody>
          <a:bodyPr/>
          <a:lstStyle/>
          <a:p>
            <a:endParaRPr lang="en-US"/>
          </a:p>
        </p:txBody>
      </p:sp>
      <p:sp>
        <p:nvSpPr>
          <p:cNvPr id="11" name="Text 9"/>
          <p:cNvSpPr/>
          <p:nvPr/>
        </p:nvSpPr>
        <p:spPr>
          <a:xfrm>
            <a:off x="6437376" y="1810512"/>
            <a:ext cx="1371600" cy="329184"/>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TARGET</a:t>
            </a:r>
            <a:endParaRPr lang="en-US" sz="1050" dirty="0"/>
          </a:p>
        </p:txBody>
      </p:sp>
      <p:sp>
        <p:nvSpPr>
          <p:cNvPr id="12" name="Text 10"/>
          <p:cNvSpPr/>
          <p:nvPr/>
        </p:nvSpPr>
        <p:spPr>
          <a:xfrm>
            <a:off x="6437376" y="2286000"/>
            <a:ext cx="4608576" cy="384048"/>
          </a:xfrm>
          <a:prstGeom prst="rect">
            <a:avLst/>
          </a:prstGeom>
          <a:noFill/>
          <a:ln/>
        </p:spPr>
        <p:txBody>
          <a:bodyPr wrap="square" lIns="0" tIns="0" rIns="0" bIns="0" rtlCol="0" anchor="t"/>
          <a:lstStyle/>
          <a:p>
            <a:pPr marL="0" indent="0" algn="l">
              <a:lnSpc>
                <a:spcPct val="106000"/>
              </a:lnSpc>
              <a:buNone/>
            </a:pPr>
            <a:r>
              <a:rPr lang="en-US" sz="2200" b="1" dirty="0">
                <a:solidFill>
                  <a:srgbClr val="16212E"/>
                </a:solidFill>
                <a:latin typeface="Calibri" pitchFamily="34" charset="0"/>
                <a:ea typeface="Calibri" pitchFamily="34" charset="-122"/>
                <a:cs typeface="Calibri" pitchFamily="34" charset="-120"/>
              </a:rPr>
              <a:t>AES-256-GCM</a:t>
            </a:r>
            <a:endParaRPr lang="en-US" sz="2200" dirty="0"/>
          </a:p>
        </p:txBody>
      </p:sp>
      <p:sp>
        <p:nvSpPr>
          <p:cNvPr id="13" name="Text 11"/>
          <p:cNvSpPr/>
          <p:nvPr/>
        </p:nvSpPr>
        <p:spPr>
          <a:xfrm>
            <a:off x="6437376" y="2743200"/>
            <a:ext cx="4608576" cy="2011680"/>
          </a:xfrm>
          <a:prstGeom prst="rect">
            <a:avLst/>
          </a:prstGeom>
          <a:noFill/>
          <a:ln/>
        </p:spPr>
        <p:txBody>
          <a:bodyPr wrap="square" lIns="0" tIns="0" rIns="0" bIns="0" rtlCol="0" anchor="ctr"/>
          <a:lstStyle/>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256-bit key, 14 rounds</a:t>
            </a:r>
            <a:endParaRPr lang="en-US" sz="1250" dirty="0"/>
          </a:p>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One portable format across Go, Node, Python</a:t>
            </a:r>
            <a:endParaRPr lang="en-US" sz="1250" dirty="0"/>
          </a:p>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Key derived with HKDF-SHA384, fresh salt every message</a:t>
            </a:r>
            <a:endParaRPr lang="en-US" sz="1250" dirty="0"/>
          </a:p>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Authenticated: tampering fails loudly and returns nothing</a:t>
            </a:r>
            <a:endParaRPr lang="en-US" sz="1250" dirty="0"/>
          </a:p>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Confidentiality and integrity in a single pass — that is "AEAD"</a:t>
            </a:r>
            <a:endParaRPr lang="en-US" sz="1250" dirty="0"/>
          </a:p>
        </p:txBody>
      </p:sp>
      <p:sp>
        <p:nvSpPr>
          <p:cNvPr id="14" name="Shape 12"/>
          <p:cNvSpPr/>
          <p:nvPr/>
        </p:nvSpPr>
        <p:spPr>
          <a:xfrm>
            <a:off x="566928" y="5102352"/>
            <a:ext cx="11057839" cy="841248"/>
          </a:xfrm>
          <a:prstGeom prst="roundRect">
            <a:avLst>
              <a:gd name="adj" fmla="val 6522"/>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5" name="Text 13"/>
          <p:cNvSpPr/>
          <p:nvPr/>
        </p:nvSpPr>
        <p:spPr>
          <a:xfrm>
            <a:off x="932688" y="5321808"/>
            <a:ext cx="685800" cy="274320"/>
          </a:xfrm>
          <a:prstGeom prst="rect">
            <a:avLst/>
          </a:prstGeom>
          <a:noFill/>
          <a:ln/>
        </p:spPr>
        <p:txBody>
          <a:bodyPr wrap="square" lIns="0" tIns="0" rIns="0" bIns="0" rtlCol="0" anchor="t"/>
          <a:lstStyle/>
          <a:p>
            <a:pPr marL="0" indent="0" algn="l">
              <a:lnSpc>
                <a:spcPct val="106000"/>
              </a:lnSpc>
              <a:buNone/>
            </a:pPr>
            <a:r>
              <a:rPr lang="en-US" sz="1350" b="1" dirty="0">
                <a:solidFill>
                  <a:srgbClr val="D0524E"/>
                </a:solidFill>
                <a:latin typeface="Calibri" pitchFamily="34" charset="0"/>
                <a:ea typeface="Calibri" pitchFamily="34" charset="-122"/>
                <a:cs typeface="Calibri" pitchFamily="34" charset="-120"/>
              </a:rPr>
              <a:t>Note:</a:t>
            </a:r>
            <a:endParaRPr lang="en-US" sz="1350" dirty="0"/>
          </a:p>
        </p:txBody>
      </p:sp>
      <p:sp>
        <p:nvSpPr>
          <p:cNvPr id="16" name="Text 14"/>
          <p:cNvSpPr/>
          <p:nvPr/>
        </p:nvSpPr>
        <p:spPr>
          <a:xfrm>
            <a:off x="1645920" y="5321808"/>
            <a:ext cx="9594799" cy="457200"/>
          </a:xfrm>
          <a:prstGeom prst="rect">
            <a:avLst/>
          </a:prstGeom>
          <a:noFill/>
          <a:ln/>
        </p:spPr>
        <p:txBody>
          <a:bodyPr wrap="square" lIns="0" tIns="0" rIns="0" bIns="0" rtlCol="0" anchor="t"/>
          <a:lstStyle/>
          <a:p>
            <a:pPr marL="0" indent="0" algn="l">
              <a:lnSpc>
                <a:spcPct val="106000"/>
              </a:lnSpc>
              <a:buNone/>
            </a:pPr>
            <a:r>
              <a:rPr lang="en-US" sz="1350" dirty="0">
                <a:solidFill>
                  <a:srgbClr val="3D4C5A"/>
                </a:solidFill>
                <a:latin typeface="Calibri" pitchFamily="34" charset="0"/>
                <a:ea typeface="Calibri" pitchFamily="34" charset="-122"/>
                <a:cs typeface="Calibri" pitchFamily="34" charset="-120"/>
              </a:rPr>
              <a:t>a compliance mandate — not a debate about whether CBC still "works". The engineering question is only how we get there without breaking existing services/APIs.</a:t>
            </a:r>
            <a:endParaRPr lang="en-US" sz="1350" dirty="0"/>
          </a:p>
        </p:txBody>
      </p:sp>
      <p:sp>
        <p:nvSpPr>
          <p:cNvPr id="17" name="Text 15"/>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Agenda</a:t>
            </a:r>
            <a:endParaRPr lang="en-US" sz="950" dirty="0"/>
          </a:p>
        </p:txBody>
      </p:sp>
      <p:sp>
        <p:nvSpPr>
          <p:cNvPr id="18" name="Text 16"/>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1"/>
        </a:solidFill>
        <a:effectLst/>
      </p:bgPr>
    </p:bg>
    <p:spTree>
      <p:nvGrpSpPr>
        <p:cNvPr id="1" name=""/>
        <p:cNvGrpSpPr/>
        <p:nvPr/>
      </p:nvGrpSpPr>
      <p:grpSpPr>
        <a:xfrm>
          <a:off x="0" y="0"/>
          <a:ext cx="0" cy="0"/>
          <a:chOff x="0" y="0"/>
          <a:chExt cx="0" cy="0"/>
        </a:xfrm>
      </p:grpSpPr>
      <p:sp>
        <p:nvSpPr>
          <p:cNvPr id="2" name="Text 0"/>
          <p:cNvSpPr/>
          <p:nvPr/>
        </p:nvSpPr>
        <p:spPr>
          <a:xfrm>
            <a:off x="566928" y="2331720"/>
            <a:ext cx="5486400" cy="310896"/>
          </a:xfrm>
          <a:prstGeom prst="rect">
            <a:avLst/>
          </a:prstGeom>
          <a:noFill/>
          <a:ln/>
        </p:spPr>
        <p:txBody>
          <a:bodyPr wrap="square" lIns="0" tIns="0" rIns="0" bIns="0" rtlCol="0" anchor="ctr"/>
          <a:lstStyle/>
          <a:p>
            <a:pPr marL="0" indent="0">
              <a:buNone/>
            </a:pPr>
            <a:r>
              <a:rPr lang="en-US" sz="1250" b="1" kern="0" spc="300" dirty="0">
                <a:solidFill>
                  <a:srgbClr val="E8A033"/>
                </a:solidFill>
                <a:latin typeface="Calibri" pitchFamily="34" charset="0"/>
                <a:ea typeface="Calibri" pitchFamily="34" charset="-122"/>
                <a:cs typeface="Calibri" pitchFamily="34" charset="-120"/>
              </a:rPr>
              <a:t>PART ONE</a:t>
            </a:r>
            <a:endParaRPr lang="en-US" sz="1250" dirty="0"/>
          </a:p>
        </p:txBody>
      </p:sp>
      <p:sp>
        <p:nvSpPr>
          <p:cNvPr id="3" name="Text 1"/>
          <p:cNvSpPr/>
          <p:nvPr/>
        </p:nvSpPr>
        <p:spPr>
          <a:xfrm>
            <a:off x="566928" y="2724912"/>
            <a:ext cx="7315200" cy="86868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The idea</a:t>
            </a:r>
            <a:endParaRPr lang="en-US" sz="4600" dirty="0"/>
          </a:p>
        </p:txBody>
      </p:sp>
      <p:sp>
        <p:nvSpPr>
          <p:cNvPr id="4" name="Text 2"/>
          <p:cNvSpPr/>
          <p:nvPr/>
        </p:nvSpPr>
        <p:spPr>
          <a:xfrm>
            <a:off x="566928" y="3675888"/>
            <a:ext cx="6766560" cy="822960"/>
          </a:xfrm>
          <a:prstGeom prst="rect">
            <a:avLst/>
          </a:prstGeom>
          <a:noFill/>
          <a:ln/>
        </p:spPr>
        <p:txBody>
          <a:bodyPr wrap="square" lIns="0" tIns="0" rIns="0" bIns="0" rtlCol="0" anchor="ctr"/>
          <a:lstStyle/>
          <a:p>
            <a:pPr marL="0" indent="0">
              <a:lnSpc>
                <a:spcPct val="125000"/>
              </a:lnSpc>
              <a:buNone/>
            </a:pPr>
            <a:r>
              <a:rPr lang="en-US" sz="1600" dirty="0">
                <a:solidFill>
                  <a:srgbClr val="A8B8C6"/>
                </a:solidFill>
                <a:latin typeface="Calibri" pitchFamily="34" charset="0"/>
                <a:ea typeface="Calibri" pitchFamily="34" charset="-122"/>
                <a:cs typeface="Calibri" pitchFamily="34" charset="-120"/>
              </a:rPr>
              <a:t>What encryption actually promises, where AES came from,</a:t>
            </a:r>
            <a:endParaRPr lang="en-US" sz="1600" dirty="0"/>
          </a:p>
          <a:p>
            <a:pPr marL="0" indent="0">
              <a:lnSpc>
                <a:spcPct val="125000"/>
              </a:lnSpc>
              <a:buNone/>
            </a:pPr>
            <a:r>
              <a:rPr lang="en-US" sz="1600" dirty="0">
                <a:solidFill>
                  <a:srgbClr val="A8B8C6"/>
                </a:solidFill>
                <a:latin typeface="Calibri" pitchFamily="34" charset="0"/>
                <a:ea typeface="Calibri" pitchFamily="34" charset="-122"/>
                <a:cs typeface="Calibri" pitchFamily="34" charset="-120"/>
              </a:rPr>
              <a:t>and every word you are about to hear — defined.</a:t>
            </a:r>
            <a:endParaRPr lang="en-US" sz="1600" dirty="0"/>
          </a:p>
        </p:txBody>
      </p:sp>
      <p:sp>
        <p:nvSpPr>
          <p:cNvPr id="5" name="Shape 3"/>
          <p:cNvSpPr/>
          <p:nvPr/>
        </p:nvSpPr>
        <p:spPr>
          <a:xfrm>
            <a:off x="566928" y="4709160"/>
            <a:ext cx="2103120" cy="402336"/>
          </a:xfrm>
          <a:prstGeom prst="roundRect">
            <a:avLst>
              <a:gd name="adj" fmla="val 113636"/>
            </a:avLst>
          </a:prstGeom>
          <a:solidFill>
            <a:srgbClr val="E8A033"/>
          </a:solidFill>
          <a:ln w="6350">
            <a:solidFill>
              <a:srgbClr val="E8A033"/>
            </a:solidFill>
            <a:prstDash val="solid"/>
          </a:ln>
        </p:spPr>
        <p:txBody>
          <a:bodyPr/>
          <a:lstStyle/>
          <a:p>
            <a:endParaRPr lang="en-US"/>
          </a:p>
        </p:txBody>
      </p:sp>
      <p:sp>
        <p:nvSpPr>
          <p:cNvPr id="6" name="Text 4"/>
          <p:cNvSpPr/>
          <p:nvPr/>
        </p:nvSpPr>
        <p:spPr>
          <a:xfrm>
            <a:off x="566928" y="4709160"/>
            <a:ext cx="2103120" cy="402336"/>
          </a:xfrm>
          <a:prstGeom prst="rect">
            <a:avLst/>
          </a:prstGeom>
          <a:noFill/>
          <a:ln/>
        </p:spPr>
        <p:txBody>
          <a:bodyPr wrap="square" lIns="0" tIns="0" rIns="0" bIns="0" rtlCol="0" anchor="ctr"/>
          <a:lstStyle/>
          <a:p>
            <a:pPr marL="0" indent="0" algn="ctr">
              <a:buNone/>
            </a:pPr>
            <a:r>
              <a:rPr lang="en-US" sz="1050" b="1" kern="0" spc="60" dirty="0">
                <a:solidFill>
                  <a:srgbClr val="0F1721"/>
                </a:solidFill>
                <a:latin typeface="Calibri" pitchFamily="34" charset="0"/>
                <a:ea typeface="Calibri" pitchFamily="34" charset="-122"/>
                <a:cs typeface="Calibri" pitchFamily="34" charset="-120"/>
              </a:rPr>
              <a:t>NO CODE AHEAD</a:t>
            </a:r>
            <a:endParaRPr lang="en-US" sz="1050" dirty="0"/>
          </a:p>
        </p:txBody>
      </p:sp>
      <p:sp>
        <p:nvSpPr>
          <p:cNvPr id="7" name="Text 5"/>
          <p:cNvSpPr/>
          <p:nvPr/>
        </p:nvSpPr>
        <p:spPr>
          <a:xfrm>
            <a:off x="9692640" y="2926080"/>
            <a:ext cx="2011680" cy="457200"/>
          </a:xfrm>
          <a:prstGeom prst="rect">
            <a:avLst/>
          </a:prstGeom>
          <a:noFill/>
          <a:ln/>
        </p:spPr>
        <p:txBody>
          <a:bodyPr wrap="square" lIns="0" tIns="0" rIns="0" bIns="0" rtlCol="0" anchor="ctr"/>
          <a:lstStyle/>
          <a:p>
            <a:pPr marL="0" indent="0" algn="r">
              <a:buNone/>
            </a:pP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CONCEPT 1.1 OF 5</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What is Encryption &amp; where does AES fit?</a:t>
            </a:r>
            <a:endParaRPr lang="en-US" sz="3100" dirty="0"/>
          </a:p>
        </p:txBody>
      </p:sp>
      <p:sp>
        <p:nvSpPr>
          <p:cNvPr id="4" name="Text 2"/>
          <p:cNvSpPr/>
          <p:nvPr/>
        </p:nvSpPr>
        <p:spPr>
          <a:xfrm>
            <a:off x="566928" y="1298448"/>
            <a:ext cx="11057839" cy="365760"/>
          </a:xfrm>
          <a:prstGeom prst="rect">
            <a:avLst/>
          </a:prstGeom>
          <a:noFill/>
          <a:ln/>
        </p:spPr>
        <p:txBody>
          <a:bodyPr wrap="square" lIns="0" tIns="0" rIns="0" bIns="0" rtlCol="0" anchor="ctr"/>
          <a:lstStyle/>
          <a:p>
            <a:pPr marL="0" indent="0">
              <a:lnSpc>
                <a:spcPct val="105000"/>
              </a:lnSpc>
              <a:buNone/>
            </a:pPr>
            <a:r>
              <a:rPr lang="en-US" sz="1450" dirty="0">
                <a:solidFill>
                  <a:srgbClr val="7A8894"/>
                </a:solidFill>
                <a:latin typeface="Calibri" pitchFamily="34" charset="0"/>
                <a:ea typeface="Calibri" pitchFamily="34" charset="-122"/>
                <a:cs typeface="Calibri" pitchFamily="34" charset="-120"/>
              </a:rPr>
              <a:t>Protecting information by making it unreadable to anyone except recipient</a:t>
            </a:r>
            <a:endParaRPr lang="en-US" sz="1450" dirty="0"/>
          </a:p>
        </p:txBody>
      </p:sp>
      <p:sp>
        <p:nvSpPr>
          <p:cNvPr id="5" name="Shape 3"/>
          <p:cNvSpPr/>
          <p:nvPr/>
        </p:nvSpPr>
        <p:spPr>
          <a:xfrm>
            <a:off x="566928" y="1883664"/>
            <a:ext cx="2455971" cy="2286000"/>
          </a:xfrm>
          <a:prstGeom prst="roundRect">
            <a:avLst>
              <a:gd name="adj" fmla="val 2400"/>
            </a:avLst>
          </a:prstGeom>
          <a:solidFill>
            <a:srgbClr val="FBEEDA"/>
          </a:solidFill>
          <a:ln w="6350">
            <a:solidFill>
              <a:srgbClr val="FBEEDA"/>
            </a:solidFill>
            <a:prstDash val="solid"/>
          </a:ln>
          <a:effectLst>
            <a:outerShdw blurRad="114300" dist="25400" dir="5400000" algn="bl" rotWithShape="0">
              <a:srgbClr val="9FB0BF">
                <a:alpha val="25000"/>
              </a:srgbClr>
            </a:outerShdw>
          </a:effectLst>
        </p:spPr>
        <p:txBody>
          <a:bodyPr/>
          <a:lstStyle/>
          <a:p>
            <a:endParaRPr lang="en-US"/>
          </a:p>
        </p:txBody>
      </p:sp>
      <p:sp>
        <p:nvSpPr>
          <p:cNvPr id="8" name="Text 6"/>
          <p:cNvSpPr/>
          <p:nvPr/>
        </p:nvSpPr>
        <p:spPr>
          <a:xfrm>
            <a:off x="1338251" y="1965960"/>
            <a:ext cx="861688" cy="347472"/>
          </a:xfrm>
          <a:prstGeom prst="rect">
            <a:avLst/>
          </a:prstGeom>
          <a:noFill/>
          <a:ln/>
        </p:spPr>
        <p:txBody>
          <a:bodyPr wrap="square" lIns="0" tIns="0" rIns="0" bIns="0" rtlCol="0" anchor="t"/>
          <a:lstStyle/>
          <a:p>
            <a:pPr marL="0" indent="0" algn="l">
              <a:lnSpc>
                <a:spcPct val="106000"/>
              </a:lnSpc>
              <a:buNone/>
            </a:pPr>
            <a:r>
              <a:rPr lang="en-US" sz="1900" b="1" dirty="0">
                <a:solidFill>
                  <a:srgbClr val="16212E"/>
                </a:solidFill>
                <a:latin typeface="Calibri" pitchFamily="34" charset="0"/>
                <a:ea typeface="Calibri" pitchFamily="34" charset="-122"/>
                <a:cs typeface="Calibri" pitchFamily="34" charset="-120"/>
              </a:rPr>
              <a:t>Og Data</a:t>
            </a:r>
            <a:endParaRPr lang="en-US" sz="1900" dirty="0"/>
          </a:p>
        </p:txBody>
      </p:sp>
      <p:sp>
        <p:nvSpPr>
          <p:cNvPr id="9" name="Text 7"/>
          <p:cNvSpPr/>
          <p:nvPr/>
        </p:nvSpPr>
        <p:spPr>
          <a:xfrm>
            <a:off x="885355" y="2395728"/>
            <a:ext cx="1819118" cy="274320"/>
          </a:xfrm>
          <a:prstGeom prst="rect">
            <a:avLst/>
          </a:prstGeom>
          <a:noFill/>
          <a:ln/>
        </p:spPr>
        <p:txBody>
          <a:bodyPr wrap="square" lIns="0" tIns="0" rIns="0" bIns="0" rtlCol="0" anchor="t"/>
          <a:lstStyle/>
          <a:p>
            <a:pPr marL="0" indent="0" algn="l">
              <a:lnSpc>
                <a:spcPct val="106000"/>
              </a:lnSpc>
              <a:buNone/>
            </a:pPr>
            <a:r>
              <a:rPr lang="en-US" sz="1300" b="1" dirty="0">
                <a:solidFill>
                  <a:srgbClr val="A3701A"/>
                </a:solidFill>
                <a:latin typeface="Calibri" pitchFamily="34" charset="0"/>
                <a:ea typeface="Calibri" pitchFamily="34" charset="-122"/>
                <a:cs typeface="Calibri" pitchFamily="34" charset="-120"/>
              </a:rPr>
              <a:t>Information before encryption</a:t>
            </a:r>
            <a:endParaRPr lang="en-US" sz="1300" dirty="0"/>
          </a:p>
        </p:txBody>
      </p:sp>
      <p:sp>
        <p:nvSpPr>
          <p:cNvPr id="10" name="Text 8"/>
          <p:cNvSpPr/>
          <p:nvPr/>
        </p:nvSpPr>
        <p:spPr>
          <a:xfrm>
            <a:off x="885355" y="3026664"/>
            <a:ext cx="1905179" cy="1019556"/>
          </a:xfrm>
          <a:prstGeom prst="rect">
            <a:avLst/>
          </a:prstGeom>
          <a:noFill/>
          <a:ln/>
        </p:spPr>
        <p:txBody>
          <a:bodyPr wrap="square" lIns="0" tIns="0" rIns="0" bIns="0" rtlCol="0" anchor="t"/>
          <a:lstStyle/>
          <a:p>
            <a:pPr marL="0" indent="0" algn="l">
              <a:lnSpc>
                <a:spcPct val="115000"/>
              </a:lnSpc>
              <a:buNone/>
            </a:pPr>
            <a:r>
              <a:rPr lang="en-US" sz="1200" dirty="0">
                <a:solidFill>
                  <a:srgbClr val="3D4C5A"/>
                </a:solidFill>
                <a:latin typeface="Calibri" pitchFamily="34" charset="0"/>
                <a:ea typeface="Calibri" pitchFamily="34" charset="-122"/>
                <a:cs typeface="Calibri" pitchFamily="34" charset="-120"/>
              </a:rPr>
              <a:t>Such as customer details, API requests, passwords or financial </a:t>
            </a:r>
            <a:r>
              <a:rPr lang="en-US" sz="1200" dirty="0" err="1">
                <a:solidFill>
                  <a:srgbClr val="3D4C5A"/>
                </a:solidFill>
                <a:latin typeface="Calibri" pitchFamily="34" charset="0"/>
                <a:ea typeface="Calibri" pitchFamily="34" charset="-122"/>
                <a:cs typeface="Calibri" pitchFamily="34" charset="-120"/>
              </a:rPr>
              <a:t>txns</a:t>
            </a:r>
            <a:r>
              <a:rPr lang="en-US" sz="1200" dirty="0">
                <a:solidFill>
                  <a:srgbClr val="3D4C5A"/>
                </a:solidFill>
                <a:latin typeface="Calibri" pitchFamily="34" charset="0"/>
                <a:ea typeface="Calibri" pitchFamily="34" charset="-122"/>
                <a:cs typeface="Calibri" pitchFamily="34" charset="-120"/>
              </a:rPr>
              <a:t>.</a:t>
            </a:r>
          </a:p>
        </p:txBody>
      </p:sp>
      <p:sp>
        <p:nvSpPr>
          <p:cNvPr id="11" name="Shape 9"/>
          <p:cNvSpPr/>
          <p:nvPr/>
        </p:nvSpPr>
        <p:spPr>
          <a:xfrm>
            <a:off x="3423083" y="1886891"/>
            <a:ext cx="2455971" cy="2286000"/>
          </a:xfrm>
          <a:prstGeom prst="roundRect">
            <a:avLst>
              <a:gd name="adj" fmla="val 2400"/>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4" name="Text 12"/>
          <p:cNvSpPr/>
          <p:nvPr/>
        </p:nvSpPr>
        <p:spPr>
          <a:xfrm>
            <a:off x="4100815" y="1965960"/>
            <a:ext cx="1199478" cy="329184"/>
          </a:xfrm>
          <a:prstGeom prst="rect">
            <a:avLst/>
          </a:prstGeom>
          <a:noFill/>
          <a:ln/>
        </p:spPr>
        <p:txBody>
          <a:bodyPr wrap="square" lIns="0" tIns="0" rIns="0" bIns="0" rtlCol="0" anchor="t"/>
          <a:lstStyle/>
          <a:p>
            <a:pPr marL="0" indent="0" algn="l">
              <a:lnSpc>
                <a:spcPct val="106000"/>
              </a:lnSpc>
              <a:buNone/>
            </a:pPr>
            <a:r>
              <a:rPr lang="en-US" sz="1900" b="1" dirty="0">
                <a:solidFill>
                  <a:srgbClr val="16212E"/>
                </a:solidFill>
                <a:latin typeface="Calibri" pitchFamily="34" charset="0"/>
                <a:ea typeface="Calibri" pitchFamily="34" charset="-122"/>
                <a:cs typeface="Calibri" pitchFamily="34" charset="-120"/>
              </a:rPr>
              <a:t>Encryption</a:t>
            </a:r>
            <a:endParaRPr lang="en-US" sz="1900" dirty="0"/>
          </a:p>
        </p:txBody>
      </p:sp>
      <p:sp>
        <p:nvSpPr>
          <p:cNvPr id="15" name="Text 13"/>
          <p:cNvSpPr/>
          <p:nvPr/>
        </p:nvSpPr>
        <p:spPr>
          <a:xfrm>
            <a:off x="3640928" y="2400300"/>
            <a:ext cx="2326341" cy="484632"/>
          </a:xfrm>
          <a:prstGeom prst="rect">
            <a:avLst/>
          </a:prstGeom>
          <a:noFill/>
          <a:ln/>
        </p:spPr>
        <p:txBody>
          <a:bodyPr wrap="square" lIns="0" tIns="0" rIns="0" bIns="0" rtlCol="0" anchor="t"/>
          <a:lstStyle/>
          <a:p>
            <a:pPr marL="0" indent="0" algn="l">
              <a:lnSpc>
                <a:spcPct val="106000"/>
              </a:lnSpc>
              <a:buNone/>
            </a:pPr>
            <a:r>
              <a:rPr lang="en-US" sz="1300" b="1" dirty="0">
                <a:solidFill>
                  <a:srgbClr val="1B2735"/>
                </a:solidFill>
                <a:latin typeface="Calibri" pitchFamily="34" charset="0"/>
                <a:ea typeface="Calibri" pitchFamily="34" charset="-122"/>
                <a:cs typeface="Calibri" pitchFamily="34" charset="-120"/>
              </a:rPr>
              <a:t>Transform readable data into unreadable</a:t>
            </a:r>
            <a:endParaRPr lang="en-US" sz="1300" dirty="0"/>
          </a:p>
        </p:txBody>
      </p:sp>
      <p:sp>
        <p:nvSpPr>
          <p:cNvPr id="16" name="Text 14"/>
          <p:cNvSpPr/>
          <p:nvPr/>
        </p:nvSpPr>
        <p:spPr>
          <a:xfrm>
            <a:off x="3663877" y="3026664"/>
            <a:ext cx="2248886" cy="685800"/>
          </a:xfrm>
          <a:prstGeom prst="rect">
            <a:avLst/>
          </a:prstGeom>
          <a:noFill/>
          <a:ln/>
        </p:spPr>
        <p:txBody>
          <a:bodyPr wrap="square" lIns="0" tIns="0" rIns="0" bIns="0" rtlCol="0" anchor="t"/>
          <a:lstStyle/>
          <a:p>
            <a:pPr marL="0" indent="0" algn="l">
              <a:lnSpc>
                <a:spcPct val="115000"/>
              </a:lnSpc>
              <a:buNone/>
            </a:pPr>
            <a:r>
              <a:rPr lang="en-US" sz="1200" dirty="0">
                <a:solidFill>
                  <a:srgbClr val="3D4C5A"/>
                </a:solidFill>
                <a:latin typeface="Calibri" pitchFamily="34" charset="0"/>
                <a:ea typeface="Calibri" pitchFamily="34" charset="-122"/>
                <a:cs typeface="Calibri" pitchFamily="34" charset="-120"/>
              </a:rPr>
              <a:t>It uses some mathematical algorithms</a:t>
            </a:r>
            <a:endParaRPr lang="en-US" sz="1200" dirty="0"/>
          </a:p>
        </p:txBody>
      </p:sp>
      <p:sp>
        <p:nvSpPr>
          <p:cNvPr id="17" name="Shape 15"/>
          <p:cNvSpPr/>
          <p:nvPr/>
        </p:nvSpPr>
        <p:spPr>
          <a:xfrm>
            <a:off x="6279238" y="1883664"/>
            <a:ext cx="2455971" cy="2286000"/>
          </a:xfrm>
          <a:prstGeom prst="roundRect">
            <a:avLst>
              <a:gd name="adj" fmla="val 2400"/>
            </a:avLst>
          </a:prstGeom>
          <a:solidFill>
            <a:srgbClr val="E2F4EF"/>
          </a:solidFill>
          <a:ln w="6350">
            <a:solidFill>
              <a:srgbClr val="E2F4EF"/>
            </a:solidFill>
            <a:prstDash val="solid"/>
          </a:ln>
          <a:effectLst>
            <a:outerShdw blurRad="114300" dist="25400" dir="5400000" algn="bl" rotWithShape="0">
              <a:srgbClr val="9FB0BF">
                <a:alpha val="25000"/>
              </a:srgbClr>
            </a:outerShdw>
          </a:effectLst>
        </p:spPr>
        <p:txBody>
          <a:bodyPr/>
          <a:lstStyle/>
          <a:p>
            <a:endParaRPr lang="en-US" dirty="0"/>
          </a:p>
        </p:txBody>
      </p:sp>
      <p:sp>
        <p:nvSpPr>
          <p:cNvPr id="20" name="Text 18"/>
          <p:cNvSpPr/>
          <p:nvPr/>
        </p:nvSpPr>
        <p:spPr>
          <a:xfrm>
            <a:off x="6861225" y="1965960"/>
            <a:ext cx="1291995" cy="329184"/>
          </a:xfrm>
          <a:prstGeom prst="rect">
            <a:avLst/>
          </a:prstGeom>
          <a:noFill/>
          <a:ln/>
        </p:spPr>
        <p:txBody>
          <a:bodyPr wrap="square" lIns="0" tIns="0" rIns="0" bIns="0" rtlCol="0" anchor="t"/>
          <a:lstStyle/>
          <a:p>
            <a:pPr marL="0" indent="0" algn="l">
              <a:lnSpc>
                <a:spcPct val="106000"/>
              </a:lnSpc>
              <a:buNone/>
            </a:pPr>
            <a:r>
              <a:rPr lang="en-US" sz="1900" b="1" dirty="0">
                <a:solidFill>
                  <a:srgbClr val="16212E"/>
                </a:solidFill>
                <a:latin typeface="Calibri" pitchFamily="34" charset="0"/>
                <a:ea typeface="Calibri" pitchFamily="34" charset="-122"/>
                <a:cs typeface="Calibri" pitchFamily="34" charset="-120"/>
              </a:rPr>
              <a:t>Cipher Text</a:t>
            </a:r>
            <a:endParaRPr lang="en-US" sz="1900" dirty="0"/>
          </a:p>
        </p:txBody>
      </p:sp>
      <p:sp>
        <p:nvSpPr>
          <p:cNvPr id="21" name="Text 19"/>
          <p:cNvSpPr/>
          <p:nvPr/>
        </p:nvSpPr>
        <p:spPr>
          <a:xfrm>
            <a:off x="6593362" y="2395728"/>
            <a:ext cx="2045029" cy="274320"/>
          </a:xfrm>
          <a:prstGeom prst="rect">
            <a:avLst/>
          </a:prstGeom>
          <a:noFill/>
          <a:ln/>
        </p:spPr>
        <p:txBody>
          <a:bodyPr wrap="square" lIns="0" tIns="0" rIns="0" bIns="0" rtlCol="0" anchor="t"/>
          <a:lstStyle/>
          <a:p>
            <a:pPr marL="0" indent="0" algn="l">
              <a:lnSpc>
                <a:spcPct val="106000"/>
              </a:lnSpc>
              <a:buNone/>
            </a:pPr>
            <a:r>
              <a:rPr lang="en-US" sz="1300" b="1" dirty="0">
                <a:solidFill>
                  <a:srgbClr val="2BA88C"/>
                </a:solidFill>
                <a:latin typeface="Calibri" pitchFamily="34" charset="0"/>
                <a:ea typeface="Calibri" pitchFamily="34" charset="-122"/>
                <a:cs typeface="Calibri" pitchFamily="34" charset="-120"/>
              </a:rPr>
              <a:t>It came from a key holder.</a:t>
            </a:r>
            <a:endParaRPr lang="en-US" sz="1300" dirty="0"/>
          </a:p>
        </p:txBody>
      </p:sp>
      <p:sp>
        <p:nvSpPr>
          <p:cNvPr id="22" name="Text 20"/>
          <p:cNvSpPr/>
          <p:nvPr/>
        </p:nvSpPr>
        <p:spPr>
          <a:xfrm>
            <a:off x="6593361" y="3026664"/>
            <a:ext cx="2045029" cy="960120"/>
          </a:xfrm>
          <a:prstGeom prst="rect">
            <a:avLst/>
          </a:prstGeom>
          <a:noFill/>
          <a:ln/>
        </p:spPr>
        <p:txBody>
          <a:bodyPr wrap="square" lIns="0" tIns="0" rIns="0" bIns="0" rtlCol="0" anchor="t"/>
          <a:lstStyle/>
          <a:p>
            <a:pPr>
              <a:lnSpc>
                <a:spcPct val="115000"/>
              </a:lnSpc>
            </a:pPr>
            <a:r>
              <a:rPr lang="en-US" sz="1200" dirty="0">
                <a:solidFill>
                  <a:srgbClr val="3D4C5A"/>
                </a:solidFill>
                <a:latin typeface="Calibri" pitchFamily="34" charset="0"/>
                <a:ea typeface="Calibri" pitchFamily="34" charset="-122"/>
                <a:cs typeface="Calibri" pitchFamily="34" charset="-120"/>
              </a:rPr>
              <a:t>Encrypted form of data. Without the correct key recovering data is computationally infeasible.</a:t>
            </a:r>
          </a:p>
          <a:p>
            <a:pPr>
              <a:lnSpc>
                <a:spcPct val="115000"/>
              </a:lnSpc>
            </a:pPr>
            <a:endParaRPr lang="en-US" sz="1200" dirty="0">
              <a:solidFill>
                <a:srgbClr val="3D4C5A"/>
              </a:solidFill>
              <a:latin typeface="Calibri" pitchFamily="34" charset="0"/>
              <a:ea typeface="Calibri" pitchFamily="34" charset="-122"/>
              <a:cs typeface="Calibri" pitchFamily="34" charset="-120"/>
            </a:endParaRPr>
          </a:p>
          <a:p>
            <a:pPr>
              <a:lnSpc>
                <a:spcPct val="115000"/>
              </a:lnSpc>
            </a:pPr>
            <a:r>
              <a:rPr lang="en-US" sz="1200" dirty="0">
                <a:solidFill>
                  <a:srgbClr val="3D4C5A"/>
                </a:solidFill>
                <a:latin typeface="Calibri" pitchFamily="34" charset="0"/>
                <a:ea typeface="Calibri" pitchFamily="34" charset="-122"/>
                <a:cs typeface="Calibri" pitchFamily="34" charset="-120"/>
              </a:rPr>
              <a:t>E.g. </a:t>
            </a:r>
            <a:r>
              <a:rPr lang="en-IN" sz="1200" dirty="0"/>
              <a:t>`SEtERgHb4Bh28VEZBX+ne..</a:t>
            </a:r>
            <a:endParaRPr lang="en-US" sz="1200" dirty="0"/>
          </a:p>
        </p:txBody>
      </p:sp>
      <p:sp>
        <p:nvSpPr>
          <p:cNvPr id="23" name="Shape 21"/>
          <p:cNvSpPr/>
          <p:nvPr/>
        </p:nvSpPr>
        <p:spPr>
          <a:xfrm>
            <a:off x="566928" y="4370832"/>
            <a:ext cx="11057839" cy="841248"/>
          </a:xfrm>
          <a:prstGeom prst="roundRect">
            <a:avLst>
              <a:gd name="adj" fmla="val 6522"/>
            </a:avLst>
          </a:prstGeom>
          <a:solidFill>
            <a:srgbClr val="FBEAE9"/>
          </a:solidFill>
          <a:ln w="6350">
            <a:solidFill>
              <a:srgbClr val="FBEAE9"/>
            </a:solidFill>
            <a:prstDash val="solid"/>
          </a:ln>
          <a:effectLst>
            <a:outerShdw blurRad="114300" dist="25400" dir="5400000" algn="bl" rotWithShape="0">
              <a:srgbClr val="9FB0BF">
                <a:alpha val="25000"/>
              </a:srgbClr>
            </a:outerShdw>
          </a:effectLst>
        </p:spPr>
        <p:txBody>
          <a:bodyPr/>
          <a:lstStyle/>
          <a:p>
            <a:endParaRPr lang="en-US"/>
          </a:p>
        </p:txBody>
      </p:sp>
      <p:sp>
        <p:nvSpPr>
          <p:cNvPr id="24" name="Text 22"/>
          <p:cNvSpPr/>
          <p:nvPr/>
        </p:nvSpPr>
        <p:spPr>
          <a:xfrm>
            <a:off x="932688" y="4572000"/>
            <a:ext cx="541110" cy="292608"/>
          </a:xfrm>
          <a:prstGeom prst="rect">
            <a:avLst/>
          </a:prstGeom>
          <a:noFill/>
          <a:ln/>
        </p:spPr>
        <p:txBody>
          <a:bodyPr wrap="square" lIns="0" tIns="0" rIns="0" bIns="0" rtlCol="0" anchor="t"/>
          <a:lstStyle/>
          <a:p>
            <a:pPr marL="0" indent="0" algn="l">
              <a:lnSpc>
                <a:spcPct val="106000"/>
              </a:lnSpc>
              <a:buNone/>
            </a:pPr>
            <a:r>
              <a:rPr lang="en-US" sz="1350" b="1" dirty="0">
                <a:solidFill>
                  <a:srgbClr val="D0524E"/>
                </a:solidFill>
                <a:latin typeface="Calibri" pitchFamily="34" charset="0"/>
                <a:ea typeface="Calibri" pitchFamily="34" charset="-122"/>
                <a:cs typeface="Calibri" pitchFamily="34" charset="-120"/>
              </a:rPr>
              <a:t>Usage</a:t>
            </a:r>
            <a:endParaRPr lang="en-US" sz="1350" dirty="0"/>
          </a:p>
        </p:txBody>
      </p:sp>
      <p:sp>
        <p:nvSpPr>
          <p:cNvPr id="25" name="Text 23"/>
          <p:cNvSpPr/>
          <p:nvPr/>
        </p:nvSpPr>
        <p:spPr>
          <a:xfrm>
            <a:off x="1473798" y="4572000"/>
            <a:ext cx="9785209" cy="475488"/>
          </a:xfrm>
          <a:prstGeom prst="rect">
            <a:avLst/>
          </a:prstGeom>
          <a:noFill/>
          <a:ln/>
        </p:spPr>
        <p:txBody>
          <a:bodyPr wrap="square" lIns="0" tIns="0" rIns="0" bIns="0" rtlCol="0" anchor="t"/>
          <a:lstStyle/>
          <a:p>
            <a:pPr>
              <a:lnSpc>
                <a:spcPct val="112000"/>
              </a:lnSpc>
            </a:pPr>
            <a:r>
              <a:rPr lang="en-IN" sz="1300" dirty="0">
                <a:solidFill>
                  <a:schemeClr val="bg2">
                    <a:lumMod val="25000"/>
                  </a:schemeClr>
                </a:solidFill>
                <a:latin typeface="Calibri" panose="020F0502020204030204" pitchFamily="34" charset="0"/>
                <a:cs typeface="Calibri" panose="020F0502020204030204" pitchFamily="34" charset="0"/>
              </a:rPr>
              <a:t>Whenever you log in to your bank, make a UPI payment, browse an HTTPS website, or store sensitive information in the cloud, AES is one of the technologies protecting your data behind the scenes. Almost all companies uses this.</a:t>
            </a:r>
            <a:endParaRPr lang="en-US" sz="1300" dirty="0">
              <a:solidFill>
                <a:schemeClr val="bg2">
                  <a:lumMod val="25000"/>
                </a:schemeClr>
              </a:solidFill>
              <a:latin typeface="Calibri" panose="020F0502020204030204" pitchFamily="34" charset="0"/>
              <a:cs typeface="Calibri" panose="020F0502020204030204" pitchFamily="34" charset="0"/>
            </a:endParaRPr>
          </a:p>
        </p:txBody>
      </p:sp>
      <p:sp>
        <p:nvSpPr>
          <p:cNvPr id="27" name="Text 25"/>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1 · The idea</a:t>
            </a:r>
            <a:endParaRPr lang="en-US" sz="950" dirty="0"/>
          </a:p>
        </p:txBody>
      </p:sp>
      <p:sp>
        <p:nvSpPr>
          <p:cNvPr id="28" name="Text 26"/>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3</a:t>
            </a:r>
            <a:endParaRPr lang="en-US" sz="950" dirty="0"/>
          </a:p>
        </p:txBody>
      </p:sp>
      <p:sp>
        <p:nvSpPr>
          <p:cNvPr id="30" name="Shape 15">
            <a:extLst>
              <a:ext uri="{FF2B5EF4-FFF2-40B4-BE49-F238E27FC236}">
                <a16:creationId xmlns:a16="http://schemas.microsoft.com/office/drawing/2014/main" id="{09183642-F03D-FA7C-2B5E-8BC4E19BF245}"/>
              </a:ext>
            </a:extLst>
          </p:cNvPr>
          <p:cNvSpPr/>
          <p:nvPr/>
        </p:nvSpPr>
        <p:spPr>
          <a:xfrm>
            <a:off x="9047178" y="1900069"/>
            <a:ext cx="2455971" cy="2286000"/>
          </a:xfrm>
          <a:prstGeom prst="roundRect">
            <a:avLst>
              <a:gd name="adj" fmla="val 2400"/>
            </a:avLst>
          </a:prstGeom>
          <a:solidFill>
            <a:schemeClr val="accent5">
              <a:lumMod val="20000"/>
              <a:lumOff val="80000"/>
            </a:schemeClr>
          </a:solidFill>
          <a:ln w="6350">
            <a:solidFill>
              <a:srgbClr val="E2F4EF"/>
            </a:solidFill>
            <a:prstDash val="solid"/>
          </a:ln>
          <a:effectLst>
            <a:outerShdw blurRad="114300" dist="25400" dir="5400000" algn="bl" rotWithShape="0">
              <a:srgbClr val="9FB0BF">
                <a:alpha val="25000"/>
              </a:srgbClr>
            </a:outerShdw>
          </a:effectLst>
        </p:spPr>
        <p:txBody>
          <a:bodyPr/>
          <a:lstStyle/>
          <a:p>
            <a:endParaRPr lang="en-US"/>
          </a:p>
        </p:txBody>
      </p:sp>
      <p:sp>
        <p:nvSpPr>
          <p:cNvPr id="31" name="Text 18">
            <a:extLst>
              <a:ext uri="{FF2B5EF4-FFF2-40B4-BE49-F238E27FC236}">
                <a16:creationId xmlns:a16="http://schemas.microsoft.com/office/drawing/2014/main" id="{98ECAE61-3557-6E47-B790-3A9AC74509D5}"/>
              </a:ext>
            </a:extLst>
          </p:cNvPr>
          <p:cNvSpPr/>
          <p:nvPr/>
        </p:nvSpPr>
        <p:spPr>
          <a:xfrm>
            <a:off x="9997079" y="1965960"/>
            <a:ext cx="549717" cy="329184"/>
          </a:xfrm>
          <a:prstGeom prst="rect">
            <a:avLst/>
          </a:prstGeom>
          <a:noFill/>
          <a:ln/>
        </p:spPr>
        <p:txBody>
          <a:bodyPr wrap="square" lIns="0" tIns="0" rIns="0" bIns="0" rtlCol="0" anchor="t"/>
          <a:lstStyle/>
          <a:p>
            <a:pPr marL="0" indent="0" algn="l">
              <a:lnSpc>
                <a:spcPct val="106000"/>
              </a:lnSpc>
              <a:buNone/>
            </a:pPr>
            <a:r>
              <a:rPr lang="en-US" sz="1900" b="1" dirty="0">
                <a:solidFill>
                  <a:srgbClr val="16212E"/>
                </a:solidFill>
                <a:latin typeface="Calibri" pitchFamily="34" charset="0"/>
                <a:ea typeface="Calibri" pitchFamily="34" charset="-122"/>
                <a:cs typeface="Calibri" pitchFamily="34" charset="-120"/>
              </a:rPr>
              <a:t>AES</a:t>
            </a:r>
            <a:endParaRPr lang="en-US" sz="1900" dirty="0"/>
          </a:p>
        </p:txBody>
      </p:sp>
      <p:sp>
        <p:nvSpPr>
          <p:cNvPr id="32" name="Text 19">
            <a:extLst>
              <a:ext uri="{FF2B5EF4-FFF2-40B4-BE49-F238E27FC236}">
                <a16:creationId xmlns:a16="http://schemas.microsoft.com/office/drawing/2014/main" id="{B9430327-E24D-D074-9357-F600670F09C5}"/>
              </a:ext>
            </a:extLst>
          </p:cNvPr>
          <p:cNvSpPr/>
          <p:nvPr/>
        </p:nvSpPr>
        <p:spPr>
          <a:xfrm>
            <a:off x="9358076" y="2395728"/>
            <a:ext cx="2045029" cy="274320"/>
          </a:xfrm>
          <a:prstGeom prst="rect">
            <a:avLst/>
          </a:prstGeom>
          <a:noFill/>
          <a:ln/>
        </p:spPr>
        <p:txBody>
          <a:bodyPr wrap="square" lIns="0" tIns="0" rIns="0" bIns="0" rtlCol="0" anchor="t"/>
          <a:lstStyle/>
          <a:p>
            <a:pPr marL="0" indent="0" algn="l">
              <a:lnSpc>
                <a:spcPct val="106000"/>
              </a:lnSpc>
              <a:buNone/>
            </a:pPr>
            <a:r>
              <a:rPr lang="en-US" sz="1300" b="1" dirty="0">
                <a:solidFill>
                  <a:schemeClr val="accent2">
                    <a:lumMod val="75000"/>
                  </a:schemeClr>
                </a:solidFill>
                <a:latin typeface="Calibri" pitchFamily="34" charset="0"/>
                <a:ea typeface="Calibri" pitchFamily="34" charset="-122"/>
                <a:cs typeface="Calibri" pitchFamily="34" charset="-120"/>
              </a:rPr>
              <a:t>Industry-standard encryption</a:t>
            </a:r>
            <a:endParaRPr lang="en-US" sz="1300" dirty="0">
              <a:solidFill>
                <a:schemeClr val="accent2">
                  <a:lumMod val="75000"/>
                </a:schemeClr>
              </a:solidFill>
            </a:endParaRPr>
          </a:p>
        </p:txBody>
      </p:sp>
      <p:sp>
        <p:nvSpPr>
          <p:cNvPr id="33" name="Text 20">
            <a:extLst>
              <a:ext uri="{FF2B5EF4-FFF2-40B4-BE49-F238E27FC236}">
                <a16:creationId xmlns:a16="http://schemas.microsoft.com/office/drawing/2014/main" id="{1B65334F-AD7B-633F-014E-05C49F1261A4}"/>
              </a:ext>
            </a:extLst>
          </p:cNvPr>
          <p:cNvSpPr/>
          <p:nvPr/>
        </p:nvSpPr>
        <p:spPr>
          <a:xfrm>
            <a:off x="9358075" y="3026664"/>
            <a:ext cx="2045029" cy="1019556"/>
          </a:xfrm>
          <a:prstGeom prst="rect">
            <a:avLst/>
          </a:prstGeom>
          <a:noFill/>
          <a:ln/>
        </p:spPr>
        <p:txBody>
          <a:bodyPr wrap="square" lIns="0" tIns="0" rIns="0" bIns="0" rtlCol="0" anchor="t"/>
          <a:lstStyle/>
          <a:p>
            <a:pPr marL="0" indent="0" algn="l">
              <a:lnSpc>
                <a:spcPct val="115000"/>
              </a:lnSpc>
              <a:buNone/>
            </a:pPr>
            <a:r>
              <a:rPr lang="en-US" sz="1200" dirty="0">
                <a:solidFill>
                  <a:srgbClr val="3D4C5A"/>
                </a:solidFill>
                <a:latin typeface="Calibri" pitchFamily="34" charset="0"/>
                <a:ea typeface="Calibri" pitchFamily="34" charset="-122"/>
                <a:cs typeface="Calibri" pitchFamily="34" charset="-120"/>
              </a:rPr>
              <a:t>Its standardized encryption algorithm used to protect sensitive data, selected by NIST in 2001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3A9793B-FE46-EA4C-338B-33D2563F984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784C5A-E915-3EF7-8398-C4CCC25C314B}"/>
              </a:ext>
            </a:extLst>
          </p:cNvPr>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CONCEPT 1.2 OF 5</a:t>
            </a:r>
            <a:endParaRPr lang="en-US" sz="1100" dirty="0"/>
          </a:p>
        </p:txBody>
      </p:sp>
      <p:sp>
        <p:nvSpPr>
          <p:cNvPr id="3" name="Text 1">
            <a:extLst>
              <a:ext uri="{FF2B5EF4-FFF2-40B4-BE49-F238E27FC236}">
                <a16:creationId xmlns:a16="http://schemas.microsoft.com/office/drawing/2014/main" id="{5656E115-231E-FE06-542E-D88933753FD2}"/>
              </a:ext>
            </a:extLst>
          </p:cNvPr>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What encryption actually promises</a:t>
            </a:r>
            <a:endParaRPr lang="en-US" sz="3100" dirty="0"/>
          </a:p>
        </p:txBody>
      </p:sp>
      <p:sp>
        <p:nvSpPr>
          <p:cNvPr id="4" name="Text 2">
            <a:extLst>
              <a:ext uri="{FF2B5EF4-FFF2-40B4-BE49-F238E27FC236}">
                <a16:creationId xmlns:a16="http://schemas.microsoft.com/office/drawing/2014/main" id="{F2E6A9CF-ABF9-AB8C-6EE5-7A2855A0B301}"/>
              </a:ext>
            </a:extLst>
          </p:cNvPr>
          <p:cNvSpPr/>
          <p:nvPr/>
        </p:nvSpPr>
        <p:spPr>
          <a:xfrm>
            <a:off x="566928" y="1298448"/>
            <a:ext cx="11057839" cy="365760"/>
          </a:xfrm>
          <a:prstGeom prst="rect">
            <a:avLst/>
          </a:prstGeom>
          <a:noFill/>
          <a:ln/>
        </p:spPr>
        <p:txBody>
          <a:bodyPr wrap="square" lIns="0" tIns="0" rIns="0" bIns="0" rtlCol="0" anchor="ctr"/>
          <a:lstStyle/>
          <a:p>
            <a:pPr marL="0" indent="0">
              <a:lnSpc>
                <a:spcPct val="105000"/>
              </a:lnSpc>
              <a:buNone/>
            </a:pPr>
            <a:r>
              <a:rPr lang="en-US" sz="1450" dirty="0">
                <a:solidFill>
                  <a:srgbClr val="7A8894"/>
                </a:solidFill>
                <a:latin typeface="Calibri" pitchFamily="34" charset="0"/>
                <a:ea typeface="Calibri" pitchFamily="34" charset="-122"/>
                <a:cs typeface="Calibri" pitchFamily="34" charset="-120"/>
              </a:rPr>
              <a:t>Three different guarantees that people constantly blur together — and one it never gives you.</a:t>
            </a:r>
            <a:endParaRPr lang="en-US" sz="1450" dirty="0"/>
          </a:p>
        </p:txBody>
      </p:sp>
      <p:sp>
        <p:nvSpPr>
          <p:cNvPr id="5" name="Shape 3">
            <a:extLst>
              <a:ext uri="{FF2B5EF4-FFF2-40B4-BE49-F238E27FC236}">
                <a16:creationId xmlns:a16="http://schemas.microsoft.com/office/drawing/2014/main" id="{89C15AC8-9638-BD31-8D39-27570B2BE7CD}"/>
              </a:ext>
            </a:extLst>
          </p:cNvPr>
          <p:cNvSpPr/>
          <p:nvPr/>
        </p:nvSpPr>
        <p:spPr>
          <a:xfrm>
            <a:off x="566928" y="1883664"/>
            <a:ext cx="3502152" cy="2286000"/>
          </a:xfrm>
          <a:prstGeom prst="roundRect">
            <a:avLst>
              <a:gd name="adj" fmla="val 2400"/>
            </a:avLst>
          </a:prstGeom>
          <a:solidFill>
            <a:srgbClr val="FBEEDA"/>
          </a:solidFill>
          <a:ln w="6350">
            <a:solidFill>
              <a:srgbClr val="FBEEDA"/>
            </a:solidFill>
            <a:prstDash val="solid"/>
          </a:ln>
          <a:effectLst>
            <a:outerShdw blurRad="114300" dist="25400" dir="5400000" algn="bl" rotWithShape="0">
              <a:srgbClr val="9FB0BF">
                <a:alpha val="25000"/>
              </a:srgbClr>
            </a:outerShdw>
          </a:effectLst>
        </p:spPr>
        <p:txBody>
          <a:bodyPr/>
          <a:lstStyle/>
          <a:p>
            <a:endParaRPr lang="en-US"/>
          </a:p>
        </p:txBody>
      </p:sp>
      <p:sp>
        <p:nvSpPr>
          <p:cNvPr id="8" name="Text 6">
            <a:extLst>
              <a:ext uri="{FF2B5EF4-FFF2-40B4-BE49-F238E27FC236}">
                <a16:creationId xmlns:a16="http://schemas.microsoft.com/office/drawing/2014/main" id="{2D0B8BBB-E44F-A562-570D-5A4252A51BCC}"/>
              </a:ext>
            </a:extLst>
          </p:cNvPr>
          <p:cNvSpPr/>
          <p:nvPr/>
        </p:nvSpPr>
        <p:spPr>
          <a:xfrm>
            <a:off x="826008" y="2016521"/>
            <a:ext cx="2916936" cy="329184"/>
          </a:xfrm>
          <a:prstGeom prst="rect">
            <a:avLst/>
          </a:prstGeom>
          <a:noFill/>
          <a:ln/>
        </p:spPr>
        <p:txBody>
          <a:bodyPr wrap="square" lIns="0" tIns="0" rIns="0" bIns="0" rtlCol="0" anchor="t"/>
          <a:lstStyle/>
          <a:p>
            <a:pPr marL="0" indent="0" algn="l">
              <a:lnSpc>
                <a:spcPct val="106000"/>
              </a:lnSpc>
              <a:buNone/>
            </a:pPr>
            <a:r>
              <a:rPr lang="en-US" sz="1900" b="1" dirty="0">
                <a:solidFill>
                  <a:srgbClr val="16212E"/>
                </a:solidFill>
                <a:latin typeface="Calibri" pitchFamily="34" charset="0"/>
                <a:ea typeface="Calibri" pitchFamily="34" charset="-122"/>
                <a:cs typeface="Calibri" pitchFamily="34" charset="-120"/>
              </a:rPr>
              <a:t>Confidentiality</a:t>
            </a:r>
            <a:endParaRPr lang="en-US" sz="1900" dirty="0"/>
          </a:p>
        </p:txBody>
      </p:sp>
      <p:sp>
        <p:nvSpPr>
          <p:cNvPr id="9" name="Text 7">
            <a:extLst>
              <a:ext uri="{FF2B5EF4-FFF2-40B4-BE49-F238E27FC236}">
                <a16:creationId xmlns:a16="http://schemas.microsoft.com/office/drawing/2014/main" id="{C9E03097-C4C1-596E-9D92-769338B87522}"/>
              </a:ext>
            </a:extLst>
          </p:cNvPr>
          <p:cNvSpPr/>
          <p:nvPr/>
        </p:nvSpPr>
        <p:spPr>
          <a:xfrm>
            <a:off x="826008" y="2382281"/>
            <a:ext cx="2916936" cy="274320"/>
          </a:xfrm>
          <a:prstGeom prst="rect">
            <a:avLst/>
          </a:prstGeom>
          <a:noFill/>
          <a:ln/>
        </p:spPr>
        <p:txBody>
          <a:bodyPr wrap="square" lIns="0" tIns="0" rIns="0" bIns="0" rtlCol="0" anchor="t"/>
          <a:lstStyle/>
          <a:p>
            <a:pPr marL="0" indent="0" algn="l">
              <a:lnSpc>
                <a:spcPct val="106000"/>
              </a:lnSpc>
              <a:buNone/>
            </a:pPr>
            <a:r>
              <a:rPr lang="en-US" sz="1300" b="1" dirty="0">
                <a:solidFill>
                  <a:srgbClr val="A3701A"/>
                </a:solidFill>
                <a:latin typeface="Calibri" pitchFamily="34" charset="0"/>
                <a:ea typeface="Calibri" pitchFamily="34" charset="-122"/>
                <a:cs typeface="Calibri" pitchFamily="34" charset="-120"/>
              </a:rPr>
              <a:t>Nobody else can read it.</a:t>
            </a:r>
            <a:endParaRPr lang="en-US" sz="1300" dirty="0"/>
          </a:p>
        </p:txBody>
      </p:sp>
      <p:sp>
        <p:nvSpPr>
          <p:cNvPr id="10" name="Text 8">
            <a:extLst>
              <a:ext uri="{FF2B5EF4-FFF2-40B4-BE49-F238E27FC236}">
                <a16:creationId xmlns:a16="http://schemas.microsoft.com/office/drawing/2014/main" id="{9B80BE81-28C8-0C7E-BB12-C15251D77A7A}"/>
              </a:ext>
            </a:extLst>
          </p:cNvPr>
          <p:cNvSpPr/>
          <p:nvPr/>
        </p:nvSpPr>
        <p:spPr>
          <a:xfrm>
            <a:off x="826007" y="2711464"/>
            <a:ext cx="3165079" cy="1375903"/>
          </a:xfrm>
          <a:prstGeom prst="rect">
            <a:avLst/>
          </a:prstGeom>
          <a:noFill/>
          <a:ln/>
        </p:spPr>
        <p:txBody>
          <a:bodyPr wrap="square" lIns="0" tIns="0" rIns="0" bIns="0" rtlCol="0" anchor="t"/>
          <a:lstStyle/>
          <a:p>
            <a:pPr marL="171450" indent="-171450">
              <a:lnSpc>
                <a:spcPct val="115000"/>
              </a:lnSpc>
              <a:buFont typeface="Arial" panose="020B0604020202020204" pitchFamily="34" charset="0"/>
              <a:buChar char="•"/>
            </a:pPr>
            <a:r>
              <a:rPr lang="en-IN" sz="1200" dirty="0"/>
              <a:t>Even if someone gets the data, they can't understand it.</a:t>
            </a:r>
            <a:endParaRPr lang="en-US" sz="1200" dirty="0"/>
          </a:p>
        </p:txBody>
      </p:sp>
      <p:sp>
        <p:nvSpPr>
          <p:cNvPr id="11" name="Shape 9">
            <a:extLst>
              <a:ext uri="{FF2B5EF4-FFF2-40B4-BE49-F238E27FC236}">
                <a16:creationId xmlns:a16="http://schemas.microsoft.com/office/drawing/2014/main" id="{85BA5641-FBF7-EB7C-D5C1-AC02A623A69A}"/>
              </a:ext>
            </a:extLst>
          </p:cNvPr>
          <p:cNvSpPr/>
          <p:nvPr/>
        </p:nvSpPr>
        <p:spPr>
          <a:xfrm>
            <a:off x="4361688" y="1883664"/>
            <a:ext cx="3502152" cy="2286000"/>
          </a:xfrm>
          <a:prstGeom prst="roundRect">
            <a:avLst>
              <a:gd name="adj" fmla="val 2400"/>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4" name="Text 12">
            <a:extLst>
              <a:ext uri="{FF2B5EF4-FFF2-40B4-BE49-F238E27FC236}">
                <a16:creationId xmlns:a16="http://schemas.microsoft.com/office/drawing/2014/main" id="{74AE667B-1B28-8CA6-4ABD-4E7CA4EB09A0}"/>
              </a:ext>
            </a:extLst>
          </p:cNvPr>
          <p:cNvSpPr/>
          <p:nvPr/>
        </p:nvSpPr>
        <p:spPr>
          <a:xfrm>
            <a:off x="4637532" y="2016521"/>
            <a:ext cx="2916936" cy="329184"/>
          </a:xfrm>
          <a:prstGeom prst="rect">
            <a:avLst/>
          </a:prstGeom>
          <a:noFill/>
          <a:ln/>
        </p:spPr>
        <p:txBody>
          <a:bodyPr wrap="square" lIns="0" tIns="0" rIns="0" bIns="0" rtlCol="0" anchor="t"/>
          <a:lstStyle/>
          <a:p>
            <a:pPr marL="0" indent="0" algn="l">
              <a:lnSpc>
                <a:spcPct val="106000"/>
              </a:lnSpc>
              <a:buNone/>
            </a:pPr>
            <a:r>
              <a:rPr lang="en-US" sz="1900" b="1" dirty="0">
                <a:solidFill>
                  <a:srgbClr val="16212E"/>
                </a:solidFill>
                <a:latin typeface="Calibri" pitchFamily="34" charset="0"/>
                <a:ea typeface="Calibri" pitchFamily="34" charset="-122"/>
                <a:cs typeface="Calibri" pitchFamily="34" charset="-120"/>
              </a:rPr>
              <a:t>Integrity</a:t>
            </a:r>
            <a:endParaRPr lang="en-US" sz="1900" dirty="0"/>
          </a:p>
        </p:txBody>
      </p:sp>
      <p:sp>
        <p:nvSpPr>
          <p:cNvPr id="15" name="Text 13">
            <a:extLst>
              <a:ext uri="{FF2B5EF4-FFF2-40B4-BE49-F238E27FC236}">
                <a16:creationId xmlns:a16="http://schemas.microsoft.com/office/drawing/2014/main" id="{BDA3B67E-C555-0B74-0C60-07718D2C496D}"/>
              </a:ext>
            </a:extLst>
          </p:cNvPr>
          <p:cNvSpPr/>
          <p:nvPr/>
        </p:nvSpPr>
        <p:spPr>
          <a:xfrm>
            <a:off x="4637532" y="2382281"/>
            <a:ext cx="2916936" cy="274320"/>
          </a:xfrm>
          <a:prstGeom prst="rect">
            <a:avLst/>
          </a:prstGeom>
          <a:noFill/>
          <a:ln/>
        </p:spPr>
        <p:txBody>
          <a:bodyPr wrap="square" lIns="0" tIns="0" rIns="0" bIns="0" rtlCol="0" anchor="t"/>
          <a:lstStyle/>
          <a:p>
            <a:pPr marL="0" indent="0" algn="l">
              <a:lnSpc>
                <a:spcPct val="106000"/>
              </a:lnSpc>
              <a:buNone/>
            </a:pPr>
            <a:r>
              <a:rPr lang="en-US" sz="1300" b="1" dirty="0">
                <a:solidFill>
                  <a:srgbClr val="1B2735"/>
                </a:solidFill>
                <a:latin typeface="Calibri" pitchFamily="34" charset="0"/>
                <a:ea typeface="Calibri" pitchFamily="34" charset="-122"/>
                <a:cs typeface="Calibri" pitchFamily="34" charset="-120"/>
              </a:rPr>
              <a:t>Nobody can change it.</a:t>
            </a:r>
            <a:endParaRPr lang="en-US" sz="1300" dirty="0"/>
          </a:p>
        </p:txBody>
      </p:sp>
      <p:sp>
        <p:nvSpPr>
          <p:cNvPr id="16" name="Text 14">
            <a:extLst>
              <a:ext uri="{FF2B5EF4-FFF2-40B4-BE49-F238E27FC236}">
                <a16:creationId xmlns:a16="http://schemas.microsoft.com/office/drawing/2014/main" id="{BF2B6323-107A-1B2B-4FB5-51D62907D790}"/>
              </a:ext>
            </a:extLst>
          </p:cNvPr>
          <p:cNvSpPr/>
          <p:nvPr/>
        </p:nvSpPr>
        <p:spPr>
          <a:xfrm>
            <a:off x="4637532" y="2711465"/>
            <a:ext cx="3151004" cy="1375902"/>
          </a:xfrm>
          <a:prstGeom prst="rect">
            <a:avLst/>
          </a:prstGeom>
          <a:noFill/>
          <a:ln/>
        </p:spPr>
        <p:txBody>
          <a:bodyPr wrap="square" lIns="0" tIns="0" rIns="0" bIns="0" rtlCol="0" anchor="t"/>
          <a:lstStyle/>
          <a:p>
            <a:pPr marL="171450" indent="-171450">
              <a:buFont typeface="Arial" panose="020B0604020202020204" pitchFamily="34" charset="0"/>
              <a:buChar char="•"/>
            </a:pPr>
            <a:r>
              <a:rPr lang="en-IN" sz="1200" dirty="0"/>
              <a:t>Even a tiny modification should be detected.</a:t>
            </a:r>
            <a:endParaRPr lang="en-IN" sz="1200" b="1" dirty="0"/>
          </a:p>
        </p:txBody>
      </p:sp>
      <p:sp>
        <p:nvSpPr>
          <p:cNvPr id="17" name="Shape 15">
            <a:extLst>
              <a:ext uri="{FF2B5EF4-FFF2-40B4-BE49-F238E27FC236}">
                <a16:creationId xmlns:a16="http://schemas.microsoft.com/office/drawing/2014/main" id="{F4D67AE7-C0DA-11B9-E01B-97D6824DE868}"/>
              </a:ext>
            </a:extLst>
          </p:cNvPr>
          <p:cNvSpPr/>
          <p:nvPr/>
        </p:nvSpPr>
        <p:spPr>
          <a:xfrm>
            <a:off x="8156448" y="1883664"/>
            <a:ext cx="3502152" cy="2286000"/>
          </a:xfrm>
          <a:prstGeom prst="roundRect">
            <a:avLst>
              <a:gd name="adj" fmla="val 2400"/>
            </a:avLst>
          </a:prstGeom>
          <a:solidFill>
            <a:srgbClr val="E2F4EF"/>
          </a:solidFill>
          <a:ln w="6350">
            <a:solidFill>
              <a:srgbClr val="E2F4EF"/>
            </a:solidFill>
            <a:prstDash val="solid"/>
          </a:ln>
          <a:effectLst>
            <a:outerShdw blurRad="114300" dist="25400" dir="5400000" algn="bl" rotWithShape="0">
              <a:srgbClr val="9FB0BF">
                <a:alpha val="25000"/>
              </a:srgbClr>
            </a:outerShdw>
          </a:effectLst>
        </p:spPr>
        <p:txBody>
          <a:bodyPr/>
          <a:lstStyle/>
          <a:p>
            <a:endParaRPr lang="en-US"/>
          </a:p>
        </p:txBody>
      </p:sp>
      <p:sp>
        <p:nvSpPr>
          <p:cNvPr id="19" name="Text 17">
            <a:extLst>
              <a:ext uri="{FF2B5EF4-FFF2-40B4-BE49-F238E27FC236}">
                <a16:creationId xmlns:a16="http://schemas.microsoft.com/office/drawing/2014/main" id="{95B13BBC-1568-85AC-FFEE-654B45FA3131}"/>
              </a:ext>
            </a:extLst>
          </p:cNvPr>
          <p:cNvSpPr/>
          <p:nvPr/>
        </p:nvSpPr>
        <p:spPr>
          <a:xfrm>
            <a:off x="8449056" y="2121408"/>
            <a:ext cx="457200" cy="457200"/>
          </a:xfrm>
          <a:prstGeom prst="rect">
            <a:avLst/>
          </a:prstGeom>
          <a:noFill/>
          <a:ln/>
        </p:spPr>
        <p:txBody>
          <a:bodyPr wrap="square" lIns="0" tIns="0" rIns="0" bIns="0" rtlCol="0" anchor="ctr"/>
          <a:lstStyle/>
          <a:p>
            <a:pPr marL="0" indent="0" algn="ctr">
              <a:buNone/>
            </a:pPr>
            <a:endParaRPr lang="en-US" sz="1600" dirty="0"/>
          </a:p>
        </p:txBody>
      </p:sp>
      <p:sp>
        <p:nvSpPr>
          <p:cNvPr id="20" name="Text 18">
            <a:extLst>
              <a:ext uri="{FF2B5EF4-FFF2-40B4-BE49-F238E27FC236}">
                <a16:creationId xmlns:a16="http://schemas.microsoft.com/office/drawing/2014/main" id="{1F184A71-C3D2-ACD5-9CD9-61F2062CEC0A}"/>
              </a:ext>
            </a:extLst>
          </p:cNvPr>
          <p:cNvSpPr/>
          <p:nvPr/>
        </p:nvSpPr>
        <p:spPr>
          <a:xfrm>
            <a:off x="8449056" y="2016521"/>
            <a:ext cx="2916936" cy="329184"/>
          </a:xfrm>
          <a:prstGeom prst="rect">
            <a:avLst/>
          </a:prstGeom>
          <a:noFill/>
          <a:ln/>
        </p:spPr>
        <p:txBody>
          <a:bodyPr wrap="square" lIns="0" tIns="0" rIns="0" bIns="0" rtlCol="0" anchor="t"/>
          <a:lstStyle/>
          <a:p>
            <a:pPr marL="0" indent="0" algn="l">
              <a:lnSpc>
                <a:spcPct val="106000"/>
              </a:lnSpc>
              <a:buNone/>
            </a:pPr>
            <a:r>
              <a:rPr lang="en-US" sz="1900" b="1" dirty="0">
                <a:solidFill>
                  <a:srgbClr val="16212E"/>
                </a:solidFill>
                <a:latin typeface="Calibri" pitchFamily="34" charset="0"/>
                <a:ea typeface="Calibri" pitchFamily="34" charset="-122"/>
                <a:cs typeface="Calibri" pitchFamily="34" charset="-120"/>
              </a:rPr>
              <a:t>Authenticity</a:t>
            </a:r>
            <a:endParaRPr lang="en-US" sz="1900" dirty="0"/>
          </a:p>
        </p:txBody>
      </p:sp>
      <p:sp>
        <p:nvSpPr>
          <p:cNvPr id="21" name="Text 19">
            <a:extLst>
              <a:ext uri="{FF2B5EF4-FFF2-40B4-BE49-F238E27FC236}">
                <a16:creationId xmlns:a16="http://schemas.microsoft.com/office/drawing/2014/main" id="{5DF8CE8E-4A01-A2AC-AC93-BD74826D96A7}"/>
              </a:ext>
            </a:extLst>
          </p:cNvPr>
          <p:cNvSpPr/>
          <p:nvPr/>
        </p:nvSpPr>
        <p:spPr>
          <a:xfrm>
            <a:off x="8449056" y="2382281"/>
            <a:ext cx="2916936" cy="274320"/>
          </a:xfrm>
          <a:prstGeom prst="rect">
            <a:avLst/>
          </a:prstGeom>
          <a:noFill/>
          <a:ln/>
        </p:spPr>
        <p:txBody>
          <a:bodyPr wrap="square" lIns="0" tIns="0" rIns="0" bIns="0" rtlCol="0" anchor="t"/>
          <a:lstStyle/>
          <a:p>
            <a:pPr marL="0" indent="0" algn="l">
              <a:lnSpc>
                <a:spcPct val="106000"/>
              </a:lnSpc>
              <a:buNone/>
            </a:pPr>
            <a:r>
              <a:rPr lang="en-US" sz="1300" b="1" dirty="0">
                <a:solidFill>
                  <a:srgbClr val="2BA88C"/>
                </a:solidFill>
                <a:latin typeface="Calibri" pitchFamily="34" charset="0"/>
                <a:ea typeface="Calibri" pitchFamily="34" charset="-122"/>
                <a:cs typeface="Calibri" pitchFamily="34" charset="-120"/>
              </a:rPr>
              <a:t>It really came from the sender.</a:t>
            </a:r>
            <a:endParaRPr lang="en-US" sz="1300" dirty="0"/>
          </a:p>
        </p:txBody>
      </p:sp>
      <p:sp>
        <p:nvSpPr>
          <p:cNvPr id="22" name="Text 20">
            <a:extLst>
              <a:ext uri="{FF2B5EF4-FFF2-40B4-BE49-F238E27FC236}">
                <a16:creationId xmlns:a16="http://schemas.microsoft.com/office/drawing/2014/main" id="{58931B1E-E812-5E0B-7399-36546FE46D4D}"/>
              </a:ext>
            </a:extLst>
          </p:cNvPr>
          <p:cNvSpPr/>
          <p:nvPr/>
        </p:nvSpPr>
        <p:spPr>
          <a:xfrm>
            <a:off x="8449055" y="2711465"/>
            <a:ext cx="3093899" cy="1375902"/>
          </a:xfrm>
          <a:prstGeom prst="rect">
            <a:avLst/>
          </a:prstGeom>
          <a:noFill/>
          <a:ln/>
        </p:spPr>
        <p:txBody>
          <a:bodyPr wrap="square" lIns="0" tIns="0" rIns="0" bIns="0" rtlCol="0" anchor="t"/>
          <a:lstStyle/>
          <a:p>
            <a:pPr marL="171450" indent="-171450">
              <a:buFont typeface="Arial" panose="020B0604020202020204" pitchFamily="34" charset="0"/>
              <a:buChar char="•"/>
            </a:pPr>
            <a:r>
              <a:rPr lang="en-IN" sz="1200" dirty="0"/>
              <a:t>The receiver can trust the origin of the data.</a:t>
            </a:r>
          </a:p>
        </p:txBody>
      </p:sp>
      <p:sp>
        <p:nvSpPr>
          <p:cNvPr id="23" name="Shape 21">
            <a:extLst>
              <a:ext uri="{FF2B5EF4-FFF2-40B4-BE49-F238E27FC236}">
                <a16:creationId xmlns:a16="http://schemas.microsoft.com/office/drawing/2014/main" id="{C531BAA0-D8C1-28E8-64E6-DFDA493CEE5E}"/>
              </a:ext>
            </a:extLst>
          </p:cNvPr>
          <p:cNvSpPr/>
          <p:nvPr/>
        </p:nvSpPr>
        <p:spPr>
          <a:xfrm>
            <a:off x="566928" y="4370832"/>
            <a:ext cx="11057839" cy="841248"/>
          </a:xfrm>
          <a:prstGeom prst="roundRect">
            <a:avLst>
              <a:gd name="adj" fmla="val 6522"/>
            </a:avLst>
          </a:prstGeom>
          <a:solidFill>
            <a:srgbClr val="FBEAE9"/>
          </a:solidFill>
          <a:ln w="6350">
            <a:solidFill>
              <a:srgbClr val="FBEAE9"/>
            </a:solidFill>
            <a:prstDash val="solid"/>
          </a:ln>
          <a:effectLst>
            <a:outerShdw blurRad="114300" dist="25400" dir="5400000" algn="bl" rotWithShape="0">
              <a:srgbClr val="9FB0BF">
                <a:alpha val="25000"/>
              </a:srgbClr>
            </a:outerShdw>
          </a:effectLst>
        </p:spPr>
        <p:txBody>
          <a:bodyPr/>
          <a:lstStyle/>
          <a:p>
            <a:endParaRPr lang="en-US"/>
          </a:p>
        </p:txBody>
      </p:sp>
      <p:sp>
        <p:nvSpPr>
          <p:cNvPr id="24" name="Text 22">
            <a:extLst>
              <a:ext uri="{FF2B5EF4-FFF2-40B4-BE49-F238E27FC236}">
                <a16:creationId xmlns:a16="http://schemas.microsoft.com/office/drawing/2014/main" id="{C96D7BDC-676C-1AD4-4921-35C5411D6A45}"/>
              </a:ext>
            </a:extLst>
          </p:cNvPr>
          <p:cNvSpPr/>
          <p:nvPr/>
        </p:nvSpPr>
        <p:spPr>
          <a:xfrm>
            <a:off x="932688" y="4572000"/>
            <a:ext cx="2606040" cy="292608"/>
          </a:xfrm>
          <a:prstGeom prst="rect">
            <a:avLst/>
          </a:prstGeom>
          <a:noFill/>
          <a:ln/>
        </p:spPr>
        <p:txBody>
          <a:bodyPr wrap="square" lIns="0" tIns="0" rIns="0" bIns="0" rtlCol="0" anchor="t"/>
          <a:lstStyle/>
          <a:p>
            <a:pPr marL="0" indent="0" algn="l">
              <a:lnSpc>
                <a:spcPct val="106000"/>
              </a:lnSpc>
              <a:buNone/>
            </a:pPr>
            <a:r>
              <a:rPr lang="en-US" sz="1350" b="1" dirty="0">
                <a:solidFill>
                  <a:srgbClr val="D0524E"/>
                </a:solidFill>
                <a:latin typeface="Calibri" pitchFamily="34" charset="0"/>
                <a:ea typeface="Calibri" pitchFamily="34" charset="-122"/>
                <a:cs typeface="Calibri" pitchFamily="34" charset="-120"/>
              </a:rPr>
              <a:t>And one it never gives you:</a:t>
            </a:r>
            <a:endParaRPr lang="en-US" sz="1350" dirty="0"/>
          </a:p>
        </p:txBody>
      </p:sp>
      <p:sp>
        <p:nvSpPr>
          <p:cNvPr id="25" name="Text 23">
            <a:extLst>
              <a:ext uri="{FF2B5EF4-FFF2-40B4-BE49-F238E27FC236}">
                <a16:creationId xmlns:a16="http://schemas.microsoft.com/office/drawing/2014/main" id="{A0324E98-4B80-EC49-6FA3-4945DBCE0E7B}"/>
              </a:ext>
            </a:extLst>
          </p:cNvPr>
          <p:cNvSpPr/>
          <p:nvPr/>
        </p:nvSpPr>
        <p:spPr>
          <a:xfrm>
            <a:off x="3139592" y="4572000"/>
            <a:ext cx="7656271" cy="640080"/>
          </a:xfrm>
          <a:prstGeom prst="rect">
            <a:avLst/>
          </a:prstGeom>
          <a:noFill/>
          <a:ln/>
        </p:spPr>
        <p:txBody>
          <a:bodyPr wrap="square" lIns="0" tIns="0" rIns="0" bIns="0" rtlCol="0" anchor="t"/>
          <a:lstStyle/>
          <a:p>
            <a:pPr marL="285750" indent="-285750">
              <a:lnSpc>
                <a:spcPct val="112000"/>
              </a:lnSpc>
              <a:buFont typeface="Arial" panose="020B0604020202020204" pitchFamily="34" charset="0"/>
              <a:buChar char="•"/>
            </a:pPr>
            <a:r>
              <a:rPr lang="en-IN" sz="1250" dirty="0">
                <a:solidFill>
                  <a:schemeClr val="bg2">
                    <a:lumMod val="50000"/>
                  </a:schemeClr>
                </a:solidFill>
              </a:rPr>
              <a:t>Encryption isn't the same as security.</a:t>
            </a:r>
          </a:p>
          <a:p>
            <a:pPr marL="285750" indent="-285750">
              <a:lnSpc>
                <a:spcPct val="112000"/>
              </a:lnSpc>
              <a:buFont typeface="Arial" panose="020B0604020202020204" pitchFamily="34" charset="0"/>
              <a:buChar char="•"/>
            </a:pPr>
            <a:r>
              <a:rPr lang="en-IN" sz="1250" dirty="0">
                <a:solidFill>
                  <a:schemeClr val="bg2">
                    <a:lumMod val="50000"/>
                  </a:schemeClr>
                </a:solidFill>
              </a:rPr>
              <a:t>It protects data—not people, devices, or business logic.</a:t>
            </a:r>
            <a:endParaRPr lang="en-US" sz="1250" dirty="0">
              <a:solidFill>
                <a:schemeClr val="bg2">
                  <a:lumMod val="50000"/>
                </a:schemeClr>
              </a:solidFill>
            </a:endParaRPr>
          </a:p>
          <a:p>
            <a:pPr marL="285750" indent="-285750">
              <a:lnSpc>
                <a:spcPct val="112000"/>
              </a:lnSpc>
              <a:buFont typeface="Arial" panose="020B0604020202020204" pitchFamily="34" charset="0"/>
              <a:buChar char="•"/>
            </a:pPr>
            <a:endParaRPr lang="en-US" sz="1250" dirty="0">
              <a:solidFill>
                <a:schemeClr val="bg2">
                  <a:lumMod val="50000"/>
                </a:schemeClr>
              </a:solidFill>
            </a:endParaRPr>
          </a:p>
        </p:txBody>
      </p:sp>
      <p:sp>
        <p:nvSpPr>
          <p:cNvPr id="26" name="Text 24">
            <a:extLst>
              <a:ext uri="{FF2B5EF4-FFF2-40B4-BE49-F238E27FC236}">
                <a16:creationId xmlns:a16="http://schemas.microsoft.com/office/drawing/2014/main" id="{EB2C466E-6D2A-D773-A4EB-29B7D05132D9}"/>
              </a:ext>
            </a:extLst>
          </p:cNvPr>
          <p:cNvSpPr/>
          <p:nvPr/>
        </p:nvSpPr>
        <p:spPr>
          <a:xfrm>
            <a:off x="566928" y="5413248"/>
            <a:ext cx="11057839" cy="685800"/>
          </a:xfrm>
          <a:prstGeom prst="rect">
            <a:avLst/>
          </a:prstGeom>
          <a:noFill/>
          <a:ln/>
        </p:spPr>
        <p:txBody>
          <a:bodyPr wrap="square" lIns="0" tIns="0" rIns="0" bIns="0" rtlCol="0" anchor="t"/>
          <a:lstStyle/>
          <a:p>
            <a:pPr marL="0" indent="0" algn="l">
              <a:lnSpc>
                <a:spcPct val="120000"/>
              </a:lnSpc>
              <a:buNone/>
            </a:pPr>
            <a:r>
              <a:rPr lang="en-US" sz="1350" b="1" dirty="0">
                <a:solidFill>
                  <a:srgbClr val="16212E"/>
                </a:solidFill>
                <a:latin typeface="Calibri" pitchFamily="34" charset="0"/>
                <a:ea typeface="Calibri" pitchFamily="34" charset="-122"/>
                <a:cs typeface="Calibri" pitchFamily="34" charset="-120"/>
              </a:rPr>
              <a:t>CBC gave us promise 1 only. GCM gives us 1, 2 and 3 in a single pass — that combination is what the word "AEAD" means:</a:t>
            </a:r>
            <a:endParaRPr lang="en-US" sz="1350" dirty="0"/>
          </a:p>
          <a:p>
            <a:pPr marL="0" indent="0" algn="l">
              <a:lnSpc>
                <a:spcPct val="120000"/>
              </a:lnSpc>
              <a:buNone/>
            </a:pPr>
            <a:r>
              <a:rPr lang="en-US" sz="1350" b="1" dirty="0">
                <a:solidFill>
                  <a:srgbClr val="16212E"/>
                </a:solidFill>
                <a:latin typeface="Calibri" pitchFamily="34" charset="0"/>
                <a:ea typeface="Calibri" pitchFamily="34" charset="-122"/>
                <a:cs typeface="Calibri" pitchFamily="34" charset="-120"/>
              </a:rPr>
              <a:t>Authenticated Encryption with Associated Data.</a:t>
            </a:r>
            <a:endParaRPr lang="en-US" sz="1350" dirty="0"/>
          </a:p>
        </p:txBody>
      </p:sp>
      <p:sp>
        <p:nvSpPr>
          <p:cNvPr id="27" name="Text 25">
            <a:extLst>
              <a:ext uri="{FF2B5EF4-FFF2-40B4-BE49-F238E27FC236}">
                <a16:creationId xmlns:a16="http://schemas.microsoft.com/office/drawing/2014/main" id="{EC6C9201-EB8F-9AA0-893E-7212C6BDE150}"/>
              </a:ext>
            </a:extLst>
          </p:cNvPr>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1 · The idea</a:t>
            </a:r>
            <a:endParaRPr lang="en-US" sz="950" dirty="0"/>
          </a:p>
        </p:txBody>
      </p:sp>
      <p:sp>
        <p:nvSpPr>
          <p:cNvPr id="28" name="Text 26">
            <a:extLst>
              <a:ext uri="{FF2B5EF4-FFF2-40B4-BE49-F238E27FC236}">
                <a16:creationId xmlns:a16="http://schemas.microsoft.com/office/drawing/2014/main" id="{909C481B-6EF4-723C-DC15-2B1E46EB6ED0}"/>
              </a:ext>
            </a:extLst>
          </p:cNvPr>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3</a:t>
            </a:r>
            <a:endParaRPr lang="en-US" sz="950" dirty="0"/>
          </a:p>
        </p:txBody>
      </p:sp>
    </p:spTree>
    <p:extLst>
      <p:ext uri="{BB962C8B-B14F-4D97-AF65-F5344CB8AC3E}">
        <p14:creationId xmlns:p14="http://schemas.microsoft.com/office/powerpoint/2010/main" val="837608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CONCEPT 2 OF 5</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Two ways to Encrypt Data</a:t>
            </a:r>
            <a:endParaRPr lang="en-US" sz="3100" dirty="0"/>
          </a:p>
        </p:txBody>
      </p:sp>
      <p:sp>
        <p:nvSpPr>
          <p:cNvPr id="4" name="Shape 2"/>
          <p:cNvSpPr/>
          <p:nvPr/>
        </p:nvSpPr>
        <p:spPr>
          <a:xfrm>
            <a:off x="305410" y="1572768"/>
            <a:ext cx="5753405" cy="2249424"/>
          </a:xfrm>
          <a:prstGeom prst="roundRect">
            <a:avLst>
              <a:gd name="adj" fmla="val 2439"/>
            </a:avLst>
          </a:prstGeom>
          <a:solidFill>
            <a:srgbClr val="FBEEDA"/>
          </a:solidFill>
          <a:ln w="6350">
            <a:solidFill>
              <a:srgbClr val="FBEEDA"/>
            </a:solidFill>
            <a:prstDash val="solid"/>
          </a:ln>
          <a:effectLst>
            <a:outerShdw blurRad="114300" dist="25400" dir="5400000" algn="bl" rotWithShape="0">
              <a:srgbClr val="9FB0BF">
                <a:alpha val="25000"/>
              </a:srgbClr>
            </a:outerShdw>
          </a:effectLst>
        </p:spPr>
        <p:txBody>
          <a:bodyPr/>
          <a:lstStyle/>
          <a:p>
            <a:endParaRPr lang="en-US"/>
          </a:p>
        </p:txBody>
      </p:sp>
      <p:sp>
        <p:nvSpPr>
          <p:cNvPr id="5" name="Text 3"/>
          <p:cNvSpPr/>
          <p:nvPr/>
        </p:nvSpPr>
        <p:spPr>
          <a:xfrm>
            <a:off x="2100161" y="1650492"/>
            <a:ext cx="2072461" cy="269748"/>
          </a:xfrm>
          <a:prstGeom prst="rect">
            <a:avLst/>
          </a:prstGeom>
          <a:noFill/>
          <a:ln/>
        </p:spPr>
        <p:txBody>
          <a:bodyPr wrap="square" lIns="0" tIns="0" rIns="0" bIns="0" rtlCol="0" anchor="t"/>
          <a:lstStyle/>
          <a:p>
            <a:pPr marL="0" indent="0" algn="ctr">
              <a:lnSpc>
                <a:spcPct val="106000"/>
              </a:lnSpc>
              <a:buNone/>
            </a:pPr>
            <a:r>
              <a:rPr lang="en-US" b="1" dirty="0">
                <a:solidFill>
                  <a:srgbClr val="16212E"/>
                </a:solidFill>
                <a:latin typeface="Calibri" pitchFamily="34" charset="0"/>
                <a:ea typeface="Calibri" pitchFamily="34" charset="-122"/>
                <a:cs typeface="Calibri" pitchFamily="34" charset="-120"/>
              </a:rPr>
              <a:t>Symmetric</a:t>
            </a:r>
          </a:p>
        </p:txBody>
      </p:sp>
      <p:sp>
        <p:nvSpPr>
          <p:cNvPr id="6" name="Text 4"/>
          <p:cNvSpPr/>
          <p:nvPr/>
        </p:nvSpPr>
        <p:spPr>
          <a:xfrm>
            <a:off x="896111" y="2212848"/>
            <a:ext cx="4687107" cy="274320"/>
          </a:xfrm>
          <a:prstGeom prst="rect">
            <a:avLst/>
          </a:prstGeom>
          <a:noFill/>
          <a:ln/>
        </p:spPr>
        <p:txBody>
          <a:bodyPr wrap="square" lIns="0" tIns="0" rIns="0" bIns="0" rtlCol="0" anchor="t"/>
          <a:lstStyle/>
          <a:p>
            <a:pPr marL="0" indent="0" algn="l">
              <a:lnSpc>
                <a:spcPct val="106000"/>
              </a:lnSpc>
              <a:buNone/>
            </a:pPr>
            <a:r>
              <a:rPr lang="en-US" sz="1300" b="1" dirty="0">
                <a:solidFill>
                  <a:srgbClr val="A3701A"/>
                </a:solidFill>
                <a:latin typeface="Calibri" pitchFamily="34" charset="0"/>
                <a:ea typeface="Calibri" pitchFamily="34" charset="-122"/>
                <a:cs typeface="Calibri" pitchFamily="34" charset="-120"/>
              </a:rPr>
              <a:t>One key locks/encrypt. 		Same key Unlocks/Decrypt</a:t>
            </a:r>
            <a:endParaRPr lang="en-US" sz="1300" dirty="0"/>
          </a:p>
        </p:txBody>
      </p:sp>
      <p:sp>
        <p:nvSpPr>
          <p:cNvPr id="7" name="Text 5"/>
          <p:cNvSpPr/>
          <p:nvPr/>
        </p:nvSpPr>
        <p:spPr>
          <a:xfrm>
            <a:off x="896112" y="2560320"/>
            <a:ext cx="4480560" cy="1051560"/>
          </a:xfrm>
          <a:prstGeom prst="rect">
            <a:avLst/>
          </a:prstGeom>
          <a:noFill/>
          <a:ln/>
        </p:spPr>
        <p:txBody>
          <a:bodyPr wrap="square" lIns="0" tIns="0" rIns="0" bIns="0" rtlCol="0" anchor="ctr"/>
          <a:lstStyle/>
          <a:p>
            <a:pPr marL="342900" indent="-342900">
              <a:lnSpc>
                <a:spcPct val="102000"/>
              </a:lnSpc>
              <a:spcAft>
                <a:spcPts val="600"/>
              </a:spcAft>
              <a:buSzPct val="100000"/>
              <a:buChar char="•"/>
            </a:pPr>
            <a:r>
              <a:rPr lang="en-US" sz="1250" dirty="0">
                <a:solidFill>
                  <a:srgbClr val="3D4C5A"/>
                </a:solidFill>
                <a:latin typeface="Calibri" pitchFamily="34" charset="0"/>
                <a:ea typeface="Calibri" pitchFamily="34" charset="-122"/>
                <a:cs typeface="Calibri" pitchFamily="34" charset="-120"/>
              </a:rPr>
              <a:t>Very fast — this is what actually encrypts data</a:t>
            </a:r>
            <a:endParaRPr lang="en-US" sz="1250" dirty="0"/>
          </a:p>
          <a:p>
            <a:pPr marL="342900" indent="-342900">
              <a:lnSpc>
                <a:spcPct val="102000"/>
              </a:lnSpc>
              <a:spcAft>
                <a:spcPts val="600"/>
              </a:spcAft>
              <a:buSzPct val="100000"/>
              <a:buChar char="•"/>
            </a:pPr>
            <a:r>
              <a:rPr lang="en-US" sz="1250" dirty="0">
                <a:solidFill>
                  <a:srgbClr val="3D4C5A"/>
                </a:solidFill>
                <a:latin typeface="Calibri" pitchFamily="34" charset="0"/>
                <a:ea typeface="Calibri" pitchFamily="34" charset="-122"/>
                <a:cs typeface="Calibri" pitchFamily="34" charset="-120"/>
              </a:rPr>
              <a:t>E.g. AES, ChaCha20 </a:t>
            </a:r>
          </a:p>
          <a:p>
            <a:pPr marL="342900" indent="-342900">
              <a:lnSpc>
                <a:spcPct val="102000"/>
              </a:lnSpc>
              <a:spcAft>
                <a:spcPts val="600"/>
              </a:spcAft>
              <a:buSzPct val="100000"/>
              <a:buChar char="•"/>
            </a:pPr>
            <a:r>
              <a:rPr lang="en-US" sz="1250" dirty="0">
                <a:solidFill>
                  <a:srgbClr val="3D4C5A"/>
                </a:solidFill>
                <a:latin typeface="Calibri" pitchFamily="34" charset="0"/>
                <a:ea typeface="Calibri" pitchFamily="34" charset="-122"/>
                <a:cs typeface="Calibri" pitchFamily="34" charset="-120"/>
              </a:rPr>
              <a:t>Hard part: getting the key to both sides safely</a:t>
            </a:r>
            <a:endParaRPr lang="en-US" sz="1250" dirty="0"/>
          </a:p>
        </p:txBody>
      </p:sp>
      <p:sp>
        <p:nvSpPr>
          <p:cNvPr id="8" name="Shape 6"/>
          <p:cNvSpPr/>
          <p:nvPr/>
        </p:nvSpPr>
        <p:spPr>
          <a:xfrm>
            <a:off x="6126480" y="1572768"/>
            <a:ext cx="5230368" cy="2249424"/>
          </a:xfrm>
          <a:prstGeom prst="roundRect">
            <a:avLst>
              <a:gd name="adj" fmla="val 2439"/>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9" name="Text 7"/>
          <p:cNvSpPr/>
          <p:nvPr/>
        </p:nvSpPr>
        <p:spPr>
          <a:xfrm>
            <a:off x="8010682" y="1650492"/>
            <a:ext cx="1461964" cy="347472"/>
          </a:xfrm>
          <a:prstGeom prst="rect">
            <a:avLst/>
          </a:prstGeom>
          <a:noFill/>
          <a:ln/>
        </p:spPr>
        <p:txBody>
          <a:bodyPr wrap="square" lIns="0" tIns="0" rIns="0" bIns="0" rtlCol="0" anchor="t"/>
          <a:lstStyle/>
          <a:p>
            <a:pPr marL="0" indent="0" algn="l">
              <a:lnSpc>
                <a:spcPct val="106000"/>
              </a:lnSpc>
              <a:buNone/>
            </a:pPr>
            <a:r>
              <a:rPr lang="en-US" b="1" dirty="0">
                <a:solidFill>
                  <a:srgbClr val="16212E"/>
                </a:solidFill>
                <a:latin typeface="Calibri" pitchFamily="34" charset="0"/>
                <a:ea typeface="Calibri" pitchFamily="34" charset="-122"/>
                <a:cs typeface="Calibri" pitchFamily="34" charset="-120"/>
              </a:rPr>
              <a:t>Asymmetric</a:t>
            </a:r>
            <a:endParaRPr lang="en-US" dirty="0"/>
          </a:p>
        </p:txBody>
      </p:sp>
      <p:sp>
        <p:nvSpPr>
          <p:cNvPr id="10" name="Text 8"/>
          <p:cNvSpPr/>
          <p:nvPr/>
        </p:nvSpPr>
        <p:spPr>
          <a:xfrm>
            <a:off x="6455664" y="2212848"/>
            <a:ext cx="4480560" cy="274320"/>
          </a:xfrm>
          <a:prstGeom prst="rect">
            <a:avLst/>
          </a:prstGeom>
          <a:noFill/>
          <a:ln/>
        </p:spPr>
        <p:txBody>
          <a:bodyPr wrap="square" lIns="0" tIns="0" rIns="0" bIns="0" rtlCol="0" anchor="t"/>
          <a:lstStyle/>
          <a:p>
            <a:pPr marL="0" indent="0" algn="l">
              <a:lnSpc>
                <a:spcPct val="106000"/>
              </a:lnSpc>
              <a:buNone/>
            </a:pPr>
            <a:r>
              <a:rPr lang="en-US" sz="1300" b="1" dirty="0">
                <a:solidFill>
                  <a:srgbClr val="2C3E50"/>
                </a:solidFill>
                <a:latin typeface="Calibri" pitchFamily="34" charset="0"/>
                <a:ea typeface="Calibri" pitchFamily="34" charset="-122"/>
                <a:cs typeface="Calibri" pitchFamily="34" charset="-120"/>
              </a:rPr>
              <a:t>One key Locks.		Different Key Unlocks</a:t>
            </a:r>
            <a:endParaRPr lang="en-US" sz="1300" dirty="0"/>
          </a:p>
        </p:txBody>
      </p:sp>
      <p:sp>
        <p:nvSpPr>
          <p:cNvPr id="11" name="Text 9"/>
          <p:cNvSpPr/>
          <p:nvPr/>
        </p:nvSpPr>
        <p:spPr>
          <a:xfrm>
            <a:off x="6455664" y="2560320"/>
            <a:ext cx="4480560" cy="1051560"/>
          </a:xfrm>
          <a:prstGeom prst="rect">
            <a:avLst/>
          </a:prstGeom>
          <a:noFill/>
          <a:ln/>
        </p:spPr>
        <p:txBody>
          <a:bodyPr wrap="square" lIns="0" tIns="0" rIns="0" bIns="0" rtlCol="0" anchor="ctr"/>
          <a:lstStyle/>
          <a:p>
            <a:pPr marL="342900" indent="-342900">
              <a:lnSpc>
                <a:spcPct val="102000"/>
              </a:lnSpc>
              <a:spcAft>
                <a:spcPts val="600"/>
              </a:spcAft>
              <a:buSzPct val="100000"/>
              <a:buChar char="•"/>
            </a:pPr>
            <a:r>
              <a:rPr lang="en-US" sz="1250" dirty="0">
                <a:solidFill>
                  <a:srgbClr val="3D4C5A"/>
                </a:solidFill>
                <a:latin typeface="Calibri" pitchFamily="34" charset="0"/>
                <a:ea typeface="Calibri" pitchFamily="34" charset="-122"/>
                <a:cs typeface="Calibri" pitchFamily="34" charset="-120"/>
              </a:rPr>
              <a:t>Slow — used to agree on keys and to sign, not to bulk-encrypt</a:t>
            </a:r>
            <a:endParaRPr lang="en-US" sz="1250" dirty="0"/>
          </a:p>
          <a:p>
            <a:pPr marL="342900" indent="-342900">
              <a:lnSpc>
                <a:spcPct val="102000"/>
              </a:lnSpc>
              <a:spcAft>
                <a:spcPts val="600"/>
              </a:spcAft>
              <a:buSzPct val="100000"/>
              <a:buChar char="•"/>
            </a:pPr>
            <a:r>
              <a:rPr lang="en-US" sz="1250" dirty="0">
                <a:solidFill>
                  <a:srgbClr val="3D4C5A"/>
                </a:solidFill>
                <a:latin typeface="Calibri" pitchFamily="34" charset="0"/>
                <a:ea typeface="Calibri" pitchFamily="34" charset="-122"/>
                <a:cs typeface="Calibri" pitchFamily="34" charset="-120"/>
              </a:rPr>
              <a:t>E.g. RSA, ECDSA, Diffie-Hellman</a:t>
            </a:r>
            <a:endParaRPr lang="en-US" sz="1250" dirty="0"/>
          </a:p>
          <a:p>
            <a:pPr marL="342900" indent="-342900">
              <a:lnSpc>
                <a:spcPct val="102000"/>
              </a:lnSpc>
              <a:spcAft>
                <a:spcPts val="600"/>
              </a:spcAft>
              <a:buSzPct val="100000"/>
              <a:buChar char="•"/>
            </a:pPr>
            <a:r>
              <a:rPr lang="en-US" sz="1250" dirty="0">
                <a:solidFill>
                  <a:srgbClr val="3D4C5A"/>
                </a:solidFill>
                <a:latin typeface="Calibri" pitchFamily="34" charset="0"/>
                <a:ea typeface="Calibri" pitchFamily="34" charset="-122"/>
                <a:cs typeface="Calibri" pitchFamily="34" charset="-120"/>
              </a:rPr>
              <a:t>This is how HTTPS sets up a connection before AES takes over</a:t>
            </a:r>
            <a:endParaRPr lang="en-US" sz="1250" dirty="0"/>
          </a:p>
        </p:txBody>
      </p:sp>
      <p:sp>
        <p:nvSpPr>
          <p:cNvPr id="12" name="Shape 10"/>
          <p:cNvSpPr/>
          <p:nvPr/>
        </p:nvSpPr>
        <p:spPr>
          <a:xfrm>
            <a:off x="566929" y="3986784"/>
            <a:ext cx="7912054" cy="1060704"/>
          </a:xfrm>
          <a:prstGeom prst="roundRect">
            <a:avLst>
              <a:gd name="adj" fmla="val 5172"/>
            </a:avLst>
          </a:prstGeom>
          <a:solidFill>
            <a:srgbClr val="0F1721"/>
          </a:solidFill>
          <a:ln w="6350">
            <a:solidFill>
              <a:srgbClr val="0F1721"/>
            </a:solidFill>
            <a:prstDash val="solid"/>
          </a:ln>
        </p:spPr>
        <p:txBody>
          <a:bodyPr/>
          <a:lstStyle/>
          <a:p>
            <a:endParaRPr lang="en-US"/>
          </a:p>
        </p:txBody>
      </p:sp>
      <p:sp>
        <p:nvSpPr>
          <p:cNvPr id="13" name="Text 11"/>
          <p:cNvSpPr/>
          <p:nvPr/>
        </p:nvSpPr>
        <p:spPr>
          <a:xfrm>
            <a:off x="896111" y="4050792"/>
            <a:ext cx="1781833" cy="310896"/>
          </a:xfrm>
          <a:prstGeom prst="rect">
            <a:avLst/>
          </a:prstGeom>
          <a:noFill/>
          <a:ln/>
        </p:spPr>
        <p:txBody>
          <a:bodyPr wrap="square" lIns="0" tIns="0" rIns="0" bIns="0" rtlCol="0" anchor="t"/>
          <a:lstStyle/>
          <a:p>
            <a:pPr marL="0" indent="0" algn="l">
              <a:lnSpc>
                <a:spcPct val="106000"/>
              </a:lnSpc>
              <a:buNone/>
            </a:pPr>
            <a:r>
              <a:rPr lang="en-US" sz="1600" b="1" dirty="0">
                <a:solidFill>
                  <a:srgbClr val="E8A033"/>
                </a:solidFill>
                <a:latin typeface="Calibri" pitchFamily="34" charset="0"/>
                <a:ea typeface="Calibri" pitchFamily="34" charset="-122"/>
                <a:cs typeface="Calibri" pitchFamily="34" charset="-120"/>
              </a:rPr>
              <a:t>Where we sit</a:t>
            </a:r>
            <a:endParaRPr lang="en-US" sz="1600" dirty="0"/>
          </a:p>
        </p:txBody>
      </p:sp>
      <p:sp>
        <p:nvSpPr>
          <p:cNvPr id="14" name="Text 12"/>
          <p:cNvSpPr/>
          <p:nvPr/>
        </p:nvSpPr>
        <p:spPr>
          <a:xfrm>
            <a:off x="896111" y="4325112"/>
            <a:ext cx="7226668" cy="457200"/>
          </a:xfrm>
          <a:prstGeom prst="rect">
            <a:avLst/>
          </a:prstGeom>
          <a:noFill/>
          <a:ln/>
        </p:spPr>
        <p:txBody>
          <a:bodyPr wrap="square" lIns="0" tIns="0" rIns="0" bIns="0" rtlCol="0" anchor="t"/>
          <a:lstStyle/>
          <a:p>
            <a:pPr marL="0" indent="0" algn="l">
              <a:lnSpc>
                <a:spcPct val="106000"/>
              </a:lnSpc>
              <a:buNone/>
            </a:pPr>
            <a:r>
              <a:rPr lang="en-US" sz="1350" dirty="0">
                <a:solidFill>
                  <a:srgbClr val="C6D3DE"/>
                </a:solidFill>
                <a:latin typeface="Calibri" pitchFamily="34" charset="0"/>
                <a:ea typeface="Calibri" pitchFamily="34" charset="-122"/>
                <a:cs typeface="Calibri" pitchFamily="34" charset="-120"/>
              </a:rPr>
              <a:t>Our client and our service both trust the same vault, so they can both hold the same secret. That makes this a symmetric problem — and AES-256-GCM is the standard answer to a symmetric problem.</a:t>
            </a:r>
            <a:endParaRPr lang="en-US" sz="1350" dirty="0"/>
          </a:p>
        </p:txBody>
      </p:sp>
      <p:sp>
        <p:nvSpPr>
          <p:cNvPr id="15" name="Shape 13"/>
          <p:cNvSpPr/>
          <p:nvPr/>
        </p:nvSpPr>
        <p:spPr>
          <a:xfrm>
            <a:off x="566928" y="5212080"/>
            <a:ext cx="7912055" cy="1152144"/>
          </a:xfrm>
          <a:prstGeom prst="roundRect">
            <a:avLst>
              <a:gd name="adj" fmla="val 6383"/>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6" name="Text 14"/>
          <p:cNvSpPr/>
          <p:nvPr/>
        </p:nvSpPr>
        <p:spPr>
          <a:xfrm>
            <a:off x="932688" y="5431536"/>
            <a:ext cx="1549026" cy="274320"/>
          </a:xfrm>
          <a:prstGeom prst="rect">
            <a:avLst/>
          </a:prstGeom>
          <a:noFill/>
          <a:ln/>
        </p:spPr>
        <p:txBody>
          <a:bodyPr wrap="square" lIns="0" tIns="0" rIns="0" bIns="0" rtlCol="0" anchor="t"/>
          <a:lstStyle/>
          <a:p>
            <a:pPr marL="0" indent="0" algn="l">
              <a:lnSpc>
                <a:spcPct val="106000"/>
              </a:lnSpc>
              <a:buNone/>
            </a:pPr>
            <a:r>
              <a:rPr lang="en-US" sz="1300" b="1" dirty="0">
                <a:solidFill>
                  <a:srgbClr val="16212E"/>
                </a:solidFill>
                <a:latin typeface="Calibri" pitchFamily="34" charset="0"/>
                <a:ea typeface="Calibri" pitchFamily="34" charset="-122"/>
                <a:cs typeface="Calibri" pitchFamily="34" charset="-120"/>
              </a:rPr>
              <a:t>How HTTPS works:</a:t>
            </a:r>
            <a:endParaRPr lang="en-US" sz="1300" dirty="0"/>
          </a:p>
        </p:txBody>
      </p:sp>
      <p:sp>
        <p:nvSpPr>
          <p:cNvPr id="17" name="Text 15"/>
          <p:cNvSpPr/>
          <p:nvPr/>
        </p:nvSpPr>
        <p:spPr>
          <a:xfrm>
            <a:off x="2852928" y="5431536"/>
            <a:ext cx="5269851" cy="740664"/>
          </a:xfrm>
          <a:prstGeom prst="rect">
            <a:avLst/>
          </a:prstGeom>
          <a:noFill/>
          <a:ln/>
        </p:spPr>
        <p:txBody>
          <a:bodyPr wrap="square" lIns="0" tIns="0" rIns="0" bIns="0" rtlCol="0" anchor="t"/>
          <a:lstStyle/>
          <a:p>
            <a:pPr marL="0" indent="0" algn="l">
              <a:lnSpc>
                <a:spcPct val="110000"/>
              </a:lnSpc>
              <a:buNone/>
            </a:pPr>
            <a:r>
              <a:rPr lang="en-US" sz="1300" dirty="0">
                <a:solidFill>
                  <a:srgbClr val="3D4C5A"/>
                </a:solidFill>
                <a:latin typeface="Calibri" pitchFamily="34" charset="0"/>
                <a:ea typeface="Calibri" pitchFamily="34" charset="-122"/>
                <a:cs typeface="Calibri" pitchFamily="34" charset="-120"/>
              </a:rPr>
              <a:t>HTTPS already encrypts the connection. What we are adding protects the payload itself — so it stays protected </a:t>
            </a:r>
          </a:p>
          <a:p>
            <a:pPr marL="0" indent="0" algn="l">
              <a:lnSpc>
                <a:spcPct val="110000"/>
              </a:lnSpc>
              <a:buNone/>
            </a:pPr>
            <a:r>
              <a:rPr lang="en-US" sz="1300" dirty="0">
                <a:solidFill>
                  <a:srgbClr val="3D4C5A"/>
                </a:solidFill>
                <a:latin typeface="Calibri" pitchFamily="34" charset="0"/>
                <a:ea typeface="Calibri" pitchFamily="34" charset="-122"/>
                <a:cs typeface="Calibri" pitchFamily="34" charset="-120"/>
              </a:rPr>
              <a:t>at load balancers, in logs, in queues and at rest. We are not replacing TLS.</a:t>
            </a:r>
            <a:endParaRPr lang="en-US" sz="1300" dirty="0"/>
          </a:p>
        </p:txBody>
      </p:sp>
      <p:sp>
        <p:nvSpPr>
          <p:cNvPr id="18" name="Text 16"/>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1 · The idea</a:t>
            </a:r>
            <a:endParaRPr lang="en-US" sz="950" dirty="0"/>
          </a:p>
        </p:txBody>
      </p:sp>
      <p:sp>
        <p:nvSpPr>
          <p:cNvPr id="19" name="Text 17"/>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4</a:t>
            </a:r>
            <a:endParaRPr lang="en-US" sz="950" dirty="0"/>
          </a:p>
        </p:txBody>
      </p:sp>
      <p:pic>
        <p:nvPicPr>
          <p:cNvPr id="20" name="Picture 19" descr="OSI 7 Layers Explained the Easy Way">
            <a:extLst>
              <a:ext uri="{FF2B5EF4-FFF2-40B4-BE49-F238E27FC236}">
                <a16:creationId xmlns:a16="http://schemas.microsoft.com/office/drawing/2014/main" id="{9436CD7F-89F8-1C40-35AF-10B0A54F5C52}"/>
              </a:ext>
            </a:extLst>
          </p:cNvPr>
          <p:cNvPicPr>
            <a:picLocks noChangeAspect="1"/>
          </p:cNvPicPr>
          <p:nvPr/>
        </p:nvPicPr>
        <p:blipFill>
          <a:blip r:embed="rId3"/>
          <a:stretch>
            <a:fillRect/>
          </a:stretch>
        </p:blipFill>
        <p:spPr>
          <a:xfrm>
            <a:off x="8688824" y="3986784"/>
            <a:ext cx="2668024" cy="23774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CONCEPT 3 OF 5</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Ciphers have a lifecycle. This is a scheduled move.</a:t>
            </a:r>
            <a:endParaRPr lang="en-US" sz="3100" dirty="0"/>
          </a:p>
        </p:txBody>
      </p:sp>
      <p:sp>
        <p:nvSpPr>
          <p:cNvPr id="4" name="Shape 2"/>
          <p:cNvSpPr/>
          <p:nvPr/>
        </p:nvSpPr>
        <p:spPr>
          <a:xfrm>
            <a:off x="932688" y="2139696"/>
            <a:ext cx="10326319" cy="0"/>
          </a:xfrm>
          <a:prstGeom prst="line">
            <a:avLst/>
          </a:prstGeom>
          <a:noFill/>
          <a:ln w="25400">
            <a:solidFill>
              <a:srgbClr val="D6DFE7"/>
            </a:solidFill>
            <a:prstDash val="solid"/>
          </a:ln>
        </p:spPr>
        <p:txBody>
          <a:bodyPr/>
          <a:lstStyle/>
          <a:p>
            <a:endParaRPr lang="en-US"/>
          </a:p>
        </p:txBody>
      </p:sp>
      <p:sp>
        <p:nvSpPr>
          <p:cNvPr id="5" name="Shape 3"/>
          <p:cNvSpPr/>
          <p:nvPr/>
        </p:nvSpPr>
        <p:spPr>
          <a:xfrm>
            <a:off x="1197864" y="1920240"/>
            <a:ext cx="438912" cy="438912"/>
          </a:xfrm>
          <a:prstGeom prst="ellipse">
            <a:avLst/>
          </a:prstGeom>
          <a:solidFill>
            <a:srgbClr val="2C3E50"/>
          </a:solidFill>
          <a:ln w="6350">
            <a:solidFill>
              <a:srgbClr val="2C3E50"/>
            </a:solidFill>
            <a:prstDash val="solid"/>
          </a:ln>
        </p:spPr>
        <p:txBody>
          <a:bodyPr/>
          <a:lstStyle/>
          <a:p>
            <a:endParaRPr lang="en-US"/>
          </a:p>
        </p:txBody>
      </p:sp>
      <p:sp>
        <p:nvSpPr>
          <p:cNvPr id="6" name="Text 4"/>
          <p:cNvSpPr/>
          <p:nvPr/>
        </p:nvSpPr>
        <p:spPr>
          <a:xfrm>
            <a:off x="1197864" y="1920240"/>
            <a:ext cx="438912" cy="438912"/>
          </a:xfrm>
          <a:prstGeom prst="rect">
            <a:avLst/>
          </a:prstGeom>
          <a:noFill/>
          <a:ln/>
        </p:spPr>
        <p:txBody>
          <a:bodyPr wrap="square" lIns="0" tIns="0" rIns="0" bIns="0" rtlCol="0" anchor="ctr"/>
          <a:lstStyle/>
          <a:p>
            <a:pPr marL="0" indent="0" algn="ctr">
              <a:buNone/>
            </a:pPr>
            <a:endParaRPr lang="en-US" sz="1000" dirty="0"/>
          </a:p>
        </p:txBody>
      </p:sp>
      <p:sp>
        <p:nvSpPr>
          <p:cNvPr id="7" name="Text 5"/>
          <p:cNvSpPr/>
          <p:nvPr/>
        </p:nvSpPr>
        <p:spPr>
          <a:xfrm>
            <a:off x="566928" y="1481328"/>
            <a:ext cx="1700784" cy="274320"/>
          </a:xfrm>
          <a:prstGeom prst="rect">
            <a:avLst/>
          </a:prstGeom>
          <a:noFill/>
          <a:ln/>
        </p:spPr>
        <p:txBody>
          <a:bodyPr wrap="square" lIns="0" tIns="0" rIns="0" bIns="0" rtlCol="0" anchor="t"/>
          <a:lstStyle/>
          <a:p>
            <a:pPr marL="0" indent="0" algn="ctr">
              <a:lnSpc>
                <a:spcPct val="106000"/>
              </a:lnSpc>
              <a:buNone/>
            </a:pPr>
            <a:r>
              <a:rPr lang="en-US" sz="1400" b="1" dirty="0">
                <a:solidFill>
                  <a:srgbClr val="16212E"/>
                </a:solidFill>
                <a:latin typeface="Calibri" pitchFamily="34" charset="0"/>
                <a:ea typeface="Calibri" pitchFamily="34" charset="-122"/>
                <a:cs typeface="Calibri" pitchFamily="34" charset="-120"/>
              </a:rPr>
              <a:t>1977</a:t>
            </a:r>
            <a:endParaRPr lang="en-US" sz="1400" dirty="0"/>
          </a:p>
        </p:txBody>
      </p:sp>
      <p:sp>
        <p:nvSpPr>
          <p:cNvPr id="8" name="Text 6"/>
          <p:cNvSpPr/>
          <p:nvPr/>
        </p:nvSpPr>
        <p:spPr>
          <a:xfrm>
            <a:off x="566928" y="2523744"/>
            <a:ext cx="1700784" cy="310896"/>
          </a:xfrm>
          <a:prstGeom prst="rect">
            <a:avLst/>
          </a:prstGeom>
          <a:noFill/>
          <a:ln/>
        </p:spPr>
        <p:txBody>
          <a:bodyPr wrap="square" lIns="0" tIns="0" rIns="0" bIns="0" rtlCol="0" anchor="t"/>
          <a:lstStyle/>
          <a:p>
            <a:pPr marL="0" indent="0" algn="ctr">
              <a:lnSpc>
                <a:spcPct val="106000"/>
              </a:lnSpc>
              <a:buNone/>
            </a:pPr>
            <a:r>
              <a:rPr lang="en-US" sz="1350" b="1" dirty="0">
                <a:solidFill>
                  <a:srgbClr val="16212E"/>
                </a:solidFill>
                <a:latin typeface="Calibri" pitchFamily="34" charset="0"/>
                <a:ea typeface="Calibri" pitchFamily="34" charset="-122"/>
                <a:cs typeface="Calibri" pitchFamily="34" charset="-120"/>
              </a:rPr>
              <a:t>DES</a:t>
            </a:r>
            <a:endParaRPr lang="en-US" sz="1350" dirty="0"/>
          </a:p>
        </p:txBody>
      </p:sp>
      <p:sp>
        <p:nvSpPr>
          <p:cNvPr id="9" name="Text 7"/>
          <p:cNvSpPr/>
          <p:nvPr/>
        </p:nvSpPr>
        <p:spPr>
          <a:xfrm>
            <a:off x="566928" y="2889504"/>
            <a:ext cx="1700784" cy="1371600"/>
          </a:xfrm>
          <a:prstGeom prst="rect">
            <a:avLst/>
          </a:prstGeom>
          <a:noFill/>
          <a:ln/>
        </p:spPr>
        <p:txBody>
          <a:bodyPr wrap="square" lIns="0" tIns="0" rIns="0" bIns="0" rtlCol="0" anchor="t"/>
          <a:lstStyle/>
          <a:p>
            <a:pPr marL="0" indent="0" algn="ctr">
              <a:lnSpc>
                <a:spcPct val="115000"/>
              </a:lnSpc>
              <a:buNone/>
            </a:pPr>
            <a:r>
              <a:rPr lang="en-US" sz="1100" dirty="0">
                <a:solidFill>
                  <a:srgbClr val="3D4C5A"/>
                </a:solidFill>
                <a:latin typeface="Calibri" pitchFamily="34" charset="0"/>
                <a:ea typeface="Calibri" pitchFamily="34" charset="-122"/>
                <a:cs typeface="Calibri" pitchFamily="34" charset="-120"/>
              </a:rPr>
              <a:t>56-bit key becomes the US standard. Publicly brute-forced in 1998, then in 22 hours in 1999.</a:t>
            </a:r>
            <a:endParaRPr lang="en-US" sz="1100" dirty="0"/>
          </a:p>
        </p:txBody>
      </p:sp>
      <p:sp>
        <p:nvSpPr>
          <p:cNvPr id="10" name="Shape 8"/>
          <p:cNvSpPr/>
          <p:nvPr/>
        </p:nvSpPr>
        <p:spPr>
          <a:xfrm>
            <a:off x="3044952" y="1920240"/>
            <a:ext cx="438912" cy="438912"/>
          </a:xfrm>
          <a:prstGeom prst="ellipse">
            <a:avLst/>
          </a:prstGeom>
          <a:solidFill>
            <a:srgbClr val="2C3E50"/>
          </a:solidFill>
          <a:ln w="6350">
            <a:solidFill>
              <a:srgbClr val="2C3E50"/>
            </a:solidFill>
            <a:prstDash val="solid"/>
          </a:ln>
        </p:spPr>
        <p:txBody>
          <a:bodyPr/>
          <a:lstStyle/>
          <a:p>
            <a:endParaRPr lang="en-US"/>
          </a:p>
        </p:txBody>
      </p:sp>
      <p:sp>
        <p:nvSpPr>
          <p:cNvPr id="11" name="Text 9"/>
          <p:cNvSpPr/>
          <p:nvPr/>
        </p:nvSpPr>
        <p:spPr>
          <a:xfrm>
            <a:off x="3044952" y="1920240"/>
            <a:ext cx="438912" cy="438912"/>
          </a:xfrm>
          <a:prstGeom prst="rect">
            <a:avLst/>
          </a:prstGeom>
          <a:noFill/>
          <a:ln/>
        </p:spPr>
        <p:txBody>
          <a:bodyPr wrap="square" lIns="0" tIns="0" rIns="0" bIns="0" rtlCol="0" anchor="ctr"/>
          <a:lstStyle/>
          <a:p>
            <a:pPr marL="0" indent="0" algn="ctr">
              <a:buNone/>
            </a:pPr>
            <a:endParaRPr lang="en-US" sz="1000" dirty="0"/>
          </a:p>
        </p:txBody>
      </p:sp>
      <p:sp>
        <p:nvSpPr>
          <p:cNvPr id="12" name="Text 10"/>
          <p:cNvSpPr/>
          <p:nvPr/>
        </p:nvSpPr>
        <p:spPr>
          <a:xfrm>
            <a:off x="2414016" y="1481328"/>
            <a:ext cx="1700784" cy="274320"/>
          </a:xfrm>
          <a:prstGeom prst="rect">
            <a:avLst/>
          </a:prstGeom>
          <a:noFill/>
          <a:ln/>
        </p:spPr>
        <p:txBody>
          <a:bodyPr wrap="square" lIns="0" tIns="0" rIns="0" bIns="0" rtlCol="0" anchor="t"/>
          <a:lstStyle/>
          <a:p>
            <a:pPr marL="0" indent="0" algn="ctr">
              <a:lnSpc>
                <a:spcPct val="106000"/>
              </a:lnSpc>
              <a:buNone/>
            </a:pPr>
            <a:r>
              <a:rPr lang="en-US" sz="1400" b="1" dirty="0">
                <a:solidFill>
                  <a:srgbClr val="16212E"/>
                </a:solidFill>
                <a:latin typeface="Calibri" pitchFamily="34" charset="0"/>
                <a:ea typeface="Calibri" pitchFamily="34" charset="-122"/>
                <a:cs typeface="Calibri" pitchFamily="34" charset="-120"/>
              </a:rPr>
              <a:t>1997</a:t>
            </a:r>
            <a:endParaRPr lang="en-US" sz="1400" dirty="0"/>
          </a:p>
        </p:txBody>
      </p:sp>
      <p:sp>
        <p:nvSpPr>
          <p:cNvPr id="13" name="Text 11"/>
          <p:cNvSpPr/>
          <p:nvPr/>
        </p:nvSpPr>
        <p:spPr>
          <a:xfrm>
            <a:off x="2414016" y="2523744"/>
            <a:ext cx="1700784" cy="310896"/>
          </a:xfrm>
          <a:prstGeom prst="rect">
            <a:avLst/>
          </a:prstGeom>
          <a:noFill/>
          <a:ln/>
        </p:spPr>
        <p:txBody>
          <a:bodyPr wrap="square" lIns="0" tIns="0" rIns="0" bIns="0" rtlCol="0" anchor="t"/>
          <a:lstStyle/>
          <a:p>
            <a:pPr marL="0" indent="0" algn="ctr">
              <a:lnSpc>
                <a:spcPct val="106000"/>
              </a:lnSpc>
              <a:buNone/>
            </a:pPr>
            <a:r>
              <a:rPr lang="en-US" sz="1350" b="1" dirty="0">
                <a:solidFill>
                  <a:srgbClr val="16212E"/>
                </a:solidFill>
                <a:latin typeface="Calibri" pitchFamily="34" charset="0"/>
                <a:ea typeface="Calibri" pitchFamily="34" charset="-122"/>
                <a:cs typeface="Calibri" pitchFamily="34" charset="-120"/>
              </a:rPr>
              <a:t>Open contest</a:t>
            </a:r>
            <a:endParaRPr lang="en-US" sz="1350" dirty="0"/>
          </a:p>
        </p:txBody>
      </p:sp>
      <p:sp>
        <p:nvSpPr>
          <p:cNvPr id="14" name="Text 12"/>
          <p:cNvSpPr/>
          <p:nvPr/>
        </p:nvSpPr>
        <p:spPr>
          <a:xfrm>
            <a:off x="2414016" y="2889504"/>
            <a:ext cx="1700784" cy="1371600"/>
          </a:xfrm>
          <a:prstGeom prst="rect">
            <a:avLst/>
          </a:prstGeom>
          <a:noFill/>
          <a:ln/>
        </p:spPr>
        <p:txBody>
          <a:bodyPr wrap="square" lIns="0" tIns="0" rIns="0" bIns="0" rtlCol="0" anchor="t"/>
          <a:lstStyle/>
          <a:p>
            <a:pPr marL="0" indent="0" algn="ctr">
              <a:lnSpc>
                <a:spcPct val="115000"/>
              </a:lnSpc>
              <a:buNone/>
            </a:pPr>
            <a:r>
              <a:rPr lang="en-US" sz="1100" dirty="0">
                <a:solidFill>
                  <a:srgbClr val="3D4C5A"/>
                </a:solidFill>
                <a:latin typeface="Calibri" pitchFamily="34" charset="0"/>
                <a:ea typeface="Calibri" pitchFamily="34" charset="-122"/>
                <a:cs typeface="Calibri" pitchFamily="34" charset="-120"/>
              </a:rPr>
              <a:t>NIST invites the world. 15 candidates, years of public cryptanalysis, nothing secret.</a:t>
            </a:r>
            <a:endParaRPr lang="en-US" sz="1100" dirty="0"/>
          </a:p>
        </p:txBody>
      </p:sp>
      <p:sp>
        <p:nvSpPr>
          <p:cNvPr id="15" name="Shape 13"/>
          <p:cNvSpPr/>
          <p:nvPr/>
        </p:nvSpPr>
        <p:spPr>
          <a:xfrm>
            <a:off x="4892040" y="1920240"/>
            <a:ext cx="438912" cy="438912"/>
          </a:xfrm>
          <a:prstGeom prst="ellipse">
            <a:avLst/>
          </a:prstGeom>
          <a:solidFill>
            <a:srgbClr val="2C3E50"/>
          </a:solidFill>
          <a:ln w="6350">
            <a:solidFill>
              <a:srgbClr val="2C3E50"/>
            </a:solidFill>
            <a:prstDash val="solid"/>
          </a:ln>
        </p:spPr>
        <p:txBody>
          <a:bodyPr/>
          <a:lstStyle/>
          <a:p>
            <a:endParaRPr lang="en-US"/>
          </a:p>
        </p:txBody>
      </p:sp>
      <p:sp>
        <p:nvSpPr>
          <p:cNvPr id="16" name="Text 14"/>
          <p:cNvSpPr/>
          <p:nvPr/>
        </p:nvSpPr>
        <p:spPr>
          <a:xfrm>
            <a:off x="4892040" y="1920240"/>
            <a:ext cx="438912" cy="438912"/>
          </a:xfrm>
          <a:prstGeom prst="rect">
            <a:avLst/>
          </a:prstGeom>
          <a:noFill/>
          <a:ln/>
        </p:spPr>
        <p:txBody>
          <a:bodyPr wrap="square" lIns="0" tIns="0" rIns="0" bIns="0" rtlCol="0" anchor="ctr"/>
          <a:lstStyle/>
          <a:p>
            <a:pPr marL="0" indent="0" algn="ctr">
              <a:buNone/>
            </a:pPr>
            <a:endParaRPr lang="en-US" sz="1000" dirty="0"/>
          </a:p>
        </p:txBody>
      </p:sp>
      <p:sp>
        <p:nvSpPr>
          <p:cNvPr id="17" name="Text 15"/>
          <p:cNvSpPr/>
          <p:nvPr/>
        </p:nvSpPr>
        <p:spPr>
          <a:xfrm>
            <a:off x="4261104" y="1481328"/>
            <a:ext cx="1700784" cy="274320"/>
          </a:xfrm>
          <a:prstGeom prst="rect">
            <a:avLst/>
          </a:prstGeom>
          <a:noFill/>
          <a:ln/>
        </p:spPr>
        <p:txBody>
          <a:bodyPr wrap="square" lIns="0" tIns="0" rIns="0" bIns="0" rtlCol="0" anchor="t"/>
          <a:lstStyle/>
          <a:p>
            <a:pPr marL="0" indent="0" algn="ctr">
              <a:lnSpc>
                <a:spcPct val="106000"/>
              </a:lnSpc>
              <a:buNone/>
            </a:pPr>
            <a:r>
              <a:rPr lang="en-US" sz="1400" b="1" dirty="0">
                <a:solidFill>
                  <a:srgbClr val="16212E"/>
                </a:solidFill>
                <a:latin typeface="Calibri" pitchFamily="34" charset="0"/>
                <a:ea typeface="Calibri" pitchFamily="34" charset="-122"/>
                <a:cs typeface="Calibri" pitchFamily="34" charset="-120"/>
              </a:rPr>
              <a:t>1998</a:t>
            </a:r>
            <a:endParaRPr lang="en-US" sz="1400" dirty="0"/>
          </a:p>
        </p:txBody>
      </p:sp>
      <p:sp>
        <p:nvSpPr>
          <p:cNvPr id="18" name="Text 16"/>
          <p:cNvSpPr/>
          <p:nvPr/>
        </p:nvSpPr>
        <p:spPr>
          <a:xfrm>
            <a:off x="4261104" y="2523744"/>
            <a:ext cx="1700784" cy="310896"/>
          </a:xfrm>
          <a:prstGeom prst="rect">
            <a:avLst/>
          </a:prstGeom>
          <a:noFill/>
          <a:ln/>
        </p:spPr>
        <p:txBody>
          <a:bodyPr wrap="square" lIns="0" tIns="0" rIns="0" bIns="0" rtlCol="0" anchor="t"/>
          <a:lstStyle/>
          <a:p>
            <a:pPr marL="0" indent="0" algn="ctr">
              <a:lnSpc>
                <a:spcPct val="106000"/>
              </a:lnSpc>
              <a:buNone/>
            </a:pPr>
            <a:r>
              <a:rPr lang="en-US" sz="1350" b="1" dirty="0">
                <a:solidFill>
                  <a:srgbClr val="16212E"/>
                </a:solidFill>
                <a:latin typeface="Calibri" pitchFamily="34" charset="0"/>
                <a:ea typeface="Calibri" pitchFamily="34" charset="-122"/>
                <a:cs typeface="Calibri" pitchFamily="34" charset="-120"/>
              </a:rPr>
              <a:t>3DES</a:t>
            </a:r>
            <a:endParaRPr lang="en-US" sz="1350" dirty="0"/>
          </a:p>
        </p:txBody>
      </p:sp>
      <p:sp>
        <p:nvSpPr>
          <p:cNvPr id="19" name="Text 17"/>
          <p:cNvSpPr/>
          <p:nvPr/>
        </p:nvSpPr>
        <p:spPr>
          <a:xfrm>
            <a:off x="4261104" y="2889504"/>
            <a:ext cx="1700784" cy="1371600"/>
          </a:xfrm>
          <a:prstGeom prst="rect">
            <a:avLst/>
          </a:prstGeom>
          <a:noFill/>
          <a:ln/>
        </p:spPr>
        <p:txBody>
          <a:bodyPr wrap="square" lIns="0" tIns="0" rIns="0" bIns="0" rtlCol="0" anchor="t"/>
          <a:lstStyle/>
          <a:p>
            <a:pPr marL="0" indent="0" algn="ctr">
              <a:lnSpc>
                <a:spcPct val="115000"/>
              </a:lnSpc>
              <a:buNone/>
            </a:pPr>
            <a:r>
              <a:rPr lang="en-US" sz="1100" dirty="0">
                <a:solidFill>
                  <a:srgbClr val="3D4C5A"/>
                </a:solidFill>
                <a:latin typeface="Calibri" pitchFamily="34" charset="0"/>
                <a:ea typeface="Calibri" pitchFamily="34" charset="-122"/>
                <a:cs typeface="Calibri" pitchFamily="34" charset="-120"/>
              </a:rPr>
              <a:t>Run DES three times as a stopgap. Slow, and finally disallowed by NIST in 2023.</a:t>
            </a:r>
            <a:endParaRPr lang="en-US" sz="1100" dirty="0"/>
          </a:p>
        </p:txBody>
      </p:sp>
      <p:sp>
        <p:nvSpPr>
          <p:cNvPr id="20" name="Shape 18"/>
          <p:cNvSpPr/>
          <p:nvPr/>
        </p:nvSpPr>
        <p:spPr>
          <a:xfrm>
            <a:off x="6739128" y="1920240"/>
            <a:ext cx="438912" cy="438912"/>
          </a:xfrm>
          <a:prstGeom prst="ellipse">
            <a:avLst/>
          </a:prstGeom>
          <a:solidFill>
            <a:srgbClr val="2C3E50"/>
          </a:solidFill>
          <a:ln w="6350">
            <a:solidFill>
              <a:srgbClr val="2C3E50"/>
            </a:solidFill>
            <a:prstDash val="solid"/>
          </a:ln>
        </p:spPr>
        <p:txBody>
          <a:bodyPr/>
          <a:lstStyle/>
          <a:p>
            <a:endParaRPr lang="en-US"/>
          </a:p>
        </p:txBody>
      </p:sp>
      <p:sp>
        <p:nvSpPr>
          <p:cNvPr id="21" name="Text 19"/>
          <p:cNvSpPr/>
          <p:nvPr/>
        </p:nvSpPr>
        <p:spPr>
          <a:xfrm>
            <a:off x="6739128" y="1920240"/>
            <a:ext cx="438912" cy="438912"/>
          </a:xfrm>
          <a:prstGeom prst="rect">
            <a:avLst/>
          </a:prstGeom>
          <a:noFill/>
          <a:ln/>
        </p:spPr>
        <p:txBody>
          <a:bodyPr wrap="square" lIns="0" tIns="0" rIns="0" bIns="0" rtlCol="0" anchor="ctr"/>
          <a:lstStyle/>
          <a:p>
            <a:pPr marL="0" indent="0" algn="ctr">
              <a:buNone/>
            </a:pPr>
            <a:endParaRPr lang="en-US" sz="1000" dirty="0"/>
          </a:p>
        </p:txBody>
      </p:sp>
      <p:sp>
        <p:nvSpPr>
          <p:cNvPr id="22" name="Text 20"/>
          <p:cNvSpPr/>
          <p:nvPr/>
        </p:nvSpPr>
        <p:spPr>
          <a:xfrm>
            <a:off x="6108192" y="1481328"/>
            <a:ext cx="1700784" cy="274320"/>
          </a:xfrm>
          <a:prstGeom prst="rect">
            <a:avLst/>
          </a:prstGeom>
          <a:noFill/>
          <a:ln/>
        </p:spPr>
        <p:txBody>
          <a:bodyPr wrap="square" lIns="0" tIns="0" rIns="0" bIns="0" rtlCol="0" anchor="t"/>
          <a:lstStyle/>
          <a:p>
            <a:pPr marL="0" indent="0" algn="ctr">
              <a:lnSpc>
                <a:spcPct val="106000"/>
              </a:lnSpc>
              <a:buNone/>
            </a:pPr>
            <a:r>
              <a:rPr lang="en-US" sz="1400" b="1" dirty="0">
                <a:solidFill>
                  <a:srgbClr val="16212E"/>
                </a:solidFill>
                <a:latin typeface="Calibri" pitchFamily="34" charset="0"/>
                <a:ea typeface="Calibri" pitchFamily="34" charset="-122"/>
                <a:cs typeface="Calibri" pitchFamily="34" charset="-120"/>
              </a:rPr>
              <a:t>2001</a:t>
            </a:r>
            <a:endParaRPr lang="en-US" sz="1400" dirty="0"/>
          </a:p>
        </p:txBody>
      </p:sp>
      <p:sp>
        <p:nvSpPr>
          <p:cNvPr id="23" name="Text 21"/>
          <p:cNvSpPr/>
          <p:nvPr/>
        </p:nvSpPr>
        <p:spPr>
          <a:xfrm>
            <a:off x="6108192" y="2523744"/>
            <a:ext cx="1700784" cy="310896"/>
          </a:xfrm>
          <a:prstGeom prst="rect">
            <a:avLst/>
          </a:prstGeom>
          <a:noFill/>
          <a:ln/>
        </p:spPr>
        <p:txBody>
          <a:bodyPr wrap="square" lIns="0" tIns="0" rIns="0" bIns="0" rtlCol="0" anchor="t"/>
          <a:lstStyle/>
          <a:p>
            <a:pPr marL="0" indent="0" algn="ctr">
              <a:lnSpc>
                <a:spcPct val="106000"/>
              </a:lnSpc>
              <a:buNone/>
            </a:pPr>
            <a:r>
              <a:rPr lang="en-US" sz="1350" b="1" dirty="0">
                <a:solidFill>
                  <a:srgbClr val="16212E"/>
                </a:solidFill>
                <a:latin typeface="Calibri" pitchFamily="34" charset="0"/>
                <a:ea typeface="Calibri" pitchFamily="34" charset="-122"/>
                <a:cs typeface="Calibri" pitchFamily="34" charset="-120"/>
              </a:rPr>
              <a:t>AES (Rijndael)</a:t>
            </a:r>
            <a:endParaRPr lang="en-US" sz="1350" dirty="0"/>
          </a:p>
        </p:txBody>
      </p:sp>
      <p:sp>
        <p:nvSpPr>
          <p:cNvPr id="24" name="Text 22"/>
          <p:cNvSpPr/>
          <p:nvPr/>
        </p:nvSpPr>
        <p:spPr>
          <a:xfrm>
            <a:off x="6108192" y="2889504"/>
            <a:ext cx="1700784" cy="1371600"/>
          </a:xfrm>
          <a:prstGeom prst="rect">
            <a:avLst/>
          </a:prstGeom>
          <a:noFill/>
          <a:ln/>
        </p:spPr>
        <p:txBody>
          <a:bodyPr wrap="square" lIns="0" tIns="0" rIns="0" bIns="0" rtlCol="0" anchor="t"/>
          <a:lstStyle/>
          <a:p>
            <a:pPr marL="0" indent="0" algn="ctr">
              <a:lnSpc>
                <a:spcPct val="115000"/>
              </a:lnSpc>
              <a:buNone/>
            </a:pPr>
            <a:r>
              <a:rPr lang="en-US" sz="1100" dirty="0">
                <a:solidFill>
                  <a:srgbClr val="3D4C5A"/>
                </a:solidFill>
                <a:latin typeface="Calibri" pitchFamily="34" charset="0"/>
                <a:ea typeface="Calibri" pitchFamily="34" charset="-122"/>
                <a:cs typeface="Calibri" pitchFamily="34" charset="-120"/>
              </a:rPr>
              <a:t>FIPS 197. Still has no practical break after two decades of trying.</a:t>
            </a:r>
            <a:endParaRPr lang="en-US" sz="1100" dirty="0"/>
          </a:p>
        </p:txBody>
      </p:sp>
      <p:sp>
        <p:nvSpPr>
          <p:cNvPr id="25" name="Shape 23"/>
          <p:cNvSpPr/>
          <p:nvPr/>
        </p:nvSpPr>
        <p:spPr>
          <a:xfrm>
            <a:off x="8586216" y="1920240"/>
            <a:ext cx="438912" cy="438912"/>
          </a:xfrm>
          <a:prstGeom prst="ellipse">
            <a:avLst/>
          </a:prstGeom>
          <a:solidFill>
            <a:srgbClr val="2C3E50"/>
          </a:solidFill>
          <a:ln w="6350">
            <a:solidFill>
              <a:srgbClr val="2C3E50"/>
            </a:solidFill>
            <a:prstDash val="solid"/>
          </a:ln>
        </p:spPr>
        <p:txBody>
          <a:bodyPr/>
          <a:lstStyle/>
          <a:p>
            <a:endParaRPr lang="en-US"/>
          </a:p>
        </p:txBody>
      </p:sp>
      <p:sp>
        <p:nvSpPr>
          <p:cNvPr id="26" name="Text 24"/>
          <p:cNvSpPr/>
          <p:nvPr/>
        </p:nvSpPr>
        <p:spPr>
          <a:xfrm>
            <a:off x="8586216" y="1920240"/>
            <a:ext cx="438912" cy="438912"/>
          </a:xfrm>
          <a:prstGeom prst="rect">
            <a:avLst/>
          </a:prstGeom>
          <a:noFill/>
          <a:ln/>
        </p:spPr>
        <p:txBody>
          <a:bodyPr wrap="square" lIns="0" tIns="0" rIns="0" bIns="0" rtlCol="0" anchor="ctr"/>
          <a:lstStyle/>
          <a:p>
            <a:pPr marL="0" indent="0" algn="ctr">
              <a:buNone/>
            </a:pPr>
            <a:endParaRPr lang="en-US" sz="1000" dirty="0"/>
          </a:p>
        </p:txBody>
      </p:sp>
      <p:sp>
        <p:nvSpPr>
          <p:cNvPr id="27" name="Text 25"/>
          <p:cNvSpPr/>
          <p:nvPr/>
        </p:nvSpPr>
        <p:spPr>
          <a:xfrm>
            <a:off x="7955280" y="1481328"/>
            <a:ext cx="1700784" cy="274320"/>
          </a:xfrm>
          <a:prstGeom prst="rect">
            <a:avLst/>
          </a:prstGeom>
          <a:noFill/>
          <a:ln/>
        </p:spPr>
        <p:txBody>
          <a:bodyPr wrap="square" lIns="0" tIns="0" rIns="0" bIns="0" rtlCol="0" anchor="t"/>
          <a:lstStyle/>
          <a:p>
            <a:pPr marL="0" indent="0" algn="ctr">
              <a:lnSpc>
                <a:spcPct val="106000"/>
              </a:lnSpc>
              <a:buNone/>
            </a:pPr>
            <a:r>
              <a:rPr lang="en-US" sz="1400" b="1" dirty="0">
                <a:solidFill>
                  <a:srgbClr val="16212E"/>
                </a:solidFill>
                <a:latin typeface="Calibri" pitchFamily="34" charset="0"/>
                <a:ea typeface="Calibri" pitchFamily="34" charset="-122"/>
                <a:cs typeface="Calibri" pitchFamily="34" charset="-120"/>
              </a:rPr>
              <a:t>2007</a:t>
            </a:r>
            <a:endParaRPr lang="en-US" sz="1400" dirty="0"/>
          </a:p>
        </p:txBody>
      </p:sp>
      <p:sp>
        <p:nvSpPr>
          <p:cNvPr id="28" name="Text 26"/>
          <p:cNvSpPr/>
          <p:nvPr/>
        </p:nvSpPr>
        <p:spPr>
          <a:xfrm>
            <a:off x="7955280" y="2523744"/>
            <a:ext cx="1700784" cy="310896"/>
          </a:xfrm>
          <a:prstGeom prst="rect">
            <a:avLst/>
          </a:prstGeom>
          <a:noFill/>
          <a:ln/>
        </p:spPr>
        <p:txBody>
          <a:bodyPr wrap="square" lIns="0" tIns="0" rIns="0" bIns="0" rtlCol="0" anchor="t"/>
          <a:lstStyle/>
          <a:p>
            <a:pPr marL="0" indent="0" algn="ctr">
              <a:lnSpc>
                <a:spcPct val="106000"/>
              </a:lnSpc>
              <a:buNone/>
            </a:pPr>
            <a:r>
              <a:rPr lang="en-US" sz="1350" b="1" dirty="0">
                <a:solidFill>
                  <a:srgbClr val="16212E"/>
                </a:solidFill>
                <a:latin typeface="Calibri" pitchFamily="34" charset="0"/>
                <a:ea typeface="Calibri" pitchFamily="34" charset="-122"/>
                <a:cs typeface="Calibri" pitchFamily="34" charset="-120"/>
              </a:rPr>
              <a:t>GCM mode</a:t>
            </a:r>
            <a:endParaRPr lang="en-US" sz="1350" dirty="0"/>
          </a:p>
        </p:txBody>
      </p:sp>
      <p:sp>
        <p:nvSpPr>
          <p:cNvPr id="29" name="Text 27"/>
          <p:cNvSpPr/>
          <p:nvPr/>
        </p:nvSpPr>
        <p:spPr>
          <a:xfrm>
            <a:off x="7955280" y="2889504"/>
            <a:ext cx="1700784" cy="1371600"/>
          </a:xfrm>
          <a:prstGeom prst="rect">
            <a:avLst/>
          </a:prstGeom>
          <a:noFill/>
          <a:ln/>
        </p:spPr>
        <p:txBody>
          <a:bodyPr wrap="square" lIns="0" tIns="0" rIns="0" bIns="0" rtlCol="0" anchor="t"/>
          <a:lstStyle/>
          <a:p>
            <a:pPr marL="0" indent="0" algn="ctr">
              <a:lnSpc>
                <a:spcPct val="115000"/>
              </a:lnSpc>
              <a:buNone/>
            </a:pPr>
            <a:r>
              <a:rPr lang="en-US" sz="1100" dirty="0">
                <a:solidFill>
                  <a:srgbClr val="3D4C5A"/>
                </a:solidFill>
                <a:latin typeface="Calibri" pitchFamily="34" charset="0"/>
                <a:ea typeface="Calibri" pitchFamily="34" charset="-122"/>
                <a:cs typeface="Calibri" pitchFamily="34" charset="-120"/>
              </a:rPr>
              <a:t>NIST SP 800-38D adds authentication to AES, in one pass, with hardware support.</a:t>
            </a:r>
            <a:endParaRPr lang="en-US" sz="1100" dirty="0"/>
          </a:p>
        </p:txBody>
      </p:sp>
      <p:sp>
        <p:nvSpPr>
          <p:cNvPr id="30" name="Shape 28"/>
          <p:cNvSpPr/>
          <p:nvPr/>
        </p:nvSpPr>
        <p:spPr>
          <a:xfrm>
            <a:off x="10433304" y="1920240"/>
            <a:ext cx="438912" cy="438912"/>
          </a:xfrm>
          <a:prstGeom prst="ellipse">
            <a:avLst/>
          </a:prstGeom>
          <a:solidFill>
            <a:srgbClr val="E8A033"/>
          </a:solidFill>
          <a:ln w="6350">
            <a:solidFill>
              <a:srgbClr val="E8A033"/>
            </a:solidFill>
            <a:prstDash val="solid"/>
          </a:ln>
        </p:spPr>
        <p:txBody>
          <a:bodyPr/>
          <a:lstStyle/>
          <a:p>
            <a:endParaRPr lang="en-US"/>
          </a:p>
        </p:txBody>
      </p:sp>
      <p:sp>
        <p:nvSpPr>
          <p:cNvPr id="31" name="Text 29"/>
          <p:cNvSpPr/>
          <p:nvPr/>
        </p:nvSpPr>
        <p:spPr>
          <a:xfrm>
            <a:off x="10433304" y="1920240"/>
            <a:ext cx="438912" cy="438912"/>
          </a:xfrm>
          <a:prstGeom prst="rect">
            <a:avLst/>
          </a:prstGeom>
          <a:noFill/>
          <a:ln/>
        </p:spPr>
        <p:txBody>
          <a:bodyPr wrap="square" lIns="0" tIns="0" rIns="0" bIns="0" rtlCol="0" anchor="ctr"/>
          <a:lstStyle/>
          <a:p>
            <a:pPr marL="0" indent="0" algn="ctr">
              <a:buNone/>
            </a:pPr>
            <a:endParaRPr lang="en-US" sz="1000" dirty="0"/>
          </a:p>
        </p:txBody>
      </p:sp>
      <p:sp>
        <p:nvSpPr>
          <p:cNvPr id="32" name="Text 30"/>
          <p:cNvSpPr/>
          <p:nvPr/>
        </p:nvSpPr>
        <p:spPr>
          <a:xfrm>
            <a:off x="9802368" y="1481328"/>
            <a:ext cx="1700784" cy="274320"/>
          </a:xfrm>
          <a:prstGeom prst="rect">
            <a:avLst/>
          </a:prstGeom>
          <a:noFill/>
          <a:ln/>
        </p:spPr>
        <p:txBody>
          <a:bodyPr wrap="square" lIns="0" tIns="0" rIns="0" bIns="0" rtlCol="0" anchor="t"/>
          <a:lstStyle/>
          <a:p>
            <a:pPr marL="0" indent="0" algn="ctr">
              <a:lnSpc>
                <a:spcPct val="106000"/>
              </a:lnSpc>
              <a:buNone/>
            </a:pPr>
            <a:r>
              <a:rPr lang="en-US" sz="1400" b="1" dirty="0">
                <a:solidFill>
                  <a:srgbClr val="A3701A"/>
                </a:solidFill>
                <a:latin typeface="Calibri" pitchFamily="34" charset="0"/>
                <a:ea typeface="Calibri" pitchFamily="34" charset="-122"/>
                <a:cs typeface="Calibri" pitchFamily="34" charset="-120"/>
              </a:rPr>
              <a:t>Now</a:t>
            </a:r>
            <a:endParaRPr lang="en-US" sz="1400" dirty="0"/>
          </a:p>
        </p:txBody>
      </p:sp>
      <p:sp>
        <p:nvSpPr>
          <p:cNvPr id="33" name="Text 31"/>
          <p:cNvSpPr/>
          <p:nvPr/>
        </p:nvSpPr>
        <p:spPr>
          <a:xfrm>
            <a:off x="9802368" y="2523744"/>
            <a:ext cx="1700784" cy="310896"/>
          </a:xfrm>
          <a:prstGeom prst="rect">
            <a:avLst/>
          </a:prstGeom>
          <a:noFill/>
          <a:ln/>
        </p:spPr>
        <p:txBody>
          <a:bodyPr wrap="square" lIns="0" tIns="0" rIns="0" bIns="0" rtlCol="0" anchor="t"/>
          <a:lstStyle/>
          <a:p>
            <a:pPr marL="0" indent="0" algn="ctr">
              <a:lnSpc>
                <a:spcPct val="106000"/>
              </a:lnSpc>
              <a:buNone/>
            </a:pPr>
            <a:r>
              <a:rPr lang="en-US" sz="1350" b="1" dirty="0">
                <a:solidFill>
                  <a:srgbClr val="16212E"/>
                </a:solidFill>
                <a:latin typeface="Calibri" pitchFamily="34" charset="0"/>
                <a:ea typeface="Calibri" pitchFamily="34" charset="-122"/>
                <a:cs typeface="Calibri" pitchFamily="34" charset="-120"/>
              </a:rPr>
              <a:t>CBC retires</a:t>
            </a:r>
            <a:endParaRPr lang="en-US" sz="1350" dirty="0"/>
          </a:p>
        </p:txBody>
      </p:sp>
      <p:sp>
        <p:nvSpPr>
          <p:cNvPr id="34" name="Text 32"/>
          <p:cNvSpPr/>
          <p:nvPr/>
        </p:nvSpPr>
        <p:spPr>
          <a:xfrm>
            <a:off x="9802368" y="2889504"/>
            <a:ext cx="1700784" cy="1371600"/>
          </a:xfrm>
          <a:prstGeom prst="rect">
            <a:avLst/>
          </a:prstGeom>
          <a:noFill/>
          <a:ln/>
        </p:spPr>
        <p:txBody>
          <a:bodyPr wrap="square" lIns="0" tIns="0" rIns="0" bIns="0" rtlCol="0" anchor="t"/>
          <a:lstStyle/>
          <a:p>
            <a:pPr marL="0" indent="0" algn="ctr">
              <a:lnSpc>
                <a:spcPct val="115000"/>
              </a:lnSpc>
              <a:buNone/>
            </a:pPr>
            <a:r>
              <a:rPr lang="en-US" sz="1100" dirty="0">
                <a:solidFill>
                  <a:srgbClr val="3D4C5A"/>
                </a:solidFill>
                <a:latin typeface="Calibri" pitchFamily="34" charset="0"/>
                <a:ea typeface="Calibri" pitchFamily="34" charset="-122"/>
                <a:cs typeface="Calibri" pitchFamily="34" charset="-120"/>
              </a:rPr>
              <a:t>TLS 1.3 dropped CBC entirely. Compliance regimes are following. Hence this session.</a:t>
            </a:r>
            <a:endParaRPr lang="en-US" sz="1100" dirty="0"/>
          </a:p>
        </p:txBody>
      </p:sp>
      <p:sp>
        <p:nvSpPr>
          <p:cNvPr id="35" name="Shape 33"/>
          <p:cNvSpPr/>
          <p:nvPr/>
        </p:nvSpPr>
        <p:spPr>
          <a:xfrm>
            <a:off x="566928" y="4480560"/>
            <a:ext cx="11057839" cy="1481328"/>
          </a:xfrm>
          <a:prstGeom prst="roundRect">
            <a:avLst>
              <a:gd name="adj" fmla="val 3704"/>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36" name="Text 34"/>
          <p:cNvSpPr/>
          <p:nvPr/>
        </p:nvSpPr>
        <p:spPr>
          <a:xfrm>
            <a:off x="969264" y="4700016"/>
            <a:ext cx="5852160" cy="310896"/>
          </a:xfrm>
          <a:prstGeom prst="rect">
            <a:avLst/>
          </a:prstGeom>
          <a:noFill/>
          <a:ln/>
        </p:spPr>
        <p:txBody>
          <a:bodyPr wrap="square" lIns="0" tIns="0" rIns="0" bIns="0" rtlCol="0" anchor="t"/>
          <a:lstStyle/>
          <a:p>
            <a:pPr marL="0" indent="0" algn="l">
              <a:lnSpc>
                <a:spcPct val="106000"/>
              </a:lnSpc>
              <a:buNone/>
            </a:pPr>
            <a:r>
              <a:rPr lang="en-US" sz="1600" b="1" dirty="0">
                <a:solidFill>
                  <a:srgbClr val="16212E"/>
                </a:solidFill>
                <a:latin typeface="Calibri" pitchFamily="34" charset="0"/>
                <a:ea typeface="Calibri" pitchFamily="34" charset="-122"/>
                <a:cs typeface="Calibri" pitchFamily="34" charset="-120"/>
              </a:rPr>
              <a:t>The takeaway for everyone in the room</a:t>
            </a:r>
            <a:endParaRPr lang="en-US" sz="1600" dirty="0"/>
          </a:p>
        </p:txBody>
      </p:sp>
      <p:sp>
        <p:nvSpPr>
          <p:cNvPr id="37" name="Text 35"/>
          <p:cNvSpPr/>
          <p:nvPr/>
        </p:nvSpPr>
        <p:spPr>
          <a:xfrm>
            <a:off x="969264" y="5084064"/>
            <a:ext cx="10234879" cy="731520"/>
          </a:xfrm>
          <a:prstGeom prst="rect">
            <a:avLst/>
          </a:prstGeom>
          <a:noFill/>
          <a:ln/>
        </p:spPr>
        <p:txBody>
          <a:bodyPr wrap="square" lIns="0" tIns="0" rIns="0" bIns="0" rtlCol="0" anchor="t"/>
          <a:lstStyle/>
          <a:p>
            <a:pPr marL="0" indent="0" algn="l">
              <a:lnSpc>
                <a:spcPct val="118000"/>
              </a:lnSpc>
              <a:buNone/>
            </a:pPr>
            <a:r>
              <a:rPr lang="en-US" sz="1350" dirty="0">
                <a:solidFill>
                  <a:srgbClr val="3D4C5A"/>
                </a:solidFill>
                <a:latin typeface="Calibri" pitchFamily="34" charset="0"/>
                <a:ea typeface="Calibri" pitchFamily="34" charset="-122"/>
                <a:cs typeface="Calibri" pitchFamily="34" charset="-120"/>
              </a:rPr>
              <a:t>Nothing was "hacked" last week. Standards retire on a timetable, years before anything actually breaks — that is the point of retiring them. AES-128-CBC is not on fire. It is simply the generation we are now scheduled to leave, exactly as DES and 3DES were before it.</a:t>
            </a:r>
            <a:endParaRPr lang="en-US" sz="1350" dirty="0"/>
          </a:p>
        </p:txBody>
      </p:sp>
      <p:sp>
        <p:nvSpPr>
          <p:cNvPr id="38" name="Text 36"/>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1 · The idea</a:t>
            </a:r>
            <a:endParaRPr lang="en-US" sz="950" dirty="0"/>
          </a:p>
        </p:txBody>
      </p:sp>
      <p:sp>
        <p:nvSpPr>
          <p:cNvPr id="39" name="Text 37"/>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CONCEPT 4 OF 5</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The cast of characters</a:t>
            </a:r>
            <a:endParaRPr lang="en-US" sz="3100" dirty="0"/>
          </a:p>
        </p:txBody>
      </p:sp>
      <p:sp>
        <p:nvSpPr>
          <p:cNvPr id="4" name="Text 2"/>
          <p:cNvSpPr/>
          <p:nvPr/>
        </p:nvSpPr>
        <p:spPr>
          <a:xfrm>
            <a:off x="566928" y="1298448"/>
            <a:ext cx="11057839" cy="365760"/>
          </a:xfrm>
          <a:prstGeom prst="rect">
            <a:avLst/>
          </a:prstGeom>
          <a:noFill/>
          <a:ln/>
        </p:spPr>
        <p:txBody>
          <a:bodyPr wrap="square" lIns="0" tIns="0" rIns="0" bIns="0" rtlCol="0" anchor="ctr"/>
          <a:lstStyle/>
          <a:p>
            <a:pPr marL="0" indent="0">
              <a:lnSpc>
                <a:spcPct val="105000"/>
              </a:lnSpc>
              <a:buNone/>
            </a:pPr>
            <a:r>
              <a:rPr lang="en-US" sz="1450" dirty="0">
                <a:solidFill>
                  <a:srgbClr val="7A8894"/>
                </a:solidFill>
                <a:latin typeface="Calibri" pitchFamily="34" charset="0"/>
                <a:ea typeface="Calibri" pitchFamily="34" charset="-122"/>
                <a:cs typeface="Calibri" pitchFamily="34" charset="-120"/>
              </a:rPr>
              <a:t>Six words you will hear all day. Each one: what it is, whether it is secret, and what breaks when it is wrong.</a:t>
            </a:r>
            <a:endParaRPr lang="en-US" sz="1450" dirty="0"/>
          </a:p>
        </p:txBody>
      </p:sp>
      <p:sp>
        <p:nvSpPr>
          <p:cNvPr id="5" name="Shape 3"/>
          <p:cNvSpPr/>
          <p:nvPr/>
        </p:nvSpPr>
        <p:spPr>
          <a:xfrm>
            <a:off x="566928" y="1883664"/>
            <a:ext cx="3502152" cy="1773936"/>
          </a:xfrm>
          <a:prstGeom prst="roundRect">
            <a:avLst>
              <a:gd name="adj" fmla="val 3093"/>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6" name="Text 4"/>
          <p:cNvSpPr/>
          <p:nvPr/>
        </p:nvSpPr>
        <p:spPr>
          <a:xfrm>
            <a:off x="822960" y="2066544"/>
            <a:ext cx="2990088" cy="274320"/>
          </a:xfrm>
          <a:prstGeom prst="rect">
            <a:avLst/>
          </a:prstGeom>
          <a:noFill/>
          <a:ln/>
        </p:spPr>
        <p:txBody>
          <a:bodyPr wrap="square" lIns="0" tIns="0" rIns="0" bIns="0" rtlCol="0" anchor="t"/>
          <a:lstStyle/>
          <a:p>
            <a:pPr marL="0" indent="0" algn="l">
              <a:lnSpc>
                <a:spcPct val="106000"/>
              </a:lnSpc>
              <a:buNone/>
            </a:pPr>
            <a:r>
              <a:rPr lang="en-US" sz="1450" b="1" dirty="0">
                <a:solidFill>
                  <a:srgbClr val="16212E"/>
                </a:solidFill>
                <a:latin typeface="Calibri" pitchFamily="34" charset="0"/>
                <a:ea typeface="Calibri" pitchFamily="34" charset="-122"/>
                <a:cs typeface="Calibri" pitchFamily="34" charset="-120"/>
              </a:rPr>
              <a:t>Key material</a:t>
            </a:r>
            <a:endParaRPr lang="en-US" sz="1450" dirty="0"/>
          </a:p>
        </p:txBody>
      </p:sp>
      <p:sp>
        <p:nvSpPr>
          <p:cNvPr id="7" name="Text 5"/>
          <p:cNvSpPr/>
          <p:nvPr/>
        </p:nvSpPr>
        <p:spPr>
          <a:xfrm>
            <a:off x="822960" y="2359152"/>
            <a:ext cx="2990088" cy="219456"/>
          </a:xfrm>
          <a:prstGeom prst="rect">
            <a:avLst/>
          </a:prstGeom>
          <a:noFill/>
          <a:ln/>
        </p:spPr>
        <p:txBody>
          <a:bodyPr wrap="square" lIns="0" tIns="0" rIns="0" bIns="0" rtlCol="0" anchor="t"/>
          <a:lstStyle/>
          <a:p>
            <a:pPr marL="0" indent="0" algn="l">
              <a:lnSpc>
                <a:spcPct val="106000"/>
              </a:lnSpc>
              <a:buNone/>
            </a:pPr>
            <a:r>
              <a:rPr lang="en-US" sz="950" b="1" dirty="0">
                <a:solidFill>
                  <a:srgbClr val="D0524E"/>
                </a:solidFill>
                <a:latin typeface="Calibri" pitchFamily="34" charset="0"/>
                <a:ea typeface="Calibri" pitchFamily="34" charset="-122"/>
                <a:cs typeface="Calibri" pitchFamily="34" charset="-120"/>
              </a:rPr>
              <a:t>SECRET</a:t>
            </a:r>
            <a:endParaRPr lang="en-US" sz="950" dirty="0"/>
          </a:p>
        </p:txBody>
      </p:sp>
      <p:sp>
        <p:nvSpPr>
          <p:cNvPr id="8" name="Text 6"/>
          <p:cNvSpPr/>
          <p:nvPr/>
        </p:nvSpPr>
        <p:spPr>
          <a:xfrm>
            <a:off x="822960" y="2615184"/>
            <a:ext cx="2990088" cy="658368"/>
          </a:xfrm>
          <a:prstGeom prst="rect">
            <a:avLst/>
          </a:prstGeom>
          <a:noFill/>
          <a:ln/>
        </p:spPr>
        <p:txBody>
          <a:bodyPr wrap="square" lIns="0" tIns="0" rIns="0" bIns="0" rtlCol="0" anchor="t"/>
          <a:lstStyle/>
          <a:p>
            <a:pPr marL="0" indent="0" algn="l">
              <a:lnSpc>
                <a:spcPct val="112000"/>
              </a:lnSpc>
              <a:buNone/>
            </a:pPr>
            <a:r>
              <a:rPr lang="en-US" sz="1150" dirty="0">
                <a:solidFill>
                  <a:srgbClr val="3D4C5A"/>
                </a:solidFill>
                <a:latin typeface="Calibri" pitchFamily="34" charset="0"/>
                <a:ea typeface="Calibri" pitchFamily="34" charset="-122"/>
                <a:cs typeface="Calibri" pitchFamily="34" charset="-120"/>
              </a:rPr>
              <a:t>The master secret in the vault. Never in git, never in a log, never on the wire.</a:t>
            </a:r>
            <a:endParaRPr lang="en-US" sz="1150" dirty="0"/>
          </a:p>
        </p:txBody>
      </p:sp>
      <p:sp>
        <p:nvSpPr>
          <p:cNvPr id="9" name="Text 7"/>
          <p:cNvSpPr/>
          <p:nvPr/>
        </p:nvSpPr>
        <p:spPr>
          <a:xfrm>
            <a:off x="822960" y="3273552"/>
            <a:ext cx="2990088" cy="292608"/>
          </a:xfrm>
          <a:prstGeom prst="rect">
            <a:avLst/>
          </a:prstGeom>
          <a:noFill/>
          <a:ln/>
        </p:spPr>
        <p:txBody>
          <a:bodyPr wrap="square" lIns="0" tIns="0" rIns="0" bIns="0" rtlCol="0" anchor="t"/>
          <a:lstStyle/>
          <a:p>
            <a:pPr marL="0" indent="0" algn="l">
              <a:lnSpc>
                <a:spcPct val="106000"/>
              </a:lnSpc>
              <a:buNone/>
            </a:pPr>
            <a:r>
              <a:rPr lang="en-US" sz="1100" i="1" dirty="0">
                <a:solidFill>
                  <a:srgbClr val="7A8894"/>
                </a:solidFill>
                <a:latin typeface="Calibri" pitchFamily="34" charset="0"/>
                <a:ea typeface="Calibri" pitchFamily="34" charset="-122"/>
                <a:cs typeface="Calibri" pitchFamily="34" charset="-120"/>
              </a:rPr>
              <a:t>If wrong: nothing decrypts at all.</a:t>
            </a:r>
            <a:endParaRPr lang="en-US" sz="1100" dirty="0"/>
          </a:p>
        </p:txBody>
      </p:sp>
      <p:sp>
        <p:nvSpPr>
          <p:cNvPr id="10" name="Shape 8"/>
          <p:cNvSpPr/>
          <p:nvPr/>
        </p:nvSpPr>
        <p:spPr>
          <a:xfrm>
            <a:off x="4361688" y="1883664"/>
            <a:ext cx="3502152" cy="1773936"/>
          </a:xfrm>
          <a:prstGeom prst="roundRect">
            <a:avLst>
              <a:gd name="adj" fmla="val 3093"/>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1" name="Text 9"/>
          <p:cNvSpPr/>
          <p:nvPr/>
        </p:nvSpPr>
        <p:spPr>
          <a:xfrm>
            <a:off x="4617720" y="2066544"/>
            <a:ext cx="2990088" cy="274320"/>
          </a:xfrm>
          <a:prstGeom prst="rect">
            <a:avLst/>
          </a:prstGeom>
          <a:noFill/>
          <a:ln/>
        </p:spPr>
        <p:txBody>
          <a:bodyPr wrap="square" lIns="0" tIns="0" rIns="0" bIns="0" rtlCol="0" anchor="t"/>
          <a:lstStyle/>
          <a:p>
            <a:pPr marL="0" indent="0" algn="l">
              <a:lnSpc>
                <a:spcPct val="106000"/>
              </a:lnSpc>
              <a:buNone/>
            </a:pPr>
            <a:r>
              <a:rPr lang="en-US" sz="1450" b="1" dirty="0">
                <a:solidFill>
                  <a:srgbClr val="16212E"/>
                </a:solidFill>
                <a:latin typeface="Calibri" pitchFamily="34" charset="0"/>
                <a:ea typeface="Calibri" pitchFamily="34" charset="-122"/>
                <a:cs typeface="Calibri" pitchFamily="34" charset="-120"/>
              </a:rPr>
              <a:t>Salt · 16 bytes</a:t>
            </a:r>
            <a:endParaRPr lang="en-US" sz="1450" dirty="0"/>
          </a:p>
        </p:txBody>
      </p:sp>
      <p:sp>
        <p:nvSpPr>
          <p:cNvPr id="12" name="Text 10"/>
          <p:cNvSpPr/>
          <p:nvPr/>
        </p:nvSpPr>
        <p:spPr>
          <a:xfrm>
            <a:off x="4617720" y="2359152"/>
            <a:ext cx="2990088" cy="219456"/>
          </a:xfrm>
          <a:prstGeom prst="rect">
            <a:avLst/>
          </a:prstGeom>
          <a:noFill/>
          <a:ln/>
        </p:spPr>
        <p:txBody>
          <a:bodyPr wrap="square" lIns="0" tIns="0" rIns="0" bIns="0" rtlCol="0" anchor="t"/>
          <a:lstStyle/>
          <a:p>
            <a:pPr marL="0" indent="0" algn="l">
              <a:lnSpc>
                <a:spcPct val="106000"/>
              </a:lnSpc>
              <a:buNone/>
            </a:pPr>
            <a:r>
              <a:rPr lang="en-US" sz="950" b="1" dirty="0">
                <a:solidFill>
                  <a:srgbClr val="2BA88C"/>
                </a:solidFill>
                <a:latin typeface="Calibri" pitchFamily="34" charset="0"/>
                <a:ea typeface="Calibri" pitchFamily="34" charset="-122"/>
                <a:cs typeface="Calibri" pitchFamily="34" charset="-120"/>
              </a:rPr>
              <a:t>PUBLIC</a:t>
            </a:r>
            <a:endParaRPr lang="en-US" sz="950" dirty="0"/>
          </a:p>
        </p:txBody>
      </p:sp>
      <p:sp>
        <p:nvSpPr>
          <p:cNvPr id="13" name="Text 11"/>
          <p:cNvSpPr/>
          <p:nvPr/>
        </p:nvSpPr>
        <p:spPr>
          <a:xfrm>
            <a:off x="4617720" y="2615184"/>
            <a:ext cx="2990088" cy="658368"/>
          </a:xfrm>
          <a:prstGeom prst="rect">
            <a:avLst/>
          </a:prstGeom>
          <a:noFill/>
          <a:ln/>
        </p:spPr>
        <p:txBody>
          <a:bodyPr wrap="square" lIns="0" tIns="0" rIns="0" bIns="0" rtlCol="0" anchor="t"/>
          <a:lstStyle/>
          <a:p>
            <a:pPr marL="0" indent="0" algn="l">
              <a:lnSpc>
                <a:spcPct val="112000"/>
              </a:lnSpc>
              <a:buNone/>
            </a:pPr>
            <a:r>
              <a:rPr lang="en-US" sz="1150" dirty="0">
                <a:solidFill>
                  <a:srgbClr val="3D4C5A"/>
                </a:solidFill>
                <a:latin typeface="Calibri" pitchFamily="34" charset="0"/>
                <a:ea typeface="Calibri" pitchFamily="34" charset="-122"/>
                <a:cs typeface="Calibri" pitchFamily="34" charset="-120"/>
              </a:rPr>
              <a:t>Fresh randomness per message. Mixes with the master secret to make this message's own key.</a:t>
            </a:r>
            <a:endParaRPr lang="en-US" sz="1150" dirty="0"/>
          </a:p>
        </p:txBody>
      </p:sp>
      <p:sp>
        <p:nvSpPr>
          <p:cNvPr id="14" name="Text 12"/>
          <p:cNvSpPr/>
          <p:nvPr/>
        </p:nvSpPr>
        <p:spPr>
          <a:xfrm>
            <a:off x="4617720" y="3273552"/>
            <a:ext cx="2990088" cy="292608"/>
          </a:xfrm>
          <a:prstGeom prst="rect">
            <a:avLst/>
          </a:prstGeom>
          <a:noFill/>
          <a:ln/>
        </p:spPr>
        <p:txBody>
          <a:bodyPr wrap="square" lIns="0" tIns="0" rIns="0" bIns="0" rtlCol="0" anchor="t"/>
          <a:lstStyle/>
          <a:p>
            <a:pPr marL="0" indent="0" algn="l">
              <a:lnSpc>
                <a:spcPct val="106000"/>
              </a:lnSpc>
              <a:buNone/>
            </a:pPr>
            <a:r>
              <a:rPr lang="en-US" sz="1100" i="1" dirty="0">
                <a:solidFill>
                  <a:srgbClr val="7A8894"/>
                </a:solidFill>
                <a:latin typeface="Calibri" pitchFamily="34" charset="0"/>
                <a:ea typeface="Calibri" pitchFamily="34" charset="-122"/>
                <a:cs typeface="Calibri" pitchFamily="34" charset="-120"/>
              </a:rPr>
              <a:t>If reused: messages start sharing a key.</a:t>
            </a:r>
            <a:endParaRPr lang="en-US" sz="1100" dirty="0"/>
          </a:p>
        </p:txBody>
      </p:sp>
      <p:sp>
        <p:nvSpPr>
          <p:cNvPr id="15" name="Shape 13"/>
          <p:cNvSpPr/>
          <p:nvPr/>
        </p:nvSpPr>
        <p:spPr>
          <a:xfrm>
            <a:off x="8156448" y="1883664"/>
            <a:ext cx="3502152" cy="1773936"/>
          </a:xfrm>
          <a:prstGeom prst="roundRect">
            <a:avLst>
              <a:gd name="adj" fmla="val 3093"/>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6" name="Text 14"/>
          <p:cNvSpPr/>
          <p:nvPr/>
        </p:nvSpPr>
        <p:spPr>
          <a:xfrm>
            <a:off x="8412480" y="2066544"/>
            <a:ext cx="2990088" cy="274320"/>
          </a:xfrm>
          <a:prstGeom prst="rect">
            <a:avLst/>
          </a:prstGeom>
          <a:noFill/>
          <a:ln/>
        </p:spPr>
        <p:txBody>
          <a:bodyPr wrap="square" lIns="0" tIns="0" rIns="0" bIns="0" rtlCol="0" anchor="t"/>
          <a:lstStyle/>
          <a:p>
            <a:pPr marL="0" indent="0" algn="l">
              <a:lnSpc>
                <a:spcPct val="106000"/>
              </a:lnSpc>
              <a:buNone/>
            </a:pPr>
            <a:r>
              <a:rPr lang="en-US" sz="1450" b="1" dirty="0">
                <a:solidFill>
                  <a:srgbClr val="16212E"/>
                </a:solidFill>
                <a:latin typeface="Calibri" pitchFamily="34" charset="0"/>
                <a:ea typeface="Calibri" pitchFamily="34" charset="-122"/>
                <a:cs typeface="Calibri" pitchFamily="34" charset="-120"/>
              </a:rPr>
              <a:t>Nonce (IV) · 12 bytes</a:t>
            </a:r>
            <a:endParaRPr lang="en-US" sz="1450" dirty="0"/>
          </a:p>
        </p:txBody>
      </p:sp>
      <p:sp>
        <p:nvSpPr>
          <p:cNvPr id="17" name="Text 15"/>
          <p:cNvSpPr/>
          <p:nvPr/>
        </p:nvSpPr>
        <p:spPr>
          <a:xfrm>
            <a:off x="8412480" y="2359152"/>
            <a:ext cx="2990088" cy="219456"/>
          </a:xfrm>
          <a:prstGeom prst="rect">
            <a:avLst/>
          </a:prstGeom>
          <a:noFill/>
          <a:ln/>
        </p:spPr>
        <p:txBody>
          <a:bodyPr wrap="square" lIns="0" tIns="0" rIns="0" bIns="0" rtlCol="0" anchor="t"/>
          <a:lstStyle/>
          <a:p>
            <a:pPr marL="0" indent="0" algn="l">
              <a:lnSpc>
                <a:spcPct val="106000"/>
              </a:lnSpc>
              <a:buNone/>
            </a:pPr>
            <a:r>
              <a:rPr lang="en-US" sz="950" b="1" dirty="0">
                <a:solidFill>
                  <a:srgbClr val="2BA88C"/>
                </a:solidFill>
                <a:latin typeface="Calibri" pitchFamily="34" charset="0"/>
                <a:ea typeface="Calibri" pitchFamily="34" charset="-122"/>
                <a:cs typeface="Calibri" pitchFamily="34" charset="-120"/>
              </a:rPr>
              <a:t>PUBLIC</a:t>
            </a:r>
            <a:endParaRPr lang="en-US" sz="950" dirty="0"/>
          </a:p>
        </p:txBody>
      </p:sp>
      <p:sp>
        <p:nvSpPr>
          <p:cNvPr id="18" name="Text 16"/>
          <p:cNvSpPr/>
          <p:nvPr/>
        </p:nvSpPr>
        <p:spPr>
          <a:xfrm>
            <a:off x="8412480" y="2615184"/>
            <a:ext cx="2990088" cy="658368"/>
          </a:xfrm>
          <a:prstGeom prst="rect">
            <a:avLst/>
          </a:prstGeom>
          <a:noFill/>
          <a:ln/>
        </p:spPr>
        <p:txBody>
          <a:bodyPr wrap="square" lIns="0" tIns="0" rIns="0" bIns="0" rtlCol="0" anchor="t"/>
          <a:lstStyle/>
          <a:p>
            <a:pPr marL="0" indent="0" algn="l">
              <a:lnSpc>
                <a:spcPct val="112000"/>
              </a:lnSpc>
              <a:buNone/>
            </a:pPr>
            <a:r>
              <a:rPr lang="en-US" sz="1150" dirty="0">
                <a:solidFill>
                  <a:srgbClr val="3D4C5A"/>
                </a:solidFill>
                <a:latin typeface="Calibri" pitchFamily="34" charset="0"/>
                <a:ea typeface="Calibri" pitchFamily="34" charset="-122"/>
                <a:cs typeface="Calibri" pitchFamily="34" charset="-120"/>
              </a:rPr>
              <a:t>"Number used once." Makes two identical payloads encrypt to different ciphertext.</a:t>
            </a:r>
            <a:endParaRPr lang="en-US" sz="1150" dirty="0"/>
          </a:p>
        </p:txBody>
      </p:sp>
      <p:sp>
        <p:nvSpPr>
          <p:cNvPr id="19" name="Text 17"/>
          <p:cNvSpPr/>
          <p:nvPr/>
        </p:nvSpPr>
        <p:spPr>
          <a:xfrm>
            <a:off x="8412480" y="3273552"/>
            <a:ext cx="2990088" cy="292608"/>
          </a:xfrm>
          <a:prstGeom prst="rect">
            <a:avLst/>
          </a:prstGeom>
          <a:noFill/>
          <a:ln/>
        </p:spPr>
        <p:txBody>
          <a:bodyPr wrap="square" lIns="0" tIns="0" rIns="0" bIns="0" rtlCol="0" anchor="t"/>
          <a:lstStyle/>
          <a:p>
            <a:pPr marL="0" indent="0" algn="l">
              <a:lnSpc>
                <a:spcPct val="106000"/>
              </a:lnSpc>
              <a:buNone/>
            </a:pPr>
            <a:r>
              <a:rPr lang="en-US" sz="1100" i="1" dirty="0">
                <a:solidFill>
                  <a:srgbClr val="7A8894"/>
                </a:solidFill>
                <a:latin typeface="Calibri" pitchFamily="34" charset="0"/>
                <a:ea typeface="Calibri" pitchFamily="34" charset="-122"/>
                <a:cs typeface="Calibri" pitchFamily="34" charset="-120"/>
              </a:rPr>
              <a:t>If repeated under one key: catastrophic.</a:t>
            </a:r>
            <a:endParaRPr lang="en-US" sz="1100" dirty="0"/>
          </a:p>
        </p:txBody>
      </p:sp>
      <p:sp>
        <p:nvSpPr>
          <p:cNvPr id="20" name="Shape 18"/>
          <p:cNvSpPr/>
          <p:nvPr/>
        </p:nvSpPr>
        <p:spPr>
          <a:xfrm>
            <a:off x="566928" y="3895344"/>
            <a:ext cx="3502152" cy="1773936"/>
          </a:xfrm>
          <a:prstGeom prst="roundRect">
            <a:avLst>
              <a:gd name="adj" fmla="val 3093"/>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21" name="Text 19"/>
          <p:cNvSpPr/>
          <p:nvPr/>
        </p:nvSpPr>
        <p:spPr>
          <a:xfrm>
            <a:off x="822960" y="4078224"/>
            <a:ext cx="2990088" cy="274320"/>
          </a:xfrm>
          <a:prstGeom prst="rect">
            <a:avLst/>
          </a:prstGeom>
          <a:noFill/>
          <a:ln/>
        </p:spPr>
        <p:txBody>
          <a:bodyPr wrap="square" lIns="0" tIns="0" rIns="0" bIns="0" rtlCol="0" anchor="t"/>
          <a:lstStyle/>
          <a:p>
            <a:pPr marL="0" indent="0" algn="l">
              <a:lnSpc>
                <a:spcPct val="106000"/>
              </a:lnSpc>
              <a:buNone/>
            </a:pPr>
            <a:r>
              <a:rPr lang="en-US" sz="1450" b="1" dirty="0">
                <a:solidFill>
                  <a:srgbClr val="16212E"/>
                </a:solidFill>
                <a:latin typeface="Calibri" pitchFamily="34" charset="0"/>
                <a:ea typeface="Calibri" pitchFamily="34" charset="-122"/>
                <a:cs typeface="Calibri" pitchFamily="34" charset="-120"/>
              </a:rPr>
              <a:t>Derived key · 32 bytes</a:t>
            </a:r>
            <a:endParaRPr lang="en-US" sz="1450" dirty="0"/>
          </a:p>
        </p:txBody>
      </p:sp>
      <p:sp>
        <p:nvSpPr>
          <p:cNvPr id="22" name="Text 20"/>
          <p:cNvSpPr/>
          <p:nvPr/>
        </p:nvSpPr>
        <p:spPr>
          <a:xfrm>
            <a:off x="822960" y="4370832"/>
            <a:ext cx="2990088" cy="219456"/>
          </a:xfrm>
          <a:prstGeom prst="rect">
            <a:avLst/>
          </a:prstGeom>
          <a:noFill/>
          <a:ln/>
        </p:spPr>
        <p:txBody>
          <a:bodyPr wrap="square" lIns="0" tIns="0" rIns="0" bIns="0" rtlCol="0" anchor="t"/>
          <a:lstStyle/>
          <a:p>
            <a:pPr marL="0" indent="0" algn="l">
              <a:lnSpc>
                <a:spcPct val="106000"/>
              </a:lnSpc>
              <a:buNone/>
            </a:pPr>
            <a:r>
              <a:rPr lang="en-US" sz="950" b="1" dirty="0">
                <a:solidFill>
                  <a:srgbClr val="D0524E"/>
                </a:solidFill>
                <a:latin typeface="Calibri" pitchFamily="34" charset="0"/>
                <a:ea typeface="Calibri" pitchFamily="34" charset="-122"/>
                <a:cs typeface="Calibri" pitchFamily="34" charset="-120"/>
              </a:rPr>
              <a:t>NEVER STORED</a:t>
            </a:r>
            <a:endParaRPr lang="en-US" sz="950" dirty="0"/>
          </a:p>
        </p:txBody>
      </p:sp>
      <p:sp>
        <p:nvSpPr>
          <p:cNvPr id="23" name="Text 21"/>
          <p:cNvSpPr/>
          <p:nvPr/>
        </p:nvSpPr>
        <p:spPr>
          <a:xfrm>
            <a:off x="822960" y="4626864"/>
            <a:ext cx="2990088" cy="658368"/>
          </a:xfrm>
          <a:prstGeom prst="rect">
            <a:avLst/>
          </a:prstGeom>
          <a:noFill/>
          <a:ln/>
        </p:spPr>
        <p:txBody>
          <a:bodyPr wrap="square" lIns="0" tIns="0" rIns="0" bIns="0" rtlCol="0" anchor="t"/>
          <a:lstStyle/>
          <a:p>
            <a:pPr marL="0" indent="0" algn="l">
              <a:lnSpc>
                <a:spcPct val="112000"/>
              </a:lnSpc>
              <a:buNone/>
            </a:pPr>
            <a:r>
              <a:rPr lang="en-US" sz="1150" dirty="0">
                <a:solidFill>
                  <a:srgbClr val="3D4C5A"/>
                </a:solidFill>
                <a:latin typeface="Calibri" pitchFamily="34" charset="0"/>
                <a:ea typeface="Calibri" pitchFamily="34" charset="-122"/>
                <a:cs typeface="Calibri" pitchFamily="34" charset="-120"/>
              </a:rPr>
              <a:t>The actual AES-256 key. Computed from master + salt on both sides, then discarded.</a:t>
            </a:r>
            <a:endParaRPr lang="en-US" sz="1150" dirty="0"/>
          </a:p>
        </p:txBody>
      </p:sp>
      <p:sp>
        <p:nvSpPr>
          <p:cNvPr id="24" name="Text 22"/>
          <p:cNvSpPr/>
          <p:nvPr/>
        </p:nvSpPr>
        <p:spPr>
          <a:xfrm>
            <a:off x="822960" y="5285232"/>
            <a:ext cx="2990088" cy="292608"/>
          </a:xfrm>
          <a:prstGeom prst="rect">
            <a:avLst/>
          </a:prstGeom>
          <a:noFill/>
          <a:ln/>
        </p:spPr>
        <p:txBody>
          <a:bodyPr wrap="square" lIns="0" tIns="0" rIns="0" bIns="0" rtlCol="0" anchor="t"/>
          <a:lstStyle/>
          <a:p>
            <a:pPr marL="0" indent="0" algn="l">
              <a:lnSpc>
                <a:spcPct val="106000"/>
              </a:lnSpc>
              <a:buNone/>
            </a:pPr>
            <a:r>
              <a:rPr lang="en-US" sz="1100" i="1" dirty="0">
                <a:solidFill>
                  <a:srgbClr val="7A8894"/>
                </a:solidFill>
                <a:latin typeface="Calibri" pitchFamily="34" charset="0"/>
                <a:ea typeface="Calibri" pitchFamily="34" charset="-122"/>
                <a:cs typeface="Calibri" pitchFamily="34" charset="-120"/>
              </a:rPr>
              <a:t>Never travels. Both sides recompute it.</a:t>
            </a:r>
            <a:endParaRPr lang="en-US" sz="1100" dirty="0"/>
          </a:p>
        </p:txBody>
      </p:sp>
      <p:sp>
        <p:nvSpPr>
          <p:cNvPr id="25" name="Shape 23"/>
          <p:cNvSpPr/>
          <p:nvPr/>
        </p:nvSpPr>
        <p:spPr>
          <a:xfrm>
            <a:off x="4361688" y="3895344"/>
            <a:ext cx="3502152" cy="1773936"/>
          </a:xfrm>
          <a:prstGeom prst="roundRect">
            <a:avLst>
              <a:gd name="adj" fmla="val 3093"/>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26" name="Text 24"/>
          <p:cNvSpPr/>
          <p:nvPr/>
        </p:nvSpPr>
        <p:spPr>
          <a:xfrm>
            <a:off x="4617720" y="4078224"/>
            <a:ext cx="2990088" cy="274320"/>
          </a:xfrm>
          <a:prstGeom prst="rect">
            <a:avLst/>
          </a:prstGeom>
          <a:noFill/>
          <a:ln/>
        </p:spPr>
        <p:txBody>
          <a:bodyPr wrap="square" lIns="0" tIns="0" rIns="0" bIns="0" rtlCol="0" anchor="t"/>
          <a:lstStyle/>
          <a:p>
            <a:pPr marL="0" indent="0" algn="l">
              <a:lnSpc>
                <a:spcPct val="106000"/>
              </a:lnSpc>
              <a:buNone/>
            </a:pPr>
            <a:r>
              <a:rPr lang="en-US" sz="1450" b="1" dirty="0">
                <a:solidFill>
                  <a:srgbClr val="16212E"/>
                </a:solidFill>
                <a:latin typeface="Calibri" pitchFamily="34" charset="0"/>
                <a:ea typeface="Calibri" pitchFamily="34" charset="-122"/>
                <a:cs typeface="Calibri" pitchFamily="34" charset="-120"/>
              </a:rPr>
              <a:t>Tag · 16 bytes</a:t>
            </a:r>
            <a:endParaRPr lang="en-US" sz="1450" dirty="0"/>
          </a:p>
        </p:txBody>
      </p:sp>
      <p:sp>
        <p:nvSpPr>
          <p:cNvPr id="27" name="Text 25"/>
          <p:cNvSpPr/>
          <p:nvPr/>
        </p:nvSpPr>
        <p:spPr>
          <a:xfrm>
            <a:off x="4617720" y="4370832"/>
            <a:ext cx="2990088" cy="219456"/>
          </a:xfrm>
          <a:prstGeom prst="rect">
            <a:avLst/>
          </a:prstGeom>
          <a:noFill/>
          <a:ln/>
        </p:spPr>
        <p:txBody>
          <a:bodyPr wrap="square" lIns="0" tIns="0" rIns="0" bIns="0" rtlCol="0" anchor="t"/>
          <a:lstStyle/>
          <a:p>
            <a:pPr marL="0" indent="0" algn="l">
              <a:lnSpc>
                <a:spcPct val="106000"/>
              </a:lnSpc>
              <a:buNone/>
            </a:pPr>
            <a:r>
              <a:rPr lang="en-US" sz="950" b="1" dirty="0">
                <a:solidFill>
                  <a:srgbClr val="2BA88C"/>
                </a:solidFill>
                <a:latin typeface="Calibri" pitchFamily="34" charset="0"/>
                <a:ea typeface="Calibri" pitchFamily="34" charset="-122"/>
                <a:cs typeface="Calibri" pitchFamily="34" charset="-120"/>
              </a:rPr>
              <a:t>PUBLIC</a:t>
            </a:r>
            <a:endParaRPr lang="en-US" sz="950" dirty="0"/>
          </a:p>
        </p:txBody>
      </p:sp>
      <p:sp>
        <p:nvSpPr>
          <p:cNvPr id="28" name="Text 26"/>
          <p:cNvSpPr/>
          <p:nvPr/>
        </p:nvSpPr>
        <p:spPr>
          <a:xfrm>
            <a:off x="4617720" y="4626864"/>
            <a:ext cx="2990088" cy="658368"/>
          </a:xfrm>
          <a:prstGeom prst="rect">
            <a:avLst/>
          </a:prstGeom>
          <a:noFill/>
          <a:ln/>
        </p:spPr>
        <p:txBody>
          <a:bodyPr wrap="square" lIns="0" tIns="0" rIns="0" bIns="0" rtlCol="0" anchor="t"/>
          <a:lstStyle/>
          <a:p>
            <a:pPr marL="0" indent="0" algn="l">
              <a:lnSpc>
                <a:spcPct val="112000"/>
              </a:lnSpc>
              <a:buNone/>
            </a:pPr>
            <a:r>
              <a:rPr lang="en-US" sz="1150" dirty="0">
                <a:solidFill>
                  <a:srgbClr val="3D4C5A"/>
                </a:solidFill>
                <a:latin typeface="Calibri" pitchFamily="34" charset="0"/>
                <a:ea typeface="Calibri" pitchFamily="34" charset="-122"/>
                <a:cs typeface="Calibri" pitchFamily="34" charset="-120"/>
              </a:rPr>
              <a:t>The tamper-evident seal GCM produces. Checked before a single byte of plaintext is returned.</a:t>
            </a:r>
            <a:endParaRPr lang="en-US" sz="1150" dirty="0"/>
          </a:p>
        </p:txBody>
      </p:sp>
      <p:sp>
        <p:nvSpPr>
          <p:cNvPr id="29" name="Text 27"/>
          <p:cNvSpPr/>
          <p:nvPr/>
        </p:nvSpPr>
        <p:spPr>
          <a:xfrm>
            <a:off x="4617720" y="5285232"/>
            <a:ext cx="2990088" cy="292608"/>
          </a:xfrm>
          <a:prstGeom prst="rect">
            <a:avLst/>
          </a:prstGeom>
          <a:noFill/>
          <a:ln/>
        </p:spPr>
        <p:txBody>
          <a:bodyPr wrap="square" lIns="0" tIns="0" rIns="0" bIns="0" rtlCol="0" anchor="t"/>
          <a:lstStyle/>
          <a:p>
            <a:pPr marL="0" indent="0" algn="l">
              <a:lnSpc>
                <a:spcPct val="106000"/>
              </a:lnSpc>
              <a:buNone/>
            </a:pPr>
            <a:r>
              <a:rPr lang="en-US" sz="1100" i="1" dirty="0">
                <a:solidFill>
                  <a:srgbClr val="7A8894"/>
                </a:solidFill>
                <a:latin typeface="Calibri" pitchFamily="34" charset="0"/>
                <a:ea typeface="Calibri" pitchFamily="34" charset="-122"/>
                <a:cs typeface="Calibri" pitchFamily="34" charset="-120"/>
              </a:rPr>
              <a:t>If mismatched: hard error, no output.</a:t>
            </a:r>
            <a:endParaRPr lang="en-US" sz="1100" dirty="0"/>
          </a:p>
        </p:txBody>
      </p:sp>
      <p:sp>
        <p:nvSpPr>
          <p:cNvPr id="30" name="Shape 28"/>
          <p:cNvSpPr/>
          <p:nvPr/>
        </p:nvSpPr>
        <p:spPr>
          <a:xfrm>
            <a:off x="8156448" y="3895344"/>
            <a:ext cx="3502152" cy="1773936"/>
          </a:xfrm>
          <a:prstGeom prst="roundRect">
            <a:avLst>
              <a:gd name="adj" fmla="val 3093"/>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31" name="Text 29"/>
          <p:cNvSpPr/>
          <p:nvPr/>
        </p:nvSpPr>
        <p:spPr>
          <a:xfrm>
            <a:off x="8412480" y="4078224"/>
            <a:ext cx="2990088" cy="274320"/>
          </a:xfrm>
          <a:prstGeom prst="rect">
            <a:avLst/>
          </a:prstGeom>
          <a:noFill/>
          <a:ln/>
        </p:spPr>
        <p:txBody>
          <a:bodyPr wrap="square" lIns="0" tIns="0" rIns="0" bIns="0" rtlCol="0" anchor="t"/>
          <a:lstStyle/>
          <a:p>
            <a:pPr marL="0" indent="0" algn="l">
              <a:lnSpc>
                <a:spcPct val="106000"/>
              </a:lnSpc>
              <a:buNone/>
            </a:pPr>
            <a:r>
              <a:rPr lang="en-US" sz="1450" b="1" dirty="0">
                <a:solidFill>
                  <a:srgbClr val="16212E"/>
                </a:solidFill>
                <a:latin typeface="Calibri" pitchFamily="34" charset="0"/>
                <a:ea typeface="Calibri" pitchFamily="34" charset="-122"/>
                <a:cs typeface="Calibri" pitchFamily="34" charset="-120"/>
              </a:rPr>
              <a:t>Ciphertext</a:t>
            </a:r>
            <a:endParaRPr lang="en-US" sz="1450" dirty="0"/>
          </a:p>
        </p:txBody>
      </p:sp>
      <p:sp>
        <p:nvSpPr>
          <p:cNvPr id="32" name="Text 30"/>
          <p:cNvSpPr/>
          <p:nvPr/>
        </p:nvSpPr>
        <p:spPr>
          <a:xfrm>
            <a:off x="8412480" y="4370832"/>
            <a:ext cx="2990088" cy="219456"/>
          </a:xfrm>
          <a:prstGeom prst="rect">
            <a:avLst/>
          </a:prstGeom>
          <a:noFill/>
          <a:ln/>
        </p:spPr>
        <p:txBody>
          <a:bodyPr wrap="square" lIns="0" tIns="0" rIns="0" bIns="0" rtlCol="0" anchor="t"/>
          <a:lstStyle/>
          <a:p>
            <a:pPr marL="0" indent="0" algn="l">
              <a:lnSpc>
                <a:spcPct val="106000"/>
              </a:lnSpc>
              <a:buNone/>
            </a:pPr>
            <a:r>
              <a:rPr lang="en-US" sz="950" b="1" dirty="0">
                <a:solidFill>
                  <a:srgbClr val="2C3E50"/>
                </a:solidFill>
                <a:latin typeface="Calibri" pitchFamily="34" charset="0"/>
                <a:ea typeface="Calibri" pitchFamily="34" charset="-122"/>
                <a:cs typeface="Calibri" pitchFamily="34" charset="-120"/>
              </a:rPr>
              <a:t>THE PAYLOAD</a:t>
            </a:r>
            <a:endParaRPr lang="en-US" sz="950" dirty="0"/>
          </a:p>
        </p:txBody>
      </p:sp>
      <p:sp>
        <p:nvSpPr>
          <p:cNvPr id="33" name="Text 31"/>
          <p:cNvSpPr/>
          <p:nvPr/>
        </p:nvSpPr>
        <p:spPr>
          <a:xfrm>
            <a:off x="8412480" y="4626864"/>
            <a:ext cx="2990088" cy="658368"/>
          </a:xfrm>
          <a:prstGeom prst="rect">
            <a:avLst/>
          </a:prstGeom>
          <a:noFill/>
          <a:ln/>
        </p:spPr>
        <p:txBody>
          <a:bodyPr wrap="square" lIns="0" tIns="0" rIns="0" bIns="0" rtlCol="0" anchor="t"/>
          <a:lstStyle/>
          <a:p>
            <a:pPr marL="0" indent="0" algn="l">
              <a:lnSpc>
                <a:spcPct val="112000"/>
              </a:lnSpc>
              <a:buNone/>
            </a:pPr>
            <a:r>
              <a:rPr lang="en-US" sz="1150" dirty="0">
                <a:solidFill>
                  <a:srgbClr val="3D4C5A"/>
                </a:solidFill>
                <a:latin typeface="Calibri" pitchFamily="34" charset="0"/>
                <a:ea typeface="Calibri" pitchFamily="34" charset="-122"/>
                <a:cs typeface="Calibri" pitchFamily="34" charset="-120"/>
              </a:rPr>
              <a:t>Your JSON, scrambled. Same length as the original — encryption does not compress.</a:t>
            </a:r>
            <a:endParaRPr lang="en-US" sz="1150" dirty="0"/>
          </a:p>
        </p:txBody>
      </p:sp>
      <p:sp>
        <p:nvSpPr>
          <p:cNvPr id="34" name="Text 32"/>
          <p:cNvSpPr/>
          <p:nvPr/>
        </p:nvSpPr>
        <p:spPr>
          <a:xfrm>
            <a:off x="8412480" y="5285232"/>
            <a:ext cx="2990088" cy="292608"/>
          </a:xfrm>
          <a:prstGeom prst="rect">
            <a:avLst/>
          </a:prstGeom>
          <a:noFill/>
          <a:ln/>
        </p:spPr>
        <p:txBody>
          <a:bodyPr wrap="square" lIns="0" tIns="0" rIns="0" bIns="0" rtlCol="0" anchor="t"/>
          <a:lstStyle/>
          <a:p>
            <a:pPr marL="0" indent="0" algn="l">
              <a:lnSpc>
                <a:spcPct val="106000"/>
              </a:lnSpc>
              <a:buNone/>
            </a:pPr>
            <a:r>
              <a:rPr lang="en-US" sz="1100" i="1" dirty="0">
                <a:solidFill>
                  <a:srgbClr val="7A8894"/>
                </a:solidFill>
                <a:latin typeface="Calibri" pitchFamily="34" charset="0"/>
                <a:ea typeface="Calibri" pitchFamily="34" charset="-122"/>
                <a:cs typeface="Calibri" pitchFamily="34" charset="-120"/>
              </a:rPr>
              <a:t>Unreadable without the derived key.</a:t>
            </a:r>
            <a:endParaRPr lang="en-US" sz="1100" dirty="0"/>
          </a:p>
        </p:txBody>
      </p:sp>
      <p:sp>
        <p:nvSpPr>
          <p:cNvPr id="35" name="Text 33"/>
          <p:cNvSpPr/>
          <p:nvPr/>
        </p:nvSpPr>
        <p:spPr>
          <a:xfrm>
            <a:off x="566928" y="5797296"/>
            <a:ext cx="11057839" cy="365760"/>
          </a:xfrm>
          <a:prstGeom prst="rect">
            <a:avLst/>
          </a:prstGeom>
          <a:noFill/>
          <a:ln/>
        </p:spPr>
        <p:txBody>
          <a:bodyPr wrap="square" lIns="0" tIns="0" rIns="0" bIns="0" rtlCol="0" anchor="t"/>
          <a:lstStyle/>
          <a:p>
            <a:pPr marL="0" indent="0" algn="l">
              <a:lnSpc>
                <a:spcPct val="106000"/>
              </a:lnSpc>
              <a:buNone/>
            </a:pPr>
            <a:r>
              <a:rPr lang="en-US" sz="1300" b="1" dirty="0">
                <a:solidFill>
                  <a:srgbClr val="16212E"/>
                </a:solidFill>
                <a:latin typeface="Calibri" pitchFamily="34" charset="0"/>
                <a:ea typeface="Calibri" pitchFamily="34" charset="-122"/>
                <a:cs typeface="Calibri" pitchFamily="34" charset="-120"/>
              </a:rPr>
              <a:t>Notice that four of the six are public. Salt, nonce and tag travel in the clear on purpose — the receiver cannot rebuild the key without them.</a:t>
            </a:r>
            <a:endParaRPr lang="en-US" sz="1300" dirty="0"/>
          </a:p>
        </p:txBody>
      </p:sp>
      <p:sp>
        <p:nvSpPr>
          <p:cNvPr id="36" name="Text 34"/>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1 · The idea</a:t>
            </a:r>
            <a:endParaRPr lang="en-US" sz="950" dirty="0"/>
          </a:p>
        </p:txBody>
      </p:sp>
      <p:sp>
        <p:nvSpPr>
          <p:cNvPr id="37" name="Text 35"/>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CONCEPT 5 OF 5</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The same thing, without a single technical word</a:t>
            </a:r>
            <a:endParaRPr lang="en-US" sz="3100" dirty="0"/>
          </a:p>
        </p:txBody>
      </p:sp>
      <p:sp>
        <p:nvSpPr>
          <p:cNvPr id="4" name="Shape 2"/>
          <p:cNvSpPr/>
          <p:nvPr/>
        </p:nvSpPr>
        <p:spPr>
          <a:xfrm>
            <a:off x="566928" y="1517904"/>
            <a:ext cx="11057839" cy="3621024"/>
          </a:xfrm>
          <a:prstGeom prst="roundRect">
            <a:avLst>
              <a:gd name="adj" fmla="val 1515"/>
            </a:avLst>
          </a:prstGeom>
          <a:solidFill>
            <a:srgbClr val="F1F5F9"/>
          </a:solidFill>
          <a:ln w="6350">
            <a:solidFill>
              <a:srgbClr val="F1F5F9"/>
            </a:solidFill>
            <a:prstDash val="solid"/>
          </a:ln>
        </p:spPr>
        <p:txBody>
          <a:bodyPr/>
          <a:lstStyle/>
          <a:p>
            <a:endParaRPr lang="en-US"/>
          </a:p>
        </p:txBody>
      </p:sp>
      <p:sp>
        <p:nvSpPr>
          <p:cNvPr id="5" name="Shape 3"/>
          <p:cNvSpPr/>
          <p:nvPr/>
        </p:nvSpPr>
        <p:spPr>
          <a:xfrm>
            <a:off x="676656" y="1627632"/>
            <a:ext cx="10838383" cy="512064"/>
          </a:xfrm>
          <a:prstGeom prst="rect">
            <a:avLst/>
          </a:prstGeom>
          <a:solidFill>
            <a:srgbClr val="FFFFFF"/>
          </a:solidFill>
          <a:ln w="6350">
            <a:solidFill>
              <a:srgbClr val="FFFFFF"/>
            </a:solidFill>
            <a:prstDash val="solid"/>
          </a:ln>
        </p:spPr>
        <p:txBody>
          <a:bodyPr/>
          <a:lstStyle/>
          <a:p>
            <a:endParaRPr lang="en-US"/>
          </a:p>
        </p:txBody>
      </p:sp>
      <p:sp>
        <p:nvSpPr>
          <p:cNvPr id="6" name="Text 4"/>
          <p:cNvSpPr/>
          <p:nvPr/>
        </p:nvSpPr>
        <p:spPr>
          <a:xfrm>
            <a:off x="896112" y="1755648"/>
            <a:ext cx="4480560" cy="329184"/>
          </a:xfrm>
          <a:prstGeom prst="rect">
            <a:avLst/>
          </a:prstGeom>
          <a:noFill/>
          <a:ln/>
        </p:spPr>
        <p:txBody>
          <a:bodyPr wrap="square" lIns="0" tIns="0" rIns="0" bIns="0" rtlCol="0" anchor="t"/>
          <a:lstStyle/>
          <a:p>
            <a:pPr marL="0" indent="0" algn="l">
              <a:lnSpc>
                <a:spcPct val="106000"/>
              </a:lnSpc>
              <a:buNone/>
            </a:pPr>
            <a:r>
              <a:rPr lang="en-US" sz="1350" b="1" dirty="0">
                <a:solidFill>
                  <a:srgbClr val="16212E"/>
                </a:solidFill>
                <a:latin typeface="Calibri" pitchFamily="34" charset="0"/>
                <a:ea typeface="Calibri" pitchFamily="34" charset="-122"/>
                <a:cs typeface="Calibri" pitchFamily="34" charset="-120"/>
              </a:rPr>
              <a:t>Master key in the bank vault</a:t>
            </a:r>
            <a:endParaRPr lang="en-US" sz="1350" dirty="0"/>
          </a:p>
        </p:txBody>
      </p:sp>
      <p:sp>
        <p:nvSpPr>
          <p:cNvPr id="7" name="Text 5"/>
          <p:cNvSpPr/>
          <p:nvPr/>
        </p:nvSpPr>
        <p:spPr>
          <a:xfrm>
            <a:off x="5413248" y="1755648"/>
            <a:ext cx="365760" cy="274320"/>
          </a:xfrm>
          <a:prstGeom prst="rect">
            <a:avLst/>
          </a:prstGeom>
          <a:noFill/>
          <a:ln/>
        </p:spPr>
        <p:txBody>
          <a:bodyPr wrap="square" lIns="0" tIns="0" rIns="0" bIns="0" rtlCol="0" anchor="t"/>
          <a:lstStyle/>
          <a:p>
            <a:pPr marL="0" indent="0" algn="l">
              <a:lnSpc>
                <a:spcPct val="106000"/>
              </a:lnSpc>
              <a:buNone/>
            </a:pPr>
            <a:r>
              <a:rPr lang="en-US" sz="1300" b="1" dirty="0">
                <a:solidFill>
                  <a:srgbClr val="E8A033"/>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5852160" y="1755648"/>
            <a:ext cx="2194560" cy="274320"/>
          </a:xfrm>
          <a:prstGeom prst="rect">
            <a:avLst/>
          </a:prstGeom>
          <a:noFill/>
          <a:ln/>
        </p:spPr>
        <p:txBody>
          <a:bodyPr wrap="square" lIns="0" tIns="0" rIns="0" bIns="0" rtlCol="0" anchor="t"/>
          <a:lstStyle/>
          <a:p>
            <a:pPr marL="0" indent="0" algn="l">
              <a:lnSpc>
                <a:spcPct val="106000"/>
              </a:lnSpc>
              <a:buNone/>
            </a:pPr>
            <a:r>
              <a:rPr lang="en-US" sz="1300" b="1" dirty="0">
                <a:solidFill>
                  <a:srgbClr val="A3701A"/>
                </a:solidFill>
                <a:latin typeface="Calibri" pitchFamily="34" charset="0"/>
                <a:ea typeface="Calibri" pitchFamily="34" charset="-122"/>
                <a:cs typeface="Calibri" pitchFamily="34" charset="-120"/>
              </a:rPr>
              <a:t>Key material</a:t>
            </a:r>
            <a:endParaRPr lang="en-US" sz="1300" dirty="0"/>
          </a:p>
        </p:txBody>
      </p:sp>
      <p:sp>
        <p:nvSpPr>
          <p:cNvPr id="9" name="Text 7"/>
          <p:cNvSpPr/>
          <p:nvPr/>
        </p:nvSpPr>
        <p:spPr>
          <a:xfrm>
            <a:off x="8065008" y="1764792"/>
            <a:ext cx="3285439" cy="292608"/>
          </a:xfrm>
          <a:prstGeom prst="rect">
            <a:avLst/>
          </a:prstGeom>
          <a:noFill/>
          <a:ln/>
        </p:spPr>
        <p:txBody>
          <a:bodyPr wrap="square" lIns="0" tIns="0" rIns="0" bIns="0" rtlCol="0" anchor="t"/>
          <a:lstStyle/>
          <a:p>
            <a:pPr marL="0" indent="0" algn="l">
              <a:lnSpc>
                <a:spcPct val="106000"/>
              </a:lnSpc>
              <a:buNone/>
            </a:pPr>
            <a:r>
              <a:rPr lang="en-US" sz="1200" dirty="0">
                <a:solidFill>
                  <a:srgbClr val="7A8894"/>
                </a:solidFill>
                <a:latin typeface="Calibri" pitchFamily="34" charset="0"/>
                <a:ea typeface="Calibri" pitchFamily="34" charset="-122"/>
                <a:cs typeface="Calibri" pitchFamily="34" charset="-120"/>
              </a:rPr>
              <a:t>Stays in the vault. Nobody carries it around.</a:t>
            </a:r>
            <a:endParaRPr lang="en-US" sz="1200" dirty="0"/>
          </a:p>
        </p:txBody>
      </p:sp>
      <p:sp>
        <p:nvSpPr>
          <p:cNvPr id="10" name="Text 8"/>
          <p:cNvSpPr/>
          <p:nvPr/>
        </p:nvSpPr>
        <p:spPr>
          <a:xfrm>
            <a:off x="896112" y="2322576"/>
            <a:ext cx="4480560" cy="329184"/>
          </a:xfrm>
          <a:prstGeom prst="rect">
            <a:avLst/>
          </a:prstGeom>
          <a:noFill/>
          <a:ln/>
        </p:spPr>
        <p:txBody>
          <a:bodyPr wrap="square" lIns="0" tIns="0" rIns="0" bIns="0" rtlCol="0" anchor="t"/>
          <a:lstStyle/>
          <a:p>
            <a:pPr marL="0" indent="0" algn="l">
              <a:lnSpc>
                <a:spcPct val="106000"/>
              </a:lnSpc>
              <a:buNone/>
            </a:pPr>
            <a:r>
              <a:rPr lang="en-US" sz="1350" b="1" dirty="0">
                <a:solidFill>
                  <a:srgbClr val="16212E"/>
                </a:solidFill>
                <a:latin typeface="Calibri" pitchFamily="34" charset="0"/>
                <a:ea typeface="Calibri" pitchFamily="34" charset="-122"/>
                <a:cs typeface="Calibri" pitchFamily="34" charset="-120"/>
              </a:rPr>
              <a:t>A serial number stamped on this one box</a:t>
            </a:r>
            <a:endParaRPr lang="en-US" sz="1350" dirty="0"/>
          </a:p>
        </p:txBody>
      </p:sp>
      <p:sp>
        <p:nvSpPr>
          <p:cNvPr id="11" name="Text 9"/>
          <p:cNvSpPr/>
          <p:nvPr/>
        </p:nvSpPr>
        <p:spPr>
          <a:xfrm>
            <a:off x="5413248" y="2322576"/>
            <a:ext cx="365760" cy="274320"/>
          </a:xfrm>
          <a:prstGeom prst="rect">
            <a:avLst/>
          </a:prstGeom>
          <a:noFill/>
          <a:ln/>
        </p:spPr>
        <p:txBody>
          <a:bodyPr wrap="square" lIns="0" tIns="0" rIns="0" bIns="0" rtlCol="0" anchor="t"/>
          <a:lstStyle/>
          <a:p>
            <a:pPr marL="0" indent="0" algn="l">
              <a:lnSpc>
                <a:spcPct val="106000"/>
              </a:lnSpc>
              <a:buNone/>
            </a:pPr>
            <a:r>
              <a:rPr lang="en-US" sz="1300" b="1" dirty="0">
                <a:solidFill>
                  <a:srgbClr val="E8A033"/>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5852160" y="2322576"/>
            <a:ext cx="2194560" cy="274320"/>
          </a:xfrm>
          <a:prstGeom prst="rect">
            <a:avLst/>
          </a:prstGeom>
          <a:noFill/>
          <a:ln/>
        </p:spPr>
        <p:txBody>
          <a:bodyPr wrap="square" lIns="0" tIns="0" rIns="0" bIns="0" rtlCol="0" anchor="t"/>
          <a:lstStyle/>
          <a:p>
            <a:pPr marL="0" indent="0" algn="l">
              <a:lnSpc>
                <a:spcPct val="106000"/>
              </a:lnSpc>
              <a:buNone/>
            </a:pPr>
            <a:r>
              <a:rPr lang="en-US" sz="1300" b="1" dirty="0">
                <a:solidFill>
                  <a:srgbClr val="A3701A"/>
                </a:solidFill>
                <a:latin typeface="Calibri" pitchFamily="34" charset="0"/>
                <a:ea typeface="Calibri" pitchFamily="34" charset="-122"/>
                <a:cs typeface="Calibri" pitchFamily="34" charset="-120"/>
              </a:rPr>
              <a:t>Salt</a:t>
            </a:r>
            <a:endParaRPr lang="en-US" sz="1300" dirty="0"/>
          </a:p>
        </p:txBody>
      </p:sp>
      <p:sp>
        <p:nvSpPr>
          <p:cNvPr id="13" name="Text 11"/>
          <p:cNvSpPr/>
          <p:nvPr/>
        </p:nvSpPr>
        <p:spPr>
          <a:xfrm>
            <a:off x="8065008" y="2331720"/>
            <a:ext cx="3285439" cy="292608"/>
          </a:xfrm>
          <a:prstGeom prst="rect">
            <a:avLst/>
          </a:prstGeom>
          <a:noFill/>
          <a:ln/>
        </p:spPr>
        <p:txBody>
          <a:bodyPr wrap="square" lIns="0" tIns="0" rIns="0" bIns="0" rtlCol="0" anchor="t"/>
          <a:lstStyle/>
          <a:p>
            <a:pPr marL="0" indent="0" algn="l">
              <a:lnSpc>
                <a:spcPct val="106000"/>
              </a:lnSpc>
              <a:buNone/>
            </a:pPr>
            <a:r>
              <a:rPr lang="en-US" sz="1200" dirty="0">
                <a:solidFill>
                  <a:srgbClr val="7A8894"/>
                </a:solidFill>
                <a:latin typeface="Calibri" pitchFamily="34" charset="0"/>
                <a:ea typeface="Calibri" pitchFamily="34" charset="-122"/>
                <a:cs typeface="Calibri" pitchFamily="34" charset="-120"/>
              </a:rPr>
              <a:t>Different for every box we ship.</a:t>
            </a:r>
            <a:endParaRPr lang="en-US" sz="1200" dirty="0"/>
          </a:p>
        </p:txBody>
      </p:sp>
      <p:sp>
        <p:nvSpPr>
          <p:cNvPr id="14" name="Shape 12"/>
          <p:cNvSpPr/>
          <p:nvPr/>
        </p:nvSpPr>
        <p:spPr>
          <a:xfrm>
            <a:off x="676656" y="2761488"/>
            <a:ext cx="10838383" cy="512064"/>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896112" y="2889504"/>
            <a:ext cx="4480560" cy="329184"/>
          </a:xfrm>
          <a:prstGeom prst="rect">
            <a:avLst/>
          </a:prstGeom>
          <a:noFill/>
          <a:ln/>
        </p:spPr>
        <p:txBody>
          <a:bodyPr wrap="square" lIns="0" tIns="0" rIns="0" bIns="0" rtlCol="0" anchor="t"/>
          <a:lstStyle/>
          <a:p>
            <a:pPr marL="0" indent="0" algn="l">
              <a:lnSpc>
                <a:spcPct val="106000"/>
              </a:lnSpc>
              <a:buNone/>
            </a:pPr>
            <a:r>
              <a:rPr lang="en-US" sz="1350" b="1" dirty="0">
                <a:solidFill>
                  <a:srgbClr val="16212E"/>
                </a:solidFill>
                <a:latin typeface="Calibri" pitchFamily="34" charset="0"/>
                <a:ea typeface="Calibri" pitchFamily="34" charset="-122"/>
                <a:cs typeface="Calibri" pitchFamily="34" charset="-120"/>
              </a:rPr>
              <a:t>A key cut for this box from master + serial</a:t>
            </a:r>
            <a:endParaRPr lang="en-US" sz="1350" dirty="0"/>
          </a:p>
        </p:txBody>
      </p:sp>
      <p:sp>
        <p:nvSpPr>
          <p:cNvPr id="16" name="Text 14"/>
          <p:cNvSpPr/>
          <p:nvPr/>
        </p:nvSpPr>
        <p:spPr>
          <a:xfrm>
            <a:off x="5413248" y="2889504"/>
            <a:ext cx="365760" cy="274320"/>
          </a:xfrm>
          <a:prstGeom prst="rect">
            <a:avLst/>
          </a:prstGeom>
          <a:noFill/>
          <a:ln/>
        </p:spPr>
        <p:txBody>
          <a:bodyPr wrap="square" lIns="0" tIns="0" rIns="0" bIns="0" rtlCol="0" anchor="t"/>
          <a:lstStyle/>
          <a:p>
            <a:pPr marL="0" indent="0" algn="l">
              <a:lnSpc>
                <a:spcPct val="106000"/>
              </a:lnSpc>
              <a:buNone/>
            </a:pPr>
            <a:r>
              <a:rPr lang="en-US" sz="1300" b="1" dirty="0">
                <a:solidFill>
                  <a:srgbClr val="E8A033"/>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5852160" y="2889504"/>
            <a:ext cx="2194560" cy="274320"/>
          </a:xfrm>
          <a:prstGeom prst="rect">
            <a:avLst/>
          </a:prstGeom>
          <a:noFill/>
          <a:ln/>
        </p:spPr>
        <p:txBody>
          <a:bodyPr wrap="square" lIns="0" tIns="0" rIns="0" bIns="0" rtlCol="0" anchor="t"/>
          <a:lstStyle/>
          <a:p>
            <a:pPr marL="0" indent="0" algn="l">
              <a:lnSpc>
                <a:spcPct val="106000"/>
              </a:lnSpc>
              <a:buNone/>
            </a:pPr>
            <a:r>
              <a:rPr lang="en-US" sz="1300" b="1" dirty="0">
                <a:solidFill>
                  <a:srgbClr val="A3701A"/>
                </a:solidFill>
                <a:latin typeface="Calibri" pitchFamily="34" charset="0"/>
                <a:ea typeface="Calibri" pitchFamily="34" charset="-122"/>
                <a:cs typeface="Calibri" pitchFamily="34" charset="-120"/>
              </a:rPr>
              <a:t>Derived key</a:t>
            </a:r>
            <a:endParaRPr lang="en-US" sz="1300" dirty="0"/>
          </a:p>
        </p:txBody>
      </p:sp>
      <p:sp>
        <p:nvSpPr>
          <p:cNvPr id="18" name="Text 16"/>
          <p:cNvSpPr/>
          <p:nvPr/>
        </p:nvSpPr>
        <p:spPr>
          <a:xfrm>
            <a:off x="8065008" y="2898648"/>
            <a:ext cx="3285439" cy="292608"/>
          </a:xfrm>
          <a:prstGeom prst="rect">
            <a:avLst/>
          </a:prstGeom>
          <a:noFill/>
          <a:ln/>
        </p:spPr>
        <p:txBody>
          <a:bodyPr wrap="square" lIns="0" tIns="0" rIns="0" bIns="0" rtlCol="0" anchor="t"/>
          <a:lstStyle/>
          <a:p>
            <a:pPr marL="0" indent="0" algn="l">
              <a:lnSpc>
                <a:spcPct val="106000"/>
              </a:lnSpc>
              <a:buNone/>
            </a:pPr>
            <a:r>
              <a:rPr lang="en-US" sz="1200" dirty="0">
                <a:solidFill>
                  <a:srgbClr val="7A8894"/>
                </a:solidFill>
                <a:latin typeface="Calibri" pitchFamily="34" charset="0"/>
                <a:ea typeface="Calibri" pitchFamily="34" charset="-122"/>
                <a:cs typeface="Calibri" pitchFamily="34" charset="-120"/>
              </a:rPr>
              <a:t>Cut fresh, used once, thrown away.</a:t>
            </a:r>
            <a:endParaRPr lang="en-US" sz="1200" dirty="0"/>
          </a:p>
        </p:txBody>
      </p:sp>
      <p:sp>
        <p:nvSpPr>
          <p:cNvPr id="19" name="Text 17"/>
          <p:cNvSpPr/>
          <p:nvPr/>
        </p:nvSpPr>
        <p:spPr>
          <a:xfrm>
            <a:off x="896112" y="3456432"/>
            <a:ext cx="4480560" cy="329184"/>
          </a:xfrm>
          <a:prstGeom prst="rect">
            <a:avLst/>
          </a:prstGeom>
          <a:noFill/>
          <a:ln/>
        </p:spPr>
        <p:txBody>
          <a:bodyPr wrap="square" lIns="0" tIns="0" rIns="0" bIns="0" rtlCol="0" anchor="t"/>
          <a:lstStyle/>
          <a:p>
            <a:pPr marL="0" indent="0" algn="l">
              <a:lnSpc>
                <a:spcPct val="106000"/>
              </a:lnSpc>
              <a:buNone/>
            </a:pPr>
            <a:r>
              <a:rPr lang="en-US" sz="1350" b="1" dirty="0">
                <a:solidFill>
                  <a:srgbClr val="16212E"/>
                </a:solidFill>
                <a:latin typeface="Calibri" pitchFamily="34" charset="0"/>
                <a:ea typeface="Calibri" pitchFamily="34" charset="-122"/>
                <a:cs typeface="Calibri" pitchFamily="34" charset="-120"/>
              </a:rPr>
              <a:t>The number printed on the tamper strip</a:t>
            </a:r>
            <a:endParaRPr lang="en-US" sz="1350" dirty="0"/>
          </a:p>
        </p:txBody>
      </p:sp>
      <p:sp>
        <p:nvSpPr>
          <p:cNvPr id="20" name="Text 18"/>
          <p:cNvSpPr/>
          <p:nvPr/>
        </p:nvSpPr>
        <p:spPr>
          <a:xfrm>
            <a:off x="5413248" y="3456432"/>
            <a:ext cx="365760" cy="274320"/>
          </a:xfrm>
          <a:prstGeom prst="rect">
            <a:avLst/>
          </a:prstGeom>
          <a:noFill/>
          <a:ln/>
        </p:spPr>
        <p:txBody>
          <a:bodyPr wrap="square" lIns="0" tIns="0" rIns="0" bIns="0" rtlCol="0" anchor="t"/>
          <a:lstStyle/>
          <a:p>
            <a:pPr marL="0" indent="0" algn="l">
              <a:lnSpc>
                <a:spcPct val="106000"/>
              </a:lnSpc>
              <a:buNone/>
            </a:pPr>
            <a:r>
              <a:rPr lang="en-US" sz="1300" b="1" dirty="0">
                <a:solidFill>
                  <a:srgbClr val="E8A033"/>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5852160" y="3456432"/>
            <a:ext cx="2194560" cy="274320"/>
          </a:xfrm>
          <a:prstGeom prst="rect">
            <a:avLst/>
          </a:prstGeom>
          <a:noFill/>
          <a:ln/>
        </p:spPr>
        <p:txBody>
          <a:bodyPr wrap="square" lIns="0" tIns="0" rIns="0" bIns="0" rtlCol="0" anchor="t"/>
          <a:lstStyle/>
          <a:p>
            <a:pPr marL="0" indent="0" algn="l">
              <a:lnSpc>
                <a:spcPct val="106000"/>
              </a:lnSpc>
              <a:buNone/>
            </a:pPr>
            <a:r>
              <a:rPr lang="en-US" sz="1300" b="1" dirty="0">
                <a:solidFill>
                  <a:srgbClr val="A3701A"/>
                </a:solidFill>
                <a:latin typeface="Calibri" pitchFamily="34" charset="0"/>
                <a:ea typeface="Calibri" pitchFamily="34" charset="-122"/>
                <a:cs typeface="Calibri" pitchFamily="34" charset="-120"/>
              </a:rPr>
              <a:t>Nonce</a:t>
            </a:r>
            <a:endParaRPr lang="en-US" sz="1300" dirty="0"/>
          </a:p>
        </p:txBody>
      </p:sp>
      <p:sp>
        <p:nvSpPr>
          <p:cNvPr id="22" name="Text 20"/>
          <p:cNvSpPr/>
          <p:nvPr/>
        </p:nvSpPr>
        <p:spPr>
          <a:xfrm>
            <a:off x="8065008" y="3465576"/>
            <a:ext cx="3285439" cy="292608"/>
          </a:xfrm>
          <a:prstGeom prst="rect">
            <a:avLst/>
          </a:prstGeom>
          <a:noFill/>
          <a:ln/>
        </p:spPr>
        <p:txBody>
          <a:bodyPr wrap="square" lIns="0" tIns="0" rIns="0" bIns="0" rtlCol="0" anchor="t"/>
          <a:lstStyle/>
          <a:p>
            <a:pPr marL="0" indent="0" algn="l">
              <a:lnSpc>
                <a:spcPct val="106000"/>
              </a:lnSpc>
              <a:buNone/>
            </a:pPr>
            <a:r>
              <a:rPr lang="en-US" sz="1200" dirty="0">
                <a:solidFill>
                  <a:srgbClr val="7A8894"/>
                </a:solidFill>
                <a:latin typeface="Calibri" pitchFamily="34" charset="0"/>
                <a:ea typeface="Calibri" pitchFamily="34" charset="-122"/>
                <a:cs typeface="Calibri" pitchFamily="34" charset="-120"/>
              </a:rPr>
              <a:t>Never repeats.</a:t>
            </a:r>
            <a:endParaRPr lang="en-US" sz="1200" dirty="0"/>
          </a:p>
        </p:txBody>
      </p:sp>
      <p:sp>
        <p:nvSpPr>
          <p:cNvPr id="23" name="Shape 21"/>
          <p:cNvSpPr/>
          <p:nvPr/>
        </p:nvSpPr>
        <p:spPr>
          <a:xfrm>
            <a:off x="676656" y="3895344"/>
            <a:ext cx="10838383" cy="512064"/>
          </a:xfrm>
          <a:prstGeom prst="rect">
            <a:avLst/>
          </a:prstGeom>
          <a:solidFill>
            <a:srgbClr val="FFFFFF"/>
          </a:solidFill>
          <a:ln w="6350">
            <a:solidFill>
              <a:srgbClr val="FFFFFF"/>
            </a:solidFill>
            <a:prstDash val="solid"/>
          </a:ln>
        </p:spPr>
        <p:txBody>
          <a:bodyPr/>
          <a:lstStyle/>
          <a:p>
            <a:endParaRPr lang="en-US"/>
          </a:p>
        </p:txBody>
      </p:sp>
      <p:sp>
        <p:nvSpPr>
          <p:cNvPr id="24" name="Text 22"/>
          <p:cNvSpPr/>
          <p:nvPr/>
        </p:nvSpPr>
        <p:spPr>
          <a:xfrm>
            <a:off x="896112" y="4023360"/>
            <a:ext cx="4480560" cy="329184"/>
          </a:xfrm>
          <a:prstGeom prst="rect">
            <a:avLst/>
          </a:prstGeom>
          <a:noFill/>
          <a:ln/>
        </p:spPr>
        <p:txBody>
          <a:bodyPr wrap="square" lIns="0" tIns="0" rIns="0" bIns="0" rtlCol="0" anchor="t"/>
          <a:lstStyle/>
          <a:p>
            <a:pPr marL="0" indent="0" algn="l">
              <a:lnSpc>
                <a:spcPct val="106000"/>
              </a:lnSpc>
              <a:buNone/>
            </a:pPr>
            <a:r>
              <a:rPr lang="en-US" sz="1350" b="1" dirty="0">
                <a:solidFill>
                  <a:srgbClr val="16212E"/>
                </a:solidFill>
                <a:latin typeface="Calibri" pitchFamily="34" charset="0"/>
                <a:ea typeface="Calibri" pitchFamily="34" charset="-122"/>
                <a:cs typeface="Calibri" pitchFamily="34" charset="-120"/>
              </a:rPr>
              <a:t>The sealed strongbox itself</a:t>
            </a:r>
            <a:endParaRPr lang="en-US" sz="1350" dirty="0"/>
          </a:p>
        </p:txBody>
      </p:sp>
      <p:sp>
        <p:nvSpPr>
          <p:cNvPr id="25" name="Text 23"/>
          <p:cNvSpPr/>
          <p:nvPr/>
        </p:nvSpPr>
        <p:spPr>
          <a:xfrm>
            <a:off x="5413248" y="4023360"/>
            <a:ext cx="365760" cy="274320"/>
          </a:xfrm>
          <a:prstGeom prst="rect">
            <a:avLst/>
          </a:prstGeom>
          <a:noFill/>
          <a:ln/>
        </p:spPr>
        <p:txBody>
          <a:bodyPr wrap="square" lIns="0" tIns="0" rIns="0" bIns="0" rtlCol="0" anchor="t"/>
          <a:lstStyle/>
          <a:p>
            <a:pPr marL="0" indent="0" algn="l">
              <a:lnSpc>
                <a:spcPct val="106000"/>
              </a:lnSpc>
              <a:buNone/>
            </a:pPr>
            <a:r>
              <a:rPr lang="en-US" sz="1300" b="1" dirty="0">
                <a:solidFill>
                  <a:srgbClr val="E8A033"/>
                </a:solidFill>
                <a:latin typeface="Calibri" pitchFamily="34" charset="0"/>
                <a:ea typeface="Calibri" pitchFamily="34" charset="-122"/>
                <a:cs typeface="Calibri" pitchFamily="34" charset="-120"/>
              </a:rPr>
              <a:t>→</a:t>
            </a:r>
            <a:endParaRPr lang="en-US" sz="1300" dirty="0"/>
          </a:p>
        </p:txBody>
      </p:sp>
      <p:sp>
        <p:nvSpPr>
          <p:cNvPr id="26" name="Text 24"/>
          <p:cNvSpPr/>
          <p:nvPr/>
        </p:nvSpPr>
        <p:spPr>
          <a:xfrm>
            <a:off x="5852160" y="4023360"/>
            <a:ext cx="2194560" cy="274320"/>
          </a:xfrm>
          <a:prstGeom prst="rect">
            <a:avLst/>
          </a:prstGeom>
          <a:noFill/>
          <a:ln/>
        </p:spPr>
        <p:txBody>
          <a:bodyPr wrap="square" lIns="0" tIns="0" rIns="0" bIns="0" rtlCol="0" anchor="t"/>
          <a:lstStyle/>
          <a:p>
            <a:pPr marL="0" indent="0" algn="l">
              <a:lnSpc>
                <a:spcPct val="106000"/>
              </a:lnSpc>
              <a:buNone/>
            </a:pPr>
            <a:r>
              <a:rPr lang="en-US" sz="1300" b="1" dirty="0">
                <a:solidFill>
                  <a:srgbClr val="A3701A"/>
                </a:solidFill>
                <a:latin typeface="Calibri" pitchFamily="34" charset="0"/>
                <a:ea typeface="Calibri" pitchFamily="34" charset="-122"/>
                <a:cs typeface="Calibri" pitchFamily="34" charset="-120"/>
              </a:rPr>
              <a:t>Ciphertext</a:t>
            </a:r>
            <a:endParaRPr lang="en-US" sz="1300" dirty="0"/>
          </a:p>
        </p:txBody>
      </p:sp>
      <p:sp>
        <p:nvSpPr>
          <p:cNvPr id="27" name="Text 25"/>
          <p:cNvSpPr/>
          <p:nvPr/>
        </p:nvSpPr>
        <p:spPr>
          <a:xfrm>
            <a:off x="8065008" y="4032504"/>
            <a:ext cx="3285439" cy="292608"/>
          </a:xfrm>
          <a:prstGeom prst="rect">
            <a:avLst/>
          </a:prstGeom>
          <a:noFill/>
          <a:ln/>
        </p:spPr>
        <p:txBody>
          <a:bodyPr wrap="square" lIns="0" tIns="0" rIns="0" bIns="0" rtlCol="0" anchor="t"/>
          <a:lstStyle/>
          <a:p>
            <a:pPr marL="0" indent="0" algn="l">
              <a:lnSpc>
                <a:spcPct val="106000"/>
              </a:lnSpc>
              <a:buNone/>
            </a:pPr>
            <a:r>
              <a:rPr lang="en-US" sz="1200" dirty="0">
                <a:solidFill>
                  <a:srgbClr val="7A8894"/>
                </a:solidFill>
                <a:latin typeface="Calibri" pitchFamily="34" charset="0"/>
                <a:ea typeface="Calibri" pitchFamily="34" charset="-122"/>
                <a:cs typeface="Calibri" pitchFamily="34" charset="-120"/>
              </a:rPr>
              <a:t>Useless to anyone without the cut key.</a:t>
            </a:r>
            <a:endParaRPr lang="en-US" sz="1200" dirty="0"/>
          </a:p>
        </p:txBody>
      </p:sp>
      <p:sp>
        <p:nvSpPr>
          <p:cNvPr id="28" name="Text 26"/>
          <p:cNvSpPr/>
          <p:nvPr/>
        </p:nvSpPr>
        <p:spPr>
          <a:xfrm>
            <a:off x="896112" y="4590288"/>
            <a:ext cx="4480560" cy="329184"/>
          </a:xfrm>
          <a:prstGeom prst="rect">
            <a:avLst/>
          </a:prstGeom>
          <a:noFill/>
          <a:ln/>
        </p:spPr>
        <p:txBody>
          <a:bodyPr wrap="square" lIns="0" tIns="0" rIns="0" bIns="0" rtlCol="0" anchor="t"/>
          <a:lstStyle/>
          <a:p>
            <a:pPr marL="0" indent="0" algn="l">
              <a:lnSpc>
                <a:spcPct val="106000"/>
              </a:lnSpc>
              <a:buNone/>
            </a:pPr>
            <a:r>
              <a:rPr lang="en-US" sz="1350" b="1" dirty="0">
                <a:solidFill>
                  <a:srgbClr val="16212E"/>
                </a:solidFill>
                <a:latin typeface="Calibri" pitchFamily="34" charset="0"/>
                <a:ea typeface="Calibri" pitchFamily="34" charset="-122"/>
                <a:cs typeface="Calibri" pitchFamily="34" charset="-120"/>
              </a:rPr>
              <a:t>The tamper-evident seal across the lid</a:t>
            </a:r>
            <a:endParaRPr lang="en-US" sz="1350" dirty="0"/>
          </a:p>
        </p:txBody>
      </p:sp>
      <p:sp>
        <p:nvSpPr>
          <p:cNvPr id="29" name="Text 27"/>
          <p:cNvSpPr/>
          <p:nvPr/>
        </p:nvSpPr>
        <p:spPr>
          <a:xfrm>
            <a:off x="5413248" y="4590288"/>
            <a:ext cx="365760" cy="274320"/>
          </a:xfrm>
          <a:prstGeom prst="rect">
            <a:avLst/>
          </a:prstGeom>
          <a:noFill/>
          <a:ln/>
        </p:spPr>
        <p:txBody>
          <a:bodyPr wrap="square" lIns="0" tIns="0" rIns="0" bIns="0" rtlCol="0" anchor="t"/>
          <a:lstStyle/>
          <a:p>
            <a:pPr marL="0" indent="0" algn="l">
              <a:lnSpc>
                <a:spcPct val="106000"/>
              </a:lnSpc>
              <a:buNone/>
            </a:pPr>
            <a:r>
              <a:rPr lang="en-US" sz="1300" b="1" dirty="0">
                <a:solidFill>
                  <a:srgbClr val="E8A033"/>
                </a:solidFill>
                <a:latin typeface="Calibri" pitchFamily="34" charset="0"/>
                <a:ea typeface="Calibri" pitchFamily="34" charset="-122"/>
                <a:cs typeface="Calibri" pitchFamily="34" charset="-120"/>
              </a:rPr>
              <a:t>→</a:t>
            </a:r>
            <a:endParaRPr lang="en-US" sz="1300" dirty="0"/>
          </a:p>
        </p:txBody>
      </p:sp>
      <p:sp>
        <p:nvSpPr>
          <p:cNvPr id="30" name="Text 28"/>
          <p:cNvSpPr/>
          <p:nvPr/>
        </p:nvSpPr>
        <p:spPr>
          <a:xfrm>
            <a:off x="5852160" y="4590288"/>
            <a:ext cx="2194560" cy="274320"/>
          </a:xfrm>
          <a:prstGeom prst="rect">
            <a:avLst/>
          </a:prstGeom>
          <a:noFill/>
          <a:ln/>
        </p:spPr>
        <p:txBody>
          <a:bodyPr wrap="square" lIns="0" tIns="0" rIns="0" bIns="0" rtlCol="0" anchor="t"/>
          <a:lstStyle/>
          <a:p>
            <a:pPr marL="0" indent="0" algn="l">
              <a:lnSpc>
                <a:spcPct val="106000"/>
              </a:lnSpc>
              <a:buNone/>
            </a:pPr>
            <a:r>
              <a:rPr lang="en-US" sz="1300" b="1" dirty="0">
                <a:solidFill>
                  <a:srgbClr val="A3701A"/>
                </a:solidFill>
                <a:latin typeface="Calibri" pitchFamily="34" charset="0"/>
                <a:ea typeface="Calibri" pitchFamily="34" charset="-122"/>
                <a:cs typeface="Calibri" pitchFamily="34" charset="-120"/>
              </a:rPr>
              <a:t>Tag</a:t>
            </a:r>
            <a:endParaRPr lang="en-US" sz="1300" dirty="0"/>
          </a:p>
        </p:txBody>
      </p:sp>
      <p:sp>
        <p:nvSpPr>
          <p:cNvPr id="31" name="Text 29"/>
          <p:cNvSpPr/>
          <p:nvPr/>
        </p:nvSpPr>
        <p:spPr>
          <a:xfrm>
            <a:off x="8065008" y="4599432"/>
            <a:ext cx="3285439" cy="292608"/>
          </a:xfrm>
          <a:prstGeom prst="rect">
            <a:avLst/>
          </a:prstGeom>
          <a:noFill/>
          <a:ln/>
        </p:spPr>
        <p:txBody>
          <a:bodyPr wrap="square" lIns="0" tIns="0" rIns="0" bIns="0" rtlCol="0" anchor="t"/>
          <a:lstStyle/>
          <a:p>
            <a:pPr marL="0" indent="0" algn="l">
              <a:lnSpc>
                <a:spcPct val="106000"/>
              </a:lnSpc>
              <a:buNone/>
            </a:pPr>
            <a:r>
              <a:rPr lang="en-US" sz="1200" dirty="0">
                <a:solidFill>
                  <a:srgbClr val="7A8894"/>
                </a:solidFill>
                <a:latin typeface="Calibri" pitchFamily="34" charset="0"/>
                <a:ea typeface="Calibri" pitchFamily="34" charset="-122"/>
                <a:cs typeface="Calibri" pitchFamily="34" charset="-120"/>
              </a:rPr>
              <a:t>Broken seal → we refuse to open the box.</a:t>
            </a:r>
            <a:endParaRPr lang="en-US" sz="1200" dirty="0"/>
          </a:p>
        </p:txBody>
      </p:sp>
      <p:sp>
        <p:nvSpPr>
          <p:cNvPr id="32" name="Shape 30"/>
          <p:cNvSpPr/>
          <p:nvPr/>
        </p:nvSpPr>
        <p:spPr>
          <a:xfrm>
            <a:off x="566928" y="5230368"/>
            <a:ext cx="11057839" cy="859536"/>
          </a:xfrm>
          <a:prstGeom prst="roundRect">
            <a:avLst>
              <a:gd name="adj" fmla="val 6383"/>
            </a:avLst>
          </a:prstGeom>
          <a:solidFill>
            <a:srgbClr val="0F1721"/>
          </a:solidFill>
          <a:ln w="6350">
            <a:solidFill>
              <a:srgbClr val="0F1721"/>
            </a:solidFill>
            <a:prstDash val="solid"/>
          </a:ln>
        </p:spPr>
        <p:txBody>
          <a:bodyPr/>
          <a:lstStyle/>
          <a:p>
            <a:endParaRPr lang="en-US"/>
          </a:p>
        </p:txBody>
      </p:sp>
      <p:sp>
        <p:nvSpPr>
          <p:cNvPr id="33" name="Text 31"/>
          <p:cNvSpPr/>
          <p:nvPr/>
        </p:nvSpPr>
        <p:spPr>
          <a:xfrm>
            <a:off x="950976" y="5449824"/>
            <a:ext cx="2377440" cy="274320"/>
          </a:xfrm>
          <a:prstGeom prst="rect">
            <a:avLst/>
          </a:prstGeom>
          <a:noFill/>
          <a:ln/>
        </p:spPr>
        <p:txBody>
          <a:bodyPr wrap="square" lIns="0" tIns="0" rIns="0" bIns="0" rtlCol="0" anchor="t"/>
          <a:lstStyle/>
          <a:p>
            <a:pPr marL="0" indent="0" algn="l">
              <a:lnSpc>
                <a:spcPct val="106000"/>
              </a:lnSpc>
              <a:buNone/>
            </a:pPr>
            <a:r>
              <a:rPr lang="en-US" sz="1350" b="1" dirty="0">
                <a:solidFill>
                  <a:srgbClr val="E8A033"/>
                </a:solidFill>
                <a:latin typeface="Calibri" pitchFamily="34" charset="0"/>
                <a:ea typeface="Calibri" pitchFamily="34" charset="-122"/>
                <a:cs typeface="Calibri" pitchFamily="34" charset="-120"/>
              </a:rPr>
              <a:t>What actually travels:</a:t>
            </a:r>
            <a:endParaRPr lang="en-US" sz="1350" dirty="0"/>
          </a:p>
        </p:txBody>
      </p:sp>
      <p:sp>
        <p:nvSpPr>
          <p:cNvPr id="34" name="Text 32"/>
          <p:cNvSpPr/>
          <p:nvPr/>
        </p:nvSpPr>
        <p:spPr>
          <a:xfrm>
            <a:off x="3401568" y="5449824"/>
            <a:ext cx="7765999" cy="457200"/>
          </a:xfrm>
          <a:prstGeom prst="rect">
            <a:avLst/>
          </a:prstGeom>
          <a:noFill/>
          <a:ln/>
        </p:spPr>
        <p:txBody>
          <a:bodyPr wrap="square" lIns="0" tIns="0" rIns="0" bIns="0" rtlCol="0" anchor="t"/>
          <a:lstStyle/>
          <a:p>
            <a:pPr marL="0" indent="0" algn="l">
              <a:lnSpc>
                <a:spcPct val="106000"/>
              </a:lnSpc>
              <a:buNone/>
            </a:pPr>
            <a:r>
              <a:rPr lang="en-US" sz="1350" dirty="0">
                <a:solidFill>
                  <a:srgbClr val="C6D3DE"/>
                </a:solidFill>
                <a:latin typeface="Calibri" pitchFamily="34" charset="0"/>
                <a:ea typeface="Calibri" pitchFamily="34" charset="-122"/>
                <a:cs typeface="Calibri" pitchFamily="34" charset="-120"/>
              </a:rPr>
              <a:t>the sealed box, its serial number and its strip number. The master key never leaves the vault, and the cut key is never written down anywhere.</a:t>
            </a:r>
            <a:endParaRPr lang="en-US" sz="1350" dirty="0"/>
          </a:p>
        </p:txBody>
      </p:sp>
      <p:sp>
        <p:nvSpPr>
          <p:cNvPr id="35" name="Text 33"/>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1 · The idea</a:t>
            </a:r>
            <a:endParaRPr lang="en-US" sz="950" dirty="0"/>
          </a:p>
        </p:txBody>
      </p:sp>
      <p:sp>
        <p:nvSpPr>
          <p:cNvPr id="36" name="Text 34"/>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PUTTING IT TOGETHER</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The journey of one request</a:t>
            </a:r>
            <a:endParaRPr lang="en-US" sz="3100" dirty="0"/>
          </a:p>
        </p:txBody>
      </p:sp>
      <p:sp>
        <p:nvSpPr>
          <p:cNvPr id="4" name="Shape 2"/>
          <p:cNvSpPr/>
          <p:nvPr/>
        </p:nvSpPr>
        <p:spPr>
          <a:xfrm>
            <a:off x="566928" y="1700784"/>
            <a:ext cx="1700784" cy="3108960"/>
          </a:xfrm>
          <a:prstGeom prst="roundRect">
            <a:avLst>
              <a:gd name="adj" fmla="val 3226"/>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5" name="Shape 3"/>
          <p:cNvSpPr/>
          <p:nvPr/>
        </p:nvSpPr>
        <p:spPr>
          <a:xfrm>
            <a:off x="1179576" y="1901952"/>
            <a:ext cx="475488" cy="475488"/>
          </a:xfrm>
          <a:prstGeom prst="ellipse">
            <a:avLst/>
          </a:prstGeom>
          <a:solidFill>
            <a:srgbClr val="2C3E50"/>
          </a:solidFill>
          <a:ln w="6350">
            <a:solidFill>
              <a:srgbClr val="2C3E50"/>
            </a:solidFill>
            <a:prstDash val="solid"/>
          </a:ln>
        </p:spPr>
        <p:txBody>
          <a:bodyPr/>
          <a:lstStyle/>
          <a:p>
            <a:endParaRPr lang="en-US"/>
          </a:p>
        </p:txBody>
      </p:sp>
      <p:sp>
        <p:nvSpPr>
          <p:cNvPr id="6" name="Text 4"/>
          <p:cNvSpPr/>
          <p:nvPr/>
        </p:nvSpPr>
        <p:spPr>
          <a:xfrm>
            <a:off x="1179576" y="1901952"/>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713232" y="2505456"/>
            <a:ext cx="1408176" cy="219456"/>
          </a:xfrm>
          <a:prstGeom prst="rect">
            <a:avLst/>
          </a:prstGeom>
          <a:noFill/>
          <a:ln/>
        </p:spPr>
        <p:txBody>
          <a:bodyPr wrap="square" lIns="0" tIns="0" rIns="0" bIns="0" rtlCol="0" anchor="t"/>
          <a:lstStyle/>
          <a:p>
            <a:pPr marL="0" indent="0" algn="ctr">
              <a:lnSpc>
                <a:spcPct val="106000"/>
              </a:lnSpc>
              <a:buNone/>
            </a:pPr>
            <a:r>
              <a:rPr lang="en-US" sz="900" b="1" dirty="0">
                <a:solidFill>
                  <a:srgbClr val="7A8894"/>
                </a:solidFill>
                <a:latin typeface="Calibri" pitchFamily="34" charset="0"/>
                <a:ea typeface="Calibri" pitchFamily="34" charset="-122"/>
                <a:cs typeface="Calibri" pitchFamily="34" charset="-120"/>
              </a:rPr>
              <a:t>CLIENT</a:t>
            </a:r>
            <a:endParaRPr lang="en-US" sz="900" dirty="0"/>
          </a:p>
        </p:txBody>
      </p:sp>
      <p:sp>
        <p:nvSpPr>
          <p:cNvPr id="8" name="Text 6"/>
          <p:cNvSpPr/>
          <p:nvPr/>
        </p:nvSpPr>
        <p:spPr>
          <a:xfrm>
            <a:off x="713232" y="2761488"/>
            <a:ext cx="1408176" cy="548640"/>
          </a:xfrm>
          <a:prstGeom prst="rect">
            <a:avLst/>
          </a:prstGeom>
          <a:noFill/>
          <a:ln/>
        </p:spPr>
        <p:txBody>
          <a:bodyPr wrap="square" lIns="0" tIns="0" rIns="0" bIns="0" rtlCol="0" anchor="t"/>
          <a:lstStyle/>
          <a:p>
            <a:pPr marL="0" indent="0" algn="ctr">
              <a:lnSpc>
                <a:spcPct val="106000"/>
              </a:lnSpc>
              <a:buNone/>
            </a:pPr>
            <a:r>
              <a:rPr lang="en-US" sz="1350" b="1" dirty="0">
                <a:solidFill>
                  <a:srgbClr val="16212E"/>
                </a:solidFill>
                <a:latin typeface="Calibri" pitchFamily="34" charset="0"/>
                <a:ea typeface="Calibri" pitchFamily="34" charset="-122"/>
                <a:cs typeface="Calibri" pitchFamily="34" charset="-120"/>
              </a:rPr>
              <a:t>Fetch the secret</a:t>
            </a:r>
            <a:endParaRPr lang="en-US" sz="1350" dirty="0"/>
          </a:p>
        </p:txBody>
      </p:sp>
      <p:sp>
        <p:nvSpPr>
          <p:cNvPr id="9" name="Text 7"/>
          <p:cNvSpPr/>
          <p:nvPr/>
        </p:nvSpPr>
        <p:spPr>
          <a:xfrm>
            <a:off x="713232" y="3364992"/>
            <a:ext cx="1408176" cy="1280160"/>
          </a:xfrm>
          <a:prstGeom prst="rect">
            <a:avLst/>
          </a:prstGeom>
          <a:noFill/>
          <a:ln/>
        </p:spPr>
        <p:txBody>
          <a:bodyPr wrap="square" lIns="0" tIns="0" rIns="0" bIns="0" rtlCol="0" anchor="t"/>
          <a:lstStyle/>
          <a:p>
            <a:pPr marL="0" indent="0" algn="ctr">
              <a:lnSpc>
                <a:spcPct val="115000"/>
              </a:lnSpc>
              <a:buNone/>
            </a:pPr>
            <a:r>
              <a:rPr lang="en-US" sz="1100" dirty="0">
                <a:solidFill>
                  <a:srgbClr val="3D4C5A"/>
                </a:solidFill>
                <a:latin typeface="Calibri" pitchFamily="34" charset="0"/>
                <a:ea typeface="Calibri" pitchFamily="34" charset="-122"/>
                <a:cs typeface="Calibri" pitchFamily="34" charset="-120"/>
              </a:rPr>
              <a:t>The service asks the vault for key material, once at startup.</a:t>
            </a:r>
            <a:endParaRPr lang="en-US" sz="1100" dirty="0"/>
          </a:p>
        </p:txBody>
      </p:sp>
      <p:sp>
        <p:nvSpPr>
          <p:cNvPr id="10" name="Text 8"/>
          <p:cNvSpPr/>
          <p:nvPr/>
        </p:nvSpPr>
        <p:spPr>
          <a:xfrm>
            <a:off x="2276856" y="1938528"/>
            <a:ext cx="146304" cy="365760"/>
          </a:xfrm>
          <a:prstGeom prst="rect">
            <a:avLst/>
          </a:prstGeom>
          <a:noFill/>
          <a:ln/>
        </p:spPr>
        <p:txBody>
          <a:bodyPr wrap="square" lIns="0" tIns="0" rIns="0" bIns="0" rtlCol="0" anchor="t"/>
          <a:lstStyle/>
          <a:p>
            <a:pPr marL="0" indent="0" algn="ctr">
              <a:lnSpc>
                <a:spcPct val="106000"/>
              </a:lnSpc>
              <a:buNone/>
            </a:pPr>
            <a:r>
              <a:rPr lang="en-US" sz="2000" b="1" dirty="0">
                <a:solidFill>
                  <a:srgbClr val="D6DFE7"/>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2414016" y="1700784"/>
            <a:ext cx="1700784" cy="3108960"/>
          </a:xfrm>
          <a:prstGeom prst="roundRect">
            <a:avLst>
              <a:gd name="adj" fmla="val 3226"/>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2" name="Shape 10"/>
          <p:cNvSpPr/>
          <p:nvPr/>
        </p:nvSpPr>
        <p:spPr>
          <a:xfrm>
            <a:off x="3026664" y="1901952"/>
            <a:ext cx="475488" cy="475488"/>
          </a:xfrm>
          <a:prstGeom prst="ellipse">
            <a:avLst/>
          </a:prstGeom>
          <a:solidFill>
            <a:srgbClr val="2C3E50"/>
          </a:solidFill>
          <a:ln w="6350">
            <a:solidFill>
              <a:srgbClr val="2C3E50"/>
            </a:solidFill>
            <a:prstDash val="solid"/>
          </a:ln>
        </p:spPr>
        <p:txBody>
          <a:bodyPr/>
          <a:lstStyle/>
          <a:p>
            <a:endParaRPr lang="en-US"/>
          </a:p>
        </p:txBody>
      </p:sp>
      <p:sp>
        <p:nvSpPr>
          <p:cNvPr id="13" name="Text 11"/>
          <p:cNvSpPr/>
          <p:nvPr/>
        </p:nvSpPr>
        <p:spPr>
          <a:xfrm>
            <a:off x="3026664" y="1901952"/>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2560320" y="2505456"/>
            <a:ext cx="1408176" cy="219456"/>
          </a:xfrm>
          <a:prstGeom prst="rect">
            <a:avLst/>
          </a:prstGeom>
          <a:noFill/>
          <a:ln/>
        </p:spPr>
        <p:txBody>
          <a:bodyPr wrap="square" lIns="0" tIns="0" rIns="0" bIns="0" rtlCol="0" anchor="t"/>
          <a:lstStyle/>
          <a:p>
            <a:pPr marL="0" indent="0" algn="ctr">
              <a:lnSpc>
                <a:spcPct val="106000"/>
              </a:lnSpc>
              <a:buNone/>
            </a:pPr>
            <a:r>
              <a:rPr lang="en-US" sz="900" b="1" dirty="0">
                <a:solidFill>
                  <a:srgbClr val="7A8894"/>
                </a:solidFill>
                <a:latin typeface="Calibri" pitchFamily="34" charset="0"/>
                <a:ea typeface="Calibri" pitchFamily="34" charset="-122"/>
                <a:cs typeface="Calibri" pitchFamily="34" charset="-120"/>
              </a:rPr>
              <a:t>CLIENT</a:t>
            </a:r>
            <a:endParaRPr lang="en-US" sz="900" dirty="0"/>
          </a:p>
        </p:txBody>
      </p:sp>
      <p:sp>
        <p:nvSpPr>
          <p:cNvPr id="15" name="Text 13"/>
          <p:cNvSpPr/>
          <p:nvPr/>
        </p:nvSpPr>
        <p:spPr>
          <a:xfrm>
            <a:off x="2560320" y="2761488"/>
            <a:ext cx="1408176" cy="548640"/>
          </a:xfrm>
          <a:prstGeom prst="rect">
            <a:avLst/>
          </a:prstGeom>
          <a:noFill/>
          <a:ln/>
        </p:spPr>
        <p:txBody>
          <a:bodyPr wrap="square" lIns="0" tIns="0" rIns="0" bIns="0" rtlCol="0" anchor="t"/>
          <a:lstStyle/>
          <a:p>
            <a:pPr marL="0" indent="0" algn="ctr">
              <a:lnSpc>
                <a:spcPct val="106000"/>
              </a:lnSpc>
              <a:buNone/>
            </a:pPr>
            <a:r>
              <a:rPr lang="en-US" sz="1350" b="1" dirty="0">
                <a:solidFill>
                  <a:srgbClr val="16212E"/>
                </a:solidFill>
                <a:latin typeface="Calibri" pitchFamily="34" charset="0"/>
                <a:ea typeface="Calibri" pitchFamily="34" charset="-122"/>
                <a:cs typeface="Calibri" pitchFamily="34" charset="-120"/>
              </a:rPr>
              <a:t>Roll fresh randomness</a:t>
            </a:r>
            <a:endParaRPr lang="en-US" sz="1350" dirty="0"/>
          </a:p>
        </p:txBody>
      </p:sp>
      <p:sp>
        <p:nvSpPr>
          <p:cNvPr id="16" name="Text 14"/>
          <p:cNvSpPr/>
          <p:nvPr/>
        </p:nvSpPr>
        <p:spPr>
          <a:xfrm>
            <a:off x="2560320" y="3364992"/>
            <a:ext cx="1408176" cy="1280160"/>
          </a:xfrm>
          <a:prstGeom prst="rect">
            <a:avLst/>
          </a:prstGeom>
          <a:noFill/>
          <a:ln/>
        </p:spPr>
        <p:txBody>
          <a:bodyPr wrap="square" lIns="0" tIns="0" rIns="0" bIns="0" rtlCol="0" anchor="t"/>
          <a:lstStyle/>
          <a:p>
            <a:pPr marL="0" indent="0" algn="ctr">
              <a:lnSpc>
                <a:spcPct val="115000"/>
              </a:lnSpc>
              <a:buNone/>
            </a:pPr>
            <a:r>
              <a:rPr lang="en-US" sz="1100" dirty="0">
                <a:solidFill>
                  <a:srgbClr val="3D4C5A"/>
                </a:solidFill>
                <a:latin typeface="Calibri" pitchFamily="34" charset="0"/>
                <a:ea typeface="Calibri" pitchFamily="34" charset="-122"/>
                <a:cs typeface="Calibri" pitchFamily="34" charset="-120"/>
              </a:rPr>
              <a:t>A new salt and a new nonce, then derive a one-time 32-byte key.</a:t>
            </a:r>
            <a:endParaRPr lang="en-US" sz="1100" dirty="0"/>
          </a:p>
        </p:txBody>
      </p:sp>
      <p:sp>
        <p:nvSpPr>
          <p:cNvPr id="17" name="Text 15"/>
          <p:cNvSpPr/>
          <p:nvPr/>
        </p:nvSpPr>
        <p:spPr>
          <a:xfrm>
            <a:off x="4123944" y="1938528"/>
            <a:ext cx="146304" cy="365760"/>
          </a:xfrm>
          <a:prstGeom prst="rect">
            <a:avLst/>
          </a:prstGeom>
          <a:noFill/>
          <a:ln/>
        </p:spPr>
        <p:txBody>
          <a:bodyPr wrap="square" lIns="0" tIns="0" rIns="0" bIns="0" rtlCol="0" anchor="t"/>
          <a:lstStyle/>
          <a:p>
            <a:pPr marL="0" indent="0" algn="ctr">
              <a:lnSpc>
                <a:spcPct val="106000"/>
              </a:lnSpc>
              <a:buNone/>
            </a:pPr>
            <a:r>
              <a:rPr lang="en-US" sz="2000" b="1" dirty="0">
                <a:solidFill>
                  <a:srgbClr val="D6DFE7"/>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4261104" y="1700784"/>
            <a:ext cx="1700784" cy="3108960"/>
          </a:xfrm>
          <a:prstGeom prst="roundRect">
            <a:avLst>
              <a:gd name="adj" fmla="val 3226"/>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9" name="Shape 17"/>
          <p:cNvSpPr/>
          <p:nvPr/>
        </p:nvSpPr>
        <p:spPr>
          <a:xfrm>
            <a:off x="4873752" y="1901952"/>
            <a:ext cx="475488" cy="475488"/>
          </a:xfrm>
          <a:prstGeom prst="ellipse">
            <a:avLst/>
          </a:prstGeom>
          <a:solidFill>
            <a:srgbClr val="2C3E50"/>
          </a:solidFill>
          <a:ln w="6350">
            <a:solidFill>
              <a:srgbClr val="2C3E50"/>
            </a:solidFill>
            <a:prstDash val="solid"/>
          </a:ln>
        </p:spPr>
        <p:txBody>
          <a:bodyPr/>
          <a:lstStyle/>
          <a:p>
            <a:endParaRPr lang="en-US"/>
          </a:p>
        </p:txBody>
      </p:sp>
      <p:sp>
        <p:nvSpPr>
          <p:cNvPr id="20" name="Text 18"/>
          <p:cNvSpPr/>
          <p:nvPr/>
        </p:nvSpPr>
        <p:spPr>
          <a:xfrm>
            <a:off x="4873752" y="1901952"/>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Text 19"/>
          <p:cNvSpPr/>
          <p:nvPr/>
        </p:nvSpPr>
        <p:spPr>
          <a:xfrm>
            <a:off x="4407408" y="2505456"/>
            <a:ext cx="1408176" cy="219456"/>
          </a:xfrm>
          <a:prstGeom prst="rect">
            <a:avLst/>
          </a:prstGeom>
          <a:noFill/>
          <a:ln/>
        </p:spPr>
        <p:txBody>
          <a:bodyPr wrap="square" lIns="0" tIns="0" rIns="0" bIns="0" rtlCol="0" anchor="t"/>
          <a:lstStyle/>
          <a:p>
            <a:pPr marL="0" indent="0" algn="ctr">
              <a:lnSpc>
                <a:spcPct val="106000"/>
              </a:lnSpc>
              <a:buNone/>
            </a:pPr>
            <a:r>
              <a:rPr lang="en-US" sz="900" b="1" dirty="0">
                <a:solidFill>
                  <a:srgbClr val="7A8894"/>
                </a:solidFill>
                <a:latin typeface="Calibri" pitchFamily="34" charset="0"/>
                <a:ea typeface="Calibri" pitchFamily="34" charset="-122"/>
                <a:cs typeface="Calibri" pitchFamily="34" charset="-120"/>
              </a:rPr>
              <a:t>CLIENT</a:t>
            </a:r>
            <a:endParaRPr lang="en-US" sz="900" dirty="0"/>
          </a:p>
        </p:txBody>
      </p:sp>
      <p:sp>
        <p:nvSpPr>
          <p:cNvPr id="22" name="Text 20"/>
          <p:cNvSpPr/>
          <p:nvPr/>
        </p:nvSpPr>
        <p:spPr>
          <a:xfrm>
            <a:off x="4407408" y="2761488"/>
            <a:ext cx="1408176" cy="548640"/>
          </a:xfrm>
          <a:prstGeom prst="rect">
            <a:avLst/>
          </a:prstGeom>
          <a:noFill/>
          <a:ln/>
        </p:spPr>
        <p:txBody>
          <a:bodyPr wrap="square" lIns="0" tIns="0" rIns="0" bIns="0" rtlCol="0" anchor="t"/>
          <a:lstStyle/>
          <a:p>
            <a:pPr marL="0" indent="0" algn="ctr">
              <a:lnSpc>
                <a:spcPct val="106000"/>
              </a:lnSpc>
              <a:buNone/>
            </a:pPr>
            <a:r>
              <a:rPr lang="en-US" sz="1350" b="1" dirty="0">
                <a:solidFill>
                  <a:srgbClr val="16212E"/>
                </a:solidFill>
                <a:latin typeface="Calibri" pitchFamily="34" charset="0"/>
                <a:ea typeface="Calibri" pitchFamily="34" charset="-122"/>
                <a:cs typeface="Calibri" pitchFamily="34" charset="-120"/>
              </a:rPr>
              <a:t>Encrypt and seal</a:t>
            </a:r>
            <a:endParaRPr lang="en-US" sz="1350" dirty="0"/>
          </a:p>
        </p:txBody>
      </p:sp>
      <p:sp>
        <p:nvSpPr>
          <p:cNvPr id="23" name="Text 21"/>
          <p:cNvSpPr/>
          <p:nvPr/>
        </p:nvSpPr>
        <p:spPr>
          <a:xfrm>
            <a:off x="4407408" y="3364992"/>
            <a:ext cx="1408176" cy="1280160"/>
          </a:xfrm>
          <a:prstGeom prst="rect">
            <a:avLst/>
          </a:prstGeom>
          <a:noFill/>
          <a:ln/>
        </p:spPr>
        <p:txBody>
          <a:bodyPr wrap="square" lIns="0" tIns="0" rIns="0" bIns="0" rtlCol="0" anchor="t"/>
          <a:lstStyle/>
          <a:p>
            <a:pPr marL="0" indent="0" algn="ctr">
              <a:lnSpc>
                <a:spcPct val="115000"/>
              </a:lnSpc>
              <a:buNone/>
            </a:pPr>
            <a:r>
              <a:rPr lang="en-US" sz="1100" dirty="0">
                <a:solidFill>
                  <a:srgbClr val="3D4C5A"/>
                </a:solidFill>
                <a:latin typeface="Calibri" pitchFamily="34" charset="0"/>
                <a:ea typeface="Calibri" pitchFamily="34" charset="-122"/>
                <a:cs typeface="Calibri" pitchFamily="34" charset="-120"/>
              </a:rPr>
              <a:t>AES-256-GCM produces ciphertext plus a 16-byte tag.</a:t>
            </a:r>
            <a:endParaRPr lang="en-US" sz="1100" dirty="0"/>
          </a:p>
        </p:txBody>
      </p:sp>
      <p:sp>
        <p:nvSpPr>
          <p:cNvPr id="24" name="Text 22"/>
          <p:cNvSpPr/>
          <p:nvPr/>
        </p:nvSpPr>
        <p:spPr>
          <a:xfrm>
            <a:off x="5971032" y="1938528"/>
            <a:ext cx="146304" cy="365760"/>
          </a:xfrm>
          <a:prstGeom prst="rect">
            <a:avLst/>
          </a:prstGeom>
          <a:noFill/>
          <a:ln/>
        </p:spPr>
        <p:txBody>
          <a:bodyPr wrap="square" lIns="0" tIns="0" rIns="0" bIns="0" rtlCol="0" anchor="t"/>
          <a:lstStyle/>
          <a:p>
            <a:pPr marL="0" indent="0" algn="ctr">
              <a:lnSpc>
                <a:spcPct val="106000"/>
              </a:lnSpc>
              <a:buNone/>
            </a:pPr>
            <a:r>
              <a:rPr lang="en-US" sz="2000" b="1" dirty="0">
                <a:solidFill>
                  <a:srgbClr val="D6DFE7"/>
                </a:solidFill>
                <a:latin typeface="Calibri" pitchFamily="34" charset="0"/>
                <a:ea typeface="Calibri" pitchFamily="34" charset="-122"/>
                <a:cs typeface="Calibri" pitchFamily="34" charset="-120"/>
              </a:rPr>
              <a:t>›</a:t>
            </a:r>
            <a:endParaRPr lang="en-US" sz="2000" dirty="0"/>
          </a:p>
        </p:txBody>
      </p:sp>
      <p:sp>
        <p:nvSpPr>
          <p:cNvPr id="25" name="Shape 23"/>
          <p:cNvSpPr/>
          <p:nvPr/>
        </p:nvSpPr>
        <p:spPr>
          <a:xfrm>
            <a:off x="6108192" y="1700784"/>
            <a:ext cx="1700784" cy="3108960"/>
          </a:xfrm>
          <a:prstGeom prst="roundRect">
            <a:avLst>
              <a:gd name="adj" fmla="val 3226"/>
            </a:avLst>
          </a:prstGeom>
          <a:solidFill>
            <a:srgbClr val="FBEEDA"/>
          </a:solidFill>
          <a:ln w="6350">
            <a:solidFill>
              <a:srgbClr val="FBEEDA"/>
            </a:solidFill>
            <a:prstDash val="solid"/>
          </a:ln>
          <a:effectLst>
            <a:outerShdw blurRad="114300" dist="25400" dir="5400000" algn="bl" rotWithShape="0">
              <a:srgbClr val="9FB0BF">
                <a:alpha val="25000"/>
              </a:srgbClr>
            </a:outerShdw>
          </a:effectLst>
        </p:spPr>
        <p:txBody>
          <a:bodyPr/>
          <a:lstStyle/>
          <a:p>
            <a:endParaRPr lang="en-US"/>
          </a:p>
        </p:txBody>
      </p:sp>
      <p:sp>
        <p:nvSpPr>
          <p:cNvPr id="26" name="Shape 24"/>
          <p:cNvSpPr/>
          <p:nvPr/>
        </p:nvSpPr>
        <p:spPr>
          <a:xfrm>
            <a:off x="6720840" y="1901952"/>
            <a:ext cx="475488" cy="475488"/>
          </a:xfrm>
          <a:prstGeom prst="ellipse">
            <a:avLst/>
          </a:prstGeom>
          <a:solidFill>
            <a:srgbClr val="E8A033"/>
          </a:solidFill>
          <a:ln w="6350">
            <a:solidFill>
              <a:srgbClr val="E8A033"/>
            </a:solidFill>
            <a:prstDash val="solid"/>
          </a:ln>
        </p:spPr>
        <p:txBody>
          <a:bodyPr/>
          <a:lstStyle/>
          <a:p>
            <a:endParaRPr lang="en-US"/>
          </a:p>
        </p:txBody>
      </p:sp>
      <p:sp>
        <p:nvSpPr>
          <p:cNvPr id="27" name="Text 25"/>
          <p:cNvSpPr/>
          <p:nvPr/>
        </p:nvSpPr>
        <p:spPr>
          <a:xfrm>
            <a:off x="6720840" y="1901952"/>
            <a:ext cx="475488" cy="475488"/>
          </a:xfrm>
          <a:prstGeom prst="rect">
            <a:avLst/>
          </a:prstGeom>
          <a:noFill/>
          <a:ln/>
        </p:spPr>
        <p:txBody>
          <a:bodyPr wrap="square" lIns="0" tIns="0" rIns="0" bIns="0" rtlCol="0" anchor="ctr"/>
          <a:lstStyle/>
          <a:p>
            <a:pPr marL="0" indent="0" algn="ctr">
              <a:buNone/>
            </a:pPr>
            <a:r>
              <a:rPr lang="en-US" sz="1600" b="1" dirty="0">
                <a:solidFill>
                  <a:srgbClr val="0F1721"/>
                </a:solidFill>
                <a:latin typeface="Cambria" pitchFamily="34" charset="0"/>
                <a:ea typeface="Cambria" pitchFamily="34" charset="-122"/>
                <a:cs typeface="Cambria" pitchFamily="34" charset="-120"/>
              </a:rPr>
              <a:t>4</a:t>
            </a:r>
            <a:endParaRPr lang="en-US" sz="1600" dirty="0"/>
          </a:p>
        </p:txBody>
      </p:sp>
      <p:sp>
        <p:nvSpPr>
          <p:cNvPr id="28" name="Text 26"/>
          <p:cNvSpPr/>
          <p:nvPr/>
        </p:nvSpPr>
        <p:spPr>
          <a:xfrm>
            <a:off x="6254496" y="2505456"/>
            <a:ext cx="1408176" cy="219456"/>
          </a:xfrm>
          <a:prstGeom prst="rect">
            <a:avLst/>
          </a:prstGeom>
          <a:noFill/>
          <a:ln/>
        </p:spPr>
        <p:txBody>
          <a:bodyPr wrap="square" lIns="0" tIns="0" rIns="0" bIns="0" rtlCol="0" anchor="t"/>
          <a:lstStyle/>
          <a:p>
            <a:pPr marL="0" indent="0" algn="ctr">
              <a:lnSpc>
                <a:spcPct val="106000"/>
              </a:lnSpc>
              <a:buNone/>
            </a:pPr>
            <a:r>
              <a:rPr lang="en-US" sz="900" b="1" dirty="0">
                <a:solidFill>
                  <a:srgbClr val="7A8894"/>
                </a:solidFill>
                <a:latin typeface="Calibri" pitchFamily="34" charset="0"/>
                <a:ea typeface="Calibri" pitchFamily="34" charset="-122"/>
                <a:cs typeface="Calibri" pitchFamily="34" charset="-120"/>
              </a:rPr>
              <a:t>WIRE</a:t>
            </a:r>
            <a:endParaRPr lang="en-US" sz="900" dirty="0"/>
          </a:p>
        </p:txBody>
      </p:sp>
      <p:sp>
        <p:nvSpPr>
          <p:cNvPr id="29" name="Text 27"/>
          <p:cNvSpPr/>
          <p:nvPr/>
        </p:nvSpPr>
        <p:spPr>
          <a:xfrm>
            <a:off x="6254496" y="2761488"/>
            <a:ext cx="1408176" cy="548640"/>
          </a:xfrm>
          <a:prstGeom prst="rect">
            <a:avLst/>
          </a:prstGeom>
          <a:noFill/>
          <a:ln/>
        </p:spPr>
        <p:txBody>
          <a:bodyPr wrap="square" lIns="0" tIns="0" rIns="0" bIns="0" rtlCol="0" anchor="t"/>
          <a:lstStyle/>
          <a:p>
            <a:pPr marL="0" indent="0" algn="ctr">
              <a:lnSpc>
                <a:spcPct val="106000"/>
              </a:lnSpc>
              <a:buNone/>
            </a:pPr>
            <a:r>
              <a:rPr lang="en-US" sz="1350" b="1" dirty="0">
                <a:solidFill>
                  <a:srgbClr val="16212E"/>
                </a:solidFill>
                <a:latin typeface="Calibri" pitchFamily="34" charset="0"/>
                <a:ea typeface="Calibri" pitchFamily="34" charset="-122"/>
                <a:cs typeface="Calibri" pitchFamily="34" charset="-120"/>
              </a:rPr>
              <a:t>Pack and send</a:t>
            </a:r>
            <a:endParaRPr lang="en-US" sz="1350" dirty="0"/>
          </a:p>
        </p:txBody>
      </p:sp>
      <p:sp>
        <p:nvSpPr>
          <p:cNvPr id="30" name="Text 28"/>
          <p:cNvSpPr/>
          <p:nvPr/>
        </p:nvSpPr>
        <p:spPr>
          <a:xfrm>
            <a:off x="6254496" y="3364992"/>
            <a:ext cx="1408176" cy="1280160"/>
          </a:xfrm>
          <a:prstGeom prst="rect">
            <a:avLst/>
          </a:prstGeom>
          <a:noFill/>
          <a:ln/>
        </p:spPr>
        <p:txBody>
          <a:bodyPr wrap="square" lIns="0" tIns="0" rIns="0" bIns="0" rtlCol="0" anchor="t"/>
          <a:lstStyle/>
          <a:p>
            <a:pPr marL="0" indent="0" algn="ctr">
              <a:lnSpc>
                <a:spcPct val="115000"/>
              </a:lnSpc>
              <a:buNone/>
            </a:pPr>
            <a:r>
              <a:rPr lang="en-US" sz="1100" dirty="0">
                <a:solidFill>
                  <a:srgbClr val="3D4C5A"/>
                </a:solidFill>
                <a:latin typeface="Calibri" pitchFamily="34" charset="0"/>
                <a:ea typeface="Calibri" pitchFamily="34" charset="-122"/>
                <a:cs typeface="Calibri" pitchFamily="34" charset="-120"/>
              </a:rPr>
              <a:t>header + salt + nonce + ciphertext + tag, base64'd into the JSON body over HTTPS.</a:t>
            </a:r>
            <a:endParaRPr lang="en-US" sz="1100" dirty="0"/>
          </a:p>
        </p:txBody>
      </p:sp>
      <p:sp>
        <p:nvSpPr>
          <p:cNvPr id="31" name="Text 29"/>
          <p:cNvSpPr/>
          <p:nvPr/>
        </p:nvSpPr>
        <p:spPr>
          <a:xfrm>
            <a:off x="7818120" y="1938528"/>
            <a:ext cx="146304" cy="365760"/>
          </a:xfrm>
          <a:prstGeom prst="rect">
            <a:avLst/>
          </a:prstGeom>
          <a:noFill/>
          <a:ln/>
        </p:spPr>
        <p:txBody>
          <a:bodyPr wrap="square" lIns="0" tIns="0" rIns="0" bIns="0" rtlCol="0" anchor="t"/>
          <a:lstStyle/>
          <a:p>
            <a:pPr marL="0" indent="0" algn="ctr">
              <a:lnSpc>
                <a:spcPct val="106000"/>
              </a:lnSpc>
              <a:buNone/>
            </a:pPr>
            <a:r>
              <a:rPr lang="en-US" sz="2000" b="1" dirty="0">
                <a:solidFill>
                  <a:srgbClr val="D6DFE7"/>
                </a:solidFill>
                <a:latin typeface="Calibri" pitchFamily="34" charset="0"/>
                <a:ea typeface="Calibri" pitchFamily="34" charset="-122"/>
                <a:cs typeface="Calibri" pitchFamily="34" charset="-120"/>
              </a:rPr>
              <a:t>›</a:t>
            </a:r>
            <a:endParaRPr lang="en-US" sz="2000" dirty="0"/>
          </a:p>
        </p:txBody>
      </p:sp>
      <p:sp>
        <p:nvSpPr>
          <p:cNvPr id="32" name="Shape 30"/>
          <p:cNvSpPr/>
          <p:nvPr/>
        </p:nvSpPr>
        <p:spPr>
          <a:xfrm>
            <a:off x="7955280" y="1700784"/>
            <a:ext cx="1700784" cy="3108960"/>
          </a:xfrm>
          <a:prstGeom prst="roundRect">
            <a:avLst>
              <a:gd name="adj" fmla="val 3226"/>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33" name="Shape 31"/>
          <p:cNvSpPr/>
          <p:nvPr/>
        </p:nvSpPr>
        <p:spPr>
          <a:xfrm>
            <a:off x="8567928" y="1901952"/>
            <a:ext cx="475488" cy="475488"/>
          </a:xfrm>
          <a:prstGeom prst="ellipse">
            <a:avLst/>
          </a:prstGeom>
          <a:solidFill>
            <a:srgbClr val="2C3E50"/>
          </a:solidFill>
          <a:ln w="6350">
            <a:solidFill>
              <a:srgbClr val="2C3E50"/>
            </a:solidFill>
            <a:prstDash val="solid"/>
          </a:ln>
        </p:spPr>
        <p:txBody>
          <a:bodyPr/>
          <a:lstStyle/>
          <a:p>
            <a:endParaRPr lang="en-US"/>
          </a:p>
        </p:txBody>
      </p:sp>
      <p:sp>
        <p:nvSpPr>
          <p:cNvPr id="34" name="Text 32"/>
          <p:cNvSpPr/>
          <p:nvPr/>
        </p:nvSpPr>
        <p:spPr>
          <a:xfrm>
            <a:off x="8567928" y="1901952"/>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5" name="Text 33"/>
          <p:cNvSpPr/>
          <p:nvPr/>
        </p:nvSpPr>
        <p:spPr>
          <a:xfrm>
            <a:off x="8101584" y="2505456"/>
            <a:ext cx="1408176" cy="219456"/>
          </a:xfrm>
          <a:prstGeom prst="rect">
            <a:avLst/>
          </a:prstGeom>
          <a:noFill/>
          <a:ln/>
        </p:spPr>
        <p:txBody>
          <a:bodyPr wrap="square" lIns="0" tIns="0" rIns="0" bIns="0" rtlCol="0" anchor="t"/>
          <a:lstStyle/>
          <a:p>
            <a:pPr marL="0" indent="0" algn="ctr">
              <a:lnSpc>
                <a:spcPct val="106000"/>
              </a:lnSpc>
              <a:buNone/>
            </a:pPr>
            <a:r>
              <a:rPr lang="en-US" sz="900" b="1" dirty="0">
                <a:solidFill>
                  <a:srgbClr val="7A8894"/>
                </a:solidFill>
                <a:latin typeface="Calibri" pitchFamily="34" charset="0"/>
                <a:ea typeface="Calibri" pitchFamily="34" charset="-122"/>
                <a:cs typeface="Calibri" pitchFamily="34" charset="-120"/>
              </a:rPr>
              <a:t>SERVER</a:t>
            </a:r>
            <a:endParaRPr lang="en-US" sz="900" dirty="0"/>
          </a:p>
        </p:txBody>
      </p:sp>
      <p:sp>
        <p:nvSpPr>
          <p:cNvPr id="36" name="Text 34"/>
          <p:cNvSpPr/>
          <p:nvPr/>
        </p:nvSpPr>
        <p:spPr>
          <a:xfrm>
            <a:off x="8101584" y="2761488"/>
            <a:ext cx="1408176" cy="548640"/>
          </a:xfrm>
          <a:prstGeom prst="rect">
            <a:avLst/>
          </a:prstGeom>
          <a:noFill/>
          <a:ln/>
        </p:spPr>
        <p:txBody>
          <a:bodyPr wrap="square" lIns="0" tIns="0" rIns="0" bIns="0" rtlCol="0" anchor="t"/>
          <a:lstStyle/>
          <a:p>
            <a:pPr marL="0" indent="0" algn="ctr">
              <a:lnSpc>
                <a:spcPct val="106000"/>
              </a:lnSpc>
              <a:buNone/>
            </a:pPr>
            <a:r>
              <a:rPr lang="en-US" sz="1350" b="1" dirty="0">
                <a:solidFill>
                  <a:srgbClr val="16212E"/>
                </a:solidFill>
                <a:latin typeface="Calibri" pitchFamily="34" charset="0"/>
                <a:ea typeface="Calibri" pitchFamily="34" charset="-122"/>
                <a:cs typeface="Calibri" pitchFamily="34" charset="-120"/>
              </a:rPr>
              <a:t>Unpack and re-derive</a:t>
            </a:r>
            <a:endParaRPr lang="en-US" sz="1350" dirty="0"/>
          </a:p>
        </p:txBody>
      </p:sp>
      <p:sp>
        <p:nvSpPr>
          <p:cNvPr id="37" name="Text 35"/>
          <p:cNvSpPr/>
          <p:nvPr/>
        </p:nvSpPr>
        <p:spPr>
          <a:xfrm>
            <a:off x="8101584" y="3364992"/>
            <a:ext cx="1408176" cy="1280160"/>
          </a:xfrm>
          <a:prstGeom prst="rect">
            <a:avLst/>
          </a:prstGeom>
          <a:noFill/>
          <a:ln/>
        </p:spPr>
        <p:txBody>
          <a:bodyPr wrap="square" lIns="0" tIns="0" rIns="0" bIns="0" rtlCol="0" anchor="t"/>
          <a:lstStyle/>
          <a:p>
            <a:pPr marL="0" indent="0" algn="ctr">
              <a:lnSpc>
                <a:spcPct val="115000"/>
              </a:lnSpc>
              <a:buNone/>
            </a:pPr>
            <a:r>
              <a:rPr lang="en-US" sz="1100" dirty="0">
                <a:solidFill>
                  <a:srgbClr val="3D4C5A"/>
                </a:solidFill>
                <a:latin typeface="Calibri" pitchFamily="34" charset="0"/>
                <a:ea typeface="Calibri" pitchFamily="34" charset="-122"/>
                <a:cs typeface="Calibri" pitchFamily="34" charset="-120"/>
              </a:rPr>
              <a:t>The server reads the header, pulls out salt and nonce, derives the identical key.</a:t>
            </a:r>
            <a:endParaRPr lang="en-US" sz="1100" dirty="0"/>
          </a:p>
        </p:txBody>
      </p:sp>
      <p:sp>
        <p:nvSpPr>
          <p:cNvPr id="38" name="Text 36"/>
          <p:cNvSpPr/>
          <p:nvPr/>
        </p:nvSpPr>
        <p:spPr>
          <a:xfrm>
            <a:off x="9665208" y="1938528"/>
            <a:ext cx="146304" cy="365760"/>
          </a:xfrm>
          <a:prstGeom prst="rect">
            <a:avLst/>
          </a:prstGeom>
          <a:noFill/>
          <a:ln/>
        </p:spPr>
        <p:txBody>
          <a:bodyPr wrap="square" lIns="0" tIns="0" rIns="0" bIns="0" rtlCol="0" anchor="t"/>
          <a:lstStyle/>
          <a:p>
            <a:pPr marL="0" indent="0" algn="ctr">
              <a:lnSpc>
                <a:spcPct val="106000"/>
              </a:lnSpc>
              <a:buNone/>
            </a:pPr>
            <a:r>
              <a:rPr lang="en-US" sz="2000" b="1" dirty="0">
                <a:solidFill>
                  <a:srgbClr val="D6DFE7"/>
                </a:solidFill>
                <a:latin typeface="Calibri" pitchFamily="34" charset="0"/>
                <a:ea typeface="Calibri" pitchFamily="34" charset="-122"/>
                <a:cs typeface="Calibri" pitchFamily="34" charset="-120"/>
              </a:rPr>
              <a:t>›</a:t>
            </a:r>
            <a:endParaRPr lang="en-US" sz="2000" dirty="0"/>
          </a:p>
        </p:txBody>
      </p:sp>
      <p:sp>
        <p:nvSpPr>
          <p:cNvPr id="39" name="Shape 37"/>
          <p:cNvSpPr/>
          <p:nvPr/>
        </p:nvSpPr>
        <p:spPr>
          <a:xfrm>
            <a:off x="9802368" y="1700784"/>
            <a:ext cx="1700784" cy="3108960"/>
          </a:xfrm>
          <a:prstGeom prst="roundRect">
            <a:avLst>
              <a:gd name="adj" fmla="val 3226"/>
            </a:avLst>
          </a:prstGeom>
          <a:solidFill>
            <a:srgbClr val="E2F4EF"/>
          </a:solidFill>
          <a:ln w="6350">
            <a:solidFill>
              <a:srgbClr val="E2F4EF"/>
            </a:solidFill>
            <a:prstDash val="solid"/>
          </a:ln>
          <a:effectLst>
            <a:outerShdw blurRad="114300" dist="25400" dir="5400000" algn="bl" rotWithShape="0">
              <a:srgbClr val="9FB0BF">
                <a:alpha val="25000"/>
              </a:srgbClr>
            </a:outerShdw>
          </a:effectLst>
        </p:spPr>
        <p:txBody>
          <a:bodyPr/>
          <a:lstStyle/>
          <a:p>
            <a:endParaRPr lang="en-US"/>
          </a:p>
        </p:txBody>
      </p:sp>
      <p:sp>
        <p:nvSpPr>
          <p:cNvPr id="40" name="Shape 38"/>
          <p:cNvSpPr/>
          <p:nvPr/>
        </p:nvSpPr>
        <p:spPr>
          <a:xfrm>
            <a:off x="10415016" y="1901952"/>
            <a:ext cx="475488" cy="475488"/>
          </a:xfrm>
          <a:prstGeom prst="ellipse">
            <a:avLst/>
          </a:prstGeom>
          <a:solidFill>
            <a:srgbClr val="2BA88C"/>
          </a:solidFill>
          <a:ln w="6350">
            <a:solidFill>
              <a:srgbClr val="2BA88C"/>
            </a:solidFill>
            <a:prstDash val="solid"/>
          </a:ln>
        </p:spPr>
        <p:txBody>
          <a:bodyPr/>
          <a:lstStyle/>
          <a:p>
            <a:endParaRPr lang="en-US"/>
          </a:p>
        </p:txBody>
      </p:sp>
      <p:sp>
        <p:nvSpPr>
          <p:cNvPr id="41" name="Text 39"/>
          <p:cNvSpPr/>
          <p:nvPr/>
        </p:nvSpPr>
        <p:spPr>
          <a:xfrm>
            <a:off x="10415016" y="1901952"/>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42" name="Text 40"/>
          <p:cNvSpPr/>
          <p:nvPr/>
        </p:nvSpPr>
        <p:spPr>
          <a:xfrm>
            <a:off x="9948672" y="2505456"/>
            <a:ext cx="1408176" cy="219456"/>
          </a:xfrm>
          <a:prstGeom prst="rect">
            <a:avLst/>
          </a:prstGeom>
          <a:noFill/>
          <a:ln/>
        </p:spPr>
        <p:txBody>
          <a:bodyPr wrap="square" lIns="0" tIns="0" rIns="0" bIns="0" rtlCol="0" anchor="t"/>
          <a:lstStyle/>
          <a:p>
            <a:pPr marL="0" indent="0" algn="ctr">
              <a:lnSpc>
                <a:spcPct val="106000"/>
              </a:lnSpc>
              <a:buNone/>
            </a:pPr>
            <a:r>
              <a:rPr lang="en-US" sz="900" b="1" dirty="0">
                <a:solidFill>
                  <a:srgbClr val="7A8894"/>
                </a:solidFill>
                <a:latin typeface="Calibri" pitchFamily="34" charset="0"/>
                <a:ea typeface="Calibri" pitchFamily="34" charset="-122"/>
                <a:cs typeface="Calibri" pitchFamily="34" charset="-120"/>
              </a:rPr>
              <a:t>SERVER</a:t>
            </a:r>
            <a:endParaRPr lang="en-US" sz="900" dirty="0"/>
          </a:p>
        </p:txBody>
      </p:sp>
      <p:sp>
        <p:nvSpPr>
          <p:cNvPr id="43" name="Text 41"/>
          <p:cNvSpPr/>
          <p:nvPr/>
        </p:nvSpPr>
        <p:spPr>
          <a:xfrm>
            <a:off x="9948672" y="2761488"/>
            <a:ext cx="1408176" cy="548640"/>
          </a:xfrm>
          <a:prstGeom prst="rect">
            <a:avLst/>
          </a:prstGeom>
          <a:noFill/>
          <a:ln/>
        </p:spPr>
        <p:txBody>
          <a:bodyPr wrap="square" lIns="0" tIns="0" rIns="0" bIns="0" rtlCol="0" anchor="t"/>
          <a:lstStyle/>
          <a:p>
            <a:pPr marL="0" indent="0" algn="ctr">
              <a:lnSpc>
                <a:spcPct val="106000"/>
              </a:lnSpc>
              <a:buNone/>
            </a:pPr>
            <a:r>
              <a:rPr lang="en-US" sz="1350" b="1" dirty="0">
                <a:solidFill>
                  <a:srgbClr val="16212E"/>
                </a:solidFill>
                <a:latin typeface="Calibri" pitchFamily="34" charset="0"/>
                <a:ea typeface="Calibri" pitchFamily="34" charset="-122"/>
                <a:cs typeface="Calibri" pitchFamily="34" charset="-120"/>
              </a:rPr>
              <a:t>Verify, then reveal</a:t>
            </a:r>
            <a:endParaRPr lang="en-US" sz="1350" dirty="0"/>
          </a:p>
        </p:txBody>
      </p:sp>
      <p:sp>
        <p:nvSpPr>
          <p:cNvPr id="44" name="Text 42"/>
          <p:cNvSpPr/>
          <p:nvPr/>
        </p:nvSpPr>
        <p:spPr>
          <a:xfrm>
            <a:off x="9948672" y="3364992"/>
            <a:ext cx="1408176" cy="1280160"/>
          </a:xfrm>
          <a:prstGeom prst="rect">
            <a:avLst/>
          </a:prstGeom>
          <a:noFill/>
          <a:ln/>
        </p:spPr>
        <p:txBody>
          <a:bodyPr wrap="square" lIns="0" tIns="0" rIns="0" bIns="0" rtlCol="0" anchor="t"/>
          <a:lstStyle/>
          <a:p>
            <a:pPr marL="0" indent="0" algn="ctr">
              <a:lnSpc>
                <a:spcPct val="115000"/>
              </a:lnSpc>
              <a:buNone/>
            </a:pPr>
            <a:r>
              <a:rPr lang="en-US" sz="1100" dirty="0">
                <a:solidFill>
                  <a:srgbClr val="3D4C5A"/>
                </a:solidFill>
                <a:latin typeface="Calibri" pitchFamily="34" charset="0"/>
                <a:ea typeface="Calibri" pitchFamily="34" charset="-122"/>
                <a:cs typeface="Calibri" pitchFamily="34" charset="-120"/>
              </a:rPr>
              <a:t>The tag is checked first. Pass → plaintext. Fail → an error and nothing else.</a:t>
            </a:r>
            <a:endParaRPr lang="en-US" sz="1100" dirty="0"/>
          </a:p>
        </p:txBody>
      </p:sp>
      <p:sp>
        <p:nvSpPr>
          <p:cNvPr id="45" name="Shape 43"/>
          <p:cNvSpPr/>
          <p:nvPr/>
        </p:nvSpPr>
        <p:spPr>
          <a:xfrm>
            <a:off x="566928" y="4974336"/>
            <a:ext cx="11057839" cy="1097280"/>
          </a:xfrm>
          <a:prstGeom prst="roundRect">
            <a:avLst>
              <a:gd name="adj" fmla="val 5000"/>
            </a:avLst>
          </a:prstGeom>
          <a:solidFill>
            <a:srgbClr val="0F1721"/>
          </a:solidFill>
          <a:ln w="6350">
            <a:solidFill>
              <a:srgbClr val="0F1721"/>
            </a:solidFill>
            <a:prstDash val="solid"/>
          </a:ln>
        </p:spPr>
        <p:txBody>
          <a:bodyPr/>
          <a:lstStyle/>
          <a:p>
            <a:endParaRPr lang="en-US"/>
          </a:p>
        </p:txBody>
      </p:sp>
      <p:sp>
        <p:nvSpPr>
          <p:cNvPr id="46" name="Text 44"/>
          <p:cNvSpPr/>
          <p:nvPr/>
        </p:nvSpPr>
        <p:spPr>
          <a:xfrm>
            <a:off x="950976" y="5193792"/>
            <a:ext cx="5120640" cy="310896"/>
          </a:xfrm>
          <a:prstGeom prst="rect">
            <a:avLst/>
          </a:prstGeom>
          <a:noFill/>
          <a:ln/>
        </p:spPr>
        <p:txBody>
          <a:bodyPr wrap="square" lIns="0" tIns="0" rIns="0" bIns="0" rtlCol="0" anchor="t"/>
          <a:lstStyle/>
          <a:p>
            <a:pPr marL="0" indent="0" algn="l">
              <a:lnSpc>
                <a:spcPct val="106000"/>
              </a:lnSpc>
              <a:buNone/>
            </a:pPr>
            <a:r>
              <a:rPr lang="en-US" sz="1600" b="1" dirty="0">
                <a:solidFill>
                  <a:srgbClr val="E8A033"/>
                </a:solidFill>
                <a:latin typeface="Calibri" pitchFamily="34" charset="0"/>
                <a:ea typeface="Calibri" pitchFamily="34" charset="-122"/>
                <a:cs typeface="Calibri" pitchFamily="34" charset="-120"/>
              </a:rPr>
              <a:t>Step 6 is the critical step in AES-GCM</a:t>
            </a:r>
            <a:endParaRPr lang="en-US" sz="1600" dirty="0"/>
          </a:p>
        </p:txBody>
      </p:sp>
      <p:sp>
        <p:nvSpPr>
          <p:cNvPr id="47" name="Text 45"/>
          <p:cNvSpPr/>
          <p:nvPr/>
        </p:nvSpPr>
        <p:spPr>
          <a:xfrm>
            <a:off x="950976" y="5541264"/>
            <a:ext cx="10234879" cy="457200"/>
          </a:xfrm>
          <a:prstGeom prst="rect">
            <a:avLst/>
          </a:prstGeom>
          <a:noFill/>
          <a:ln/>
        </p:spPr>
        <p:txBody>
          <a:bodyPr wrap="square" lIns="0" tIns="0" rIns="0" bIns="0" rtlCol="0" anchor="t"/>
          <a:lstStyle/>
          <a:p>
            <a:pPr marL="0" indent="0" algn="l">
              <a:lnSpc>
                <a:spcPct val="106000"/>
              </a:lnSpc>
              <a:buNone/>
            </a:pPr>
            <a:r>
              <a:rPr lang="en-US" sz="1350" dirty="0">
                <a:solidFill>
                  <a:srgbClr val="C6D3DE"/>
                </a:solidFill>
                <a:latin typeface="Calibri" pitchFamily="34" charset="0"/>
                <a:ea typeface="Calibri" pitchFamily="34" charset="-122"/>
                <a:cs typeface="Calibri" pitchFamily="34" charset="-120"/>
              </a:rPr>
              <a:t>Under CBC, a tampered message quietly decrypted into garbage and our code went on to parse it. Under GCM, it cannot get that far: verification happens before any plaintext exists.</a:t>
            </a:r>
            <a:endParaRPr lang="en-US" sz="1350" dirty="0"/>
          </a:p>
        </p:txBody>
      </p:sp>
      <p:sp>
        <p:nvSpPr>
          <p:cNvPr id="48" name="Text 46"/>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1 · The idea</a:t>
            </a:r>
            <a:endParaRPr lang="en-US" sz="950" dirty="0"/>
          </a:p>
        </p:txBody>
      </p:sp>
      <p:sp>
        <p:nvSpPr>
          <p:cNvPr id="49" name="Text 47"/>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WHERE THIS MANDATE CAME FROM</a:t>
            </a:r>
            <a:endParaRPr lang="en-US" sz="1100" dirty="0"/>
          </a:p>
        </p:txBody>
      </p:sp>
      <p:sp>
        <p:nvSpPr>
          <p:cNvPr id="3" name="Text 1"/>
          <p:cNvSpPr/>
          <p:nvPr/>
        </p:nvSpPr>
        <p:spPr>
          <a:xfrm>
            <a:off x="566928" y="658368"/>
            <a:ext cx="11057839" cy="548640"/>
          </a:xfrm>
          <a:prstGeom prst="rect">
            <a:avLst/>
          </a:prstGeom>
          <a:noFill/>
          <a:ln/>
        </p:spPr>
        <p:txBody>
          <a:bodyPr wrap="square" lIns="0" tIns="0" rIns="0" bIns="0" rtlCol="0" anchor="ctr"/>
          <a:lstStyle/>
          <a:p>
            <a:pPr marL="0" indent="0">
              <a:buNone/>
            </a:pPr>
            <a:r>
              <a:rPr lang="en-US" sz="3000" b="1" dirty="0">
                <a:solidFill>
                  <a:srgbClr val="16212E"/>
                </a:solidFill>
                <a:latin typeface="Cambria" pitchFamily="34" charset="0"/>
                <a:ea typeface="Cambria" pitchFamily="34" charset="-122"/>
                <a:cs typeface="Cambria" pitchFamily="34" charset="-120"/>
              </a:rPr>
              <a:t>RBI + CERT-In: the CBOM / QBOM directive</a:t>
            </a:r>
            <a:endParaRPr lang="en-US" sz="3000" dirty="0"/>
          </a:p>
        </p:txBody>
      </p:sp>
      <p:sp>
        <p:nvSpPr>
          <p:cNvPr id="4" name="Text 2"/>
          <p:cNvSpPr/>
          <p:nvPr/>
        </p:nvSpPr>
        <p:spPr>
          <a:xfrm>
            <a:off x="566928" y="1298448"/>
            <a:ext cx="11057839" cy="457200"/>
          </a:xfrm>
          <a:prstGeom prst="rect">
            <a:avLst/>
          </a:prstGeom>
          <a:noFill/>
          <a:ln/>
        </p:spPr>
        <p:txBody>
          <a:bodyPr wrap="square" lIns="0" tIns="0" rIns="0" bIns="0" rtlCol="0" anchor="t"/>
          <a:lstStyle/>
          <a:p>
            <a:pPr marL="0" indent="0" algn="l">
              <a:lnSpc>
                <a:spcPct val="115000"/>
              </a:lnSpc>
              <a:buNone/>
            </a:pPr>
            <a:r>
              <a:rPr lang="en-US" sz="1350" dirty="0">
                <a:solidFill>
                  <a:srgbClr val="7A8894"/>
                </a:solidFill>
                <a:latin typeface="Calibri" pitchFamily="34" charset="0"/>
                <a:ea typeface="Calibri" pitchFamily="34" charset="-122"/>
                <a:cs typeface="Calibri" pitchFamily="34" charset="-120"/>
              </a:rPr>
              <a:t>This is not our preference — it is a regulatory directive. India’s banking regulator (RBI) and national cyber agency (CERT-In) require every system to inventory its cryptography and move to quantum-resilient algorithms.</a:t>
            </a:r>
            <a:endParaRPr lang="en-US" sz="1350" dirty="0"/>
          </a:p>
        </p:txBody>
      </p:sp>
      <p:sp>
        <p:nvSpPr>
          <p:cNvPr id="5" name="Shape 3"/>
          <p:cNvSpPr/>
          <p:nvPr/>
        </p:nvSpPr>
        <p:spPr>
          <a:xfrm>
            <a:off x="566928" y="1865376"/>
            <a:ext cx="5358384" cy="1225296"/>
          </a:xfrm>
          <a:prstGeom prst="roundRect">
            <a:avLst>
              <a:gd name="adj" fmla="val 4478"/>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6" name="Text 4"/>
          <p:cNvSpPr/>
          <p:nvPr/>
        </p:nvSpPr>
        <p:spPr>
          <a:xfrm>
            <a:off x="859536" y="2048256"/>
            <a:ext cx="2011680" cy="310896"/>
          </a:xfrm>
          <a:prstGeom prst="rect">
            <a:avLst/>
          </a:prstGeom>
          <a:noFill/>
          <a:ln/>
        </p:spPr>
        <p:txBody>
          <a:bodyPr wrap="square" lIns="0" tIns="0" rIns="0" bIns="0" rtlCol="0" anchor="t"/>
          <a:lstStyle/>
          <a:p>
            <a:pPr marL="0" indent="0" algn="l">
              <a:lnSpc>
                <a:spcPct val="106000"/>
              </a:lnSpc>
              <a:buNone/>
            </a:pPr>
            <a:r>
              <a:rPr lang="en-US" sz="1700" b="1" dirty="0">
                <a:solidFill>
                  <a:srgbClr val="16212E"/>
                </a:solidFill>
                <a:latin typeface="Calibri" pitchFamily="34" charset="0"/>
                <a:ea typeface="Calibri" pitchFamily="34" charset="-122"/>
                <a:cs typeface="Calibri" pitchFamily="34" charset="-120"/>
              </a:rPr>
              <a:t>CBOM</a:t>
            </a:r>
            <a:endParaRPr lang="en-US" sz="1700" dirty="0"/>
          </a:p>
        </p:txBody>
      </p:sp>
      <p:sp>
        <p:nvSpPr>
          <p:cNvPr id="7" name="Text 5"/>
          <p:cNvSpPr/>
          <p:nvPr/>
        </p:nvSpPr>
        <p:spPr>
          <a:xfrm>
            <a:off x="2167128" y="2103120"/>
            <a:ext cx="3529584" cy="274320"/>
          </a:xfrm>
          <a:prstGeom prst="rect">
            <a:avLst/>
          </a:prstGeom>
          <a:noFill/>
          <a:ln/>
        </p:spPr>
        <p:txBody>
          <a:bodyPr wrap="square" lIns="0" tIns="0" rIns="0" bIns="0" rtlCol="0" anchor="t"/>
          <a:lstStyle/>
          <a:p>
            <a:pPr marL="0" indent="0" algn="l">
              <a:lnSpc>
                <a:spcPct val="106000"/>
              </a:lnSpc>
              <a:buNone/>
            </a:pPr>
            <a:r>
              <a:rPr lang="en-US" sz="1150" b="1" dirty="0">
                <a:solidFill>
                  <a:srgbClr val="7A8894"/>
                </a:solidFill>
                <a:latin typeface="Calibri" pitchFamily="34" charset="0"/>
                <a:ea typeface="Calibri" pitchFamily="34" charset="-122"/>
                <a:cs typeface="Calibri" pitchFamily="34" charset="-120"/>
              </a:rPr>
              <a:t>Cryptographic Bill of Materials</a:t>
            </a:r>
            <a:endParaRPr lang="en-US" sz="1150" dirty="0"/>
          </a:p>
        </p:txBody>
      </p:sp>
      <p:sp>
        <p:nvSpPr>
          <p:cNvPr id="8" name="Text 6"/>
          <p:cNvSpPr/>
          <p:nvPr/>
        </p:nvSpPr>
        <p:spPr>
          <a:xfrm>
            <a:off x="859536" y="2450592"/>
            <a:ext cx="4773168" cy="548640"/>
          </a:xfrm>
          <a:prstGeom prst="rect">
            <a:avLst/>
          </a:prstGeom>
          <a:noFill/>
          <a:ln/>
        </p:spPr>
        <p:txBody>
          <a:bodyPr wrap="square" lIns="0" tIns="0" rIns="0" bIns="0" rtlCol="0" anchor="t"/>
          <a:lstStyle/>
          <a:p>
            <a:pPr marL="0" indent="0" algn="l">
              <a:lnSpc>
                <a:spcPct val="114000"/>
              </a:lnSpc>
              <a:buNone/>
            </a:pPr>
            <a:r>
              <a:rPr lang="en-US" sz="1200" dirty="0">
                <a:solidFill>
                  <a:srgbClr val="3D4C5A"/>
                </a:solidFill>
                <a:latin typeface="Calibri" pitchFamily="34" charset="0"/>
                <a:ea typeface="Calibri" pitchFamily="34" charset="-122"/>
                <a:cs typeface="Calibri" pitchFamily="34" charset="-120"/>
              </a:rPr>
              <a:t>An inventory of every cipher, key and certificate we run. You cannot migrate what you cannot see — so first you catalogue it all.</a:t>
            </a:r>
            <a:endParaRPr lang="en-US" sz="1200" dirty="0"/>
          </a:p>
        </p:txBody>
      </p:sp>
      <p:sp>
        <p:nvSpPr>
          <p:cNvPr id="9" name="Shape 7"/>
          <p:cNvSpPr/>
          <p:nvPr/>
        </p:nvSpPr>
        <p:spPr>
          <a:xfrm>
            <a:off x="6236208" y="1865376"/>
            <a:ext cx="5358384" cy="1225296"/>
          </a:xfrm>
          <a:prstGeom prst="roundRect">
            <a:avLst>
              <a:gd name="adj" fmla="val 4478"/>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0" name="Text 8"/>
          <p:cNvSpPr/>
          <p:nvPr/>
        </p:nvSpPr>
        <p:spPr>
          <a:xfrm>
            <a:off x="6528816" y="2048256"/>
            <a:ext cx="2011680" cy="310896"/>
          </a:xfrm>
          <a:prstGeom prst="rect">
            <a:avLst/>
          </a:prstGeom>
          <a:noFill/>
          <a:ln/>
        </p:spPr>
        <p:txBody>
          <a:bodyPr wrap="square" lIns="0" tIns="0" rIns="0" bIns="0" rtlCol="0" anchor="t"/>
          <a:lstStyle/>
          <a:p>
            <a:pPr marL="0" indent="0" algn="l">
              <a:lnSpc>
                <a:spcPct val="106000"/>
              </a:lnSpc>
              <a:buNone/>
            </a:pPr>
            <a:r>
              <a:rPr lang="en-US" sz="1700" b="1" dirty="0">
                <a:solidFill>
                  <a:srgbClr val="16212E"/>
                </a:solidFill>
                <a:latin typeface="Calibri" pitchFamily="34" charset="0"/>
                <a:ea typeface="Calibri" pitchFamily="34" charset="-122"/>
                <a:cs typeface="Calibri" pitchFamily="34" charset="-120"/>
              </a:rPr>
              <a:t>QBOM</a:t>
            </a:r>
            <a:endParaRPr lang="en-US" sz="1700" dirty="0"/>
          </a:p>
        </p:txBody>
      </p:sp>
      <p:sp>
        <p:nvSpPr>
          <p:cNvPr id="11" name="Text 9"/>
          <p:cNvSpPr/>
          <p:nvPr/>
        </p:nvSpPr>
        <p:spPr>
          <a:xfrm>
            <a:off x="7836408" y="2103120"/>
            <a:ext cx="3529584" cy="274320"/>
          </a:xfrm>
          <a:prstGeom prst="rect">
            <a:avLst/>
          </a:prstGeom>
          <a:noFill/>
          <a:ln/>
        </p:spPr>
        <p:txBody>
          <a:bodyPr wrap="square" lIns="0" tIns="0" rIns="0" bIns="0" rtlCol="0" anchor="t"/>
          <a:lstStyle/>
          <a:p>
            <a:pPr marL="0" indent="0" algn="l">
              <a:lnSpc>
                <a:spcPct val="106000"/>
              </a:lnSpc>
              <a:buNone/>
            </a:pPr>
            <a:r>
              <a:rPr lang="en-US" sz="1150" b="1" dirty="0">
                <a:solidFill>
                  <a:srgbClr val="7A8894"/>
                </a:solidFill>
                <a:latin typeface="Calibri" pitchFamily="34" charset="0"/>
                <a:ea typeface="Calibri" pitchFamily="34" charset="-122"/>
                <a:cs typeface="Calibri" pitchFamily="34" charset="-120"/>
              </a:rPr>
              <a:t>Quantum Bill of Materials</a:t>
            </a:r>
            <a:endParaRPr lang="en-US" sz="1150" dirty="0"/>
          </a:p>
        </p:txBody>
      </p:sp>
      <p:sp>
        <p:nvSpPr>
          <p:cNvPr id="12" name="Text 10"/>
          <p:cNvSpPr/>
          <p:nvPr/>
        </p:nvSpPr>
        <p:spPr>
          <a:xfrm>
            <a:off x="6528816" y="2450592"/>
            <a:ext cx="4773168" cy="548640"/>
          </a:xfrm>
          <a:prstGeom prst="rect">
            <a:avLst/>
          </a:prstGeom>
          <a:noFill/>
          <a:ln/>
        </p:spPr>
        <p:txBody>
          <a:bodyPr wrap="square" lIns="0" tIns="0" rIns="0" bIns="0" rtlCol="0" anchor="t"/>
          <a:lstStyle/>
          <a:p>
            <a:pPr marL="0" indent="0" algn="l">
              <a:lnSpc>
                <a:spcPct val="114000"/>
              </a:lnSpc>
              <a:buNone/>
            </a:pPr>
            <a:r>
              <a:rPr lang="en-US" sz="1200" dirty="0">
                <a:solidFill>
                  <a:srgbClr val="3D4C5A"/>
                </a:solidFill>
                <a:latin typeface="Calibri" pitchFamily="34" charset="0"/>
                <a:ea typeface="Calibri" pitchFamily="34" charset="-122"/>
                <a:cs typeface="Calibri" pitchFamily="34" charset="-120"/>
              </a:rPr>
              <a:t>The same inventory, each entry tagged safe or unsafe against a future quantum computer. Our info string — CBOM-AES-256-GCM-SHA384 — comes straight from this.</a:t>
            </a:r>
            <a:endParaRPr lang="en-US" sz="1200" dirty="0"/>
          </a:p>
        </p:txBody>
      </p:sp>
      <p:sp>
        <p:nvSpPr>
          <p:cNvPr id="13" name="Shape 11"/>
          <p:cNvSpPr/>
          <p:nvPr/>
        </p:nvSpPr>
        <p:spPr>
          <a:xfrm>
            <a:off x="566928" y="3310127"/>
            <a:ext cx="11057839" cy="1902395"/>
          </a:xfrm>
          <a:prstGeom prst="roundRect">
            <a:avLst>
              <a:gd name="adj" fmla="val 3448"/>
            </a:avLst>
          </a:prstGeom>
          <a:solidFill>
            <a:srgbClr val="FFFFFF"/>
          </a:solidFill>
          <a:ln w="12700">
            <a:solidFill>
              <a:srgbClr val="D6DFE7"/>
            </a:solidFill>
            <a:prstDash val="solid"/>
          </a:ln>
        </p:spPr>
        <p:txBody>
          <a:bodyPr/>
          <a:lstStyle/>
          <a:p>
            <a:endParaRPr lang="en-US"/>
          </a:p>
        </p:txBody>
      </p:sp>
      <p:sp>
        <p:nvSpPr>
          <p:cNvPr id="14" name="Text 12"/>
          <p:cNvSpPr/>
          <p:nvPr/>
        </p:nvSpPr>
        <p:spPr>
          <a:xfrm>
            <a:off x="877824" y="3456432"/>
            <a:ext cx="3657600" cy="237744"/>
          </a:xfrm>
          <a:prstGeom prst="rect">
            <a:avLst/>
          </a:prstGeom>
          <a:noFill/>
          <a:ln/>
        </p:spPr>
        <p:txBody>
          <a:bodyPr wrap="square" lIns="0" tIns="0" rIns="0" bIns="0" rtlCol="0" anchor="t"/>
          <a:lstStyle/>
          <a:p>
            <a:pPr marL="0" indent="0" algn="l">
              <a:lnSpc>
                <a:spcPct val="106000"/>
              </a:lnSpc>
              <a:buNone/>
            </a:pPr>
            <a:r>
              <a:rPr lang="en-US" sz="1050" b="1" dirty="0">
                <a:solidFill>
                  <a:srgbClr val="E8A033"/>
                </a:solidFill>
                <a:latin typeface="Calibri" pitchFamily="34" charset="0"/>
                <a:ea typeface="Calibri" pitchFamily="34" charset="-122"/>
                <a:cs typeface="Calibri" pitchFamily="34" charset="-120"/>
              </a:rPr>
              <a:t>THE APPROVED LIST</a:t>
            </a:r>
            <a:endParaRPr lang="en-US" sz="1050" dirty="0"/>
          </a:p>
        </p:txBody>
      </p:sp>
      <p:sp>
        <p:nvSpPr>
          <p:cNvPr id="15" name="Text 13"/>
          <p:cNvSpPr/>
          <p:nvPr/>
        </p:nvSpPr>
        <p:spPr>
          <a:xfrm>
            <a:off x="877824" y="3749040"/>
            <a:ext cx="1828800" cy="237744"/>
          </a:xfrm>
          <a:prstGeom prst="rect">
            <a:avLst/>
          </a:prstGeom>
          <a:noFill/>
          <a:ln/>
        </p:spPr>
        <p:txBody>
          <a:bodyPr wrap="square" lIns="0" tIns="0" rIns="0" bIns="0" rtlCol="0" anchor="t"/>
          <a:lstStyle/>
          <a:p>
            <a:pPr marL="0" indent="0" algn="l">
              <a:lnSpc>
                <a:spcPct val="106000"/>
              </a:lnSpc>
              <a:buNone/>
            </a:pPr>
            <a:r>
              <a:rPr lang="en-US" sz="1000" b="1" dirty="0">
                <a:solidFill>
                  <a:srgbClr val="7A8894"/>
                </a:solidFill>
                <a:latin typeface="Calibri" pitchFamily="34" charset="0"/>
                <a:ea typeface="Calibri" pitchFamily="34" charset="-122"/>
                <a:cs typeface="Calibri" pitchFamily="34" charset="-120"/>
              </a:rPr>
              <a:t>Requirement</a:t>
            </a:r>
            <a:endParaRPr lang="en-US" sz="1000" dirty="0"/>
          </a:p>
        </p:txBody>
      </p:sp>
      <p:sp>
        <p:nvSpPr>
          <p:cNvPr id="16" name="Text 14"/>
          <p:cNvSpPr/>
          <p:nvPr/>
        </p:nvSpPr>
        <p:spPr>
          <a:xfrm>
            <a:off x="2761488" y="3749040"/>
            <a:ext cx="5120640" cy="237744"/>
          </a:xfrm>
          <a:prstGeom prst="rect">
            <a:avLst/>
          </a:prstGeom>
          <a:noFill/>
          <a:ln/>
        </p:spPr>
        <p:txBody>
          <a:bodyPr wrap="square" lIns="0" tIns="0" rIns="0" bIns="0" rtlCol="0" anchor="t"/>
          <a:lstStyle/>
          <a:p>
            <a:pPr marL="0" indent="0" algn="l">
              <a:lnSpc>
                <a:spcPct val="106000"/>
              </a:lnSpc>
              <a:buNone/>
            </a:pPr>
            <a:r>
              <a:rPr lang="en-US" sz="1000" b="1" dirty="0">
                <a:solidFill>
                  <a:srgbClr val="7A8894"/>
                </a:solidFill>
                <a:latin typeface="Calibri" pitchFamily="34" charset="0"/>
                <a:ea typeface="Calibri" pitchFamily="34" charset="-122"/>
                <a:cs typeface="Calibri" pitchFamily="34" charset="-120"/>
              </a:rPr>
              <a:t>Approved value</a:t>
            </a:r>
            <a:endParaRPr lang="en-US" sz="1000" dirty="0"/>
          </a:p>
        </p:txBody>
      </p:sp>
      <p:sp>
        <p:nvSpPr>
          <p:cNvPr id="17" name="Text 15"/>
          <p:cNvSpPr/>
          <p:nvPr/>
        </p:nvSpPr>
        <p:spPr>
          <a:xfrm>
            <a:off x="9436608" y="3749040"/>
            <a:ext cx="2377440" cy="237744"/>
          </a:xfrm>
          <a:prstGeom prst="rect">
            <a:avLst/>
          </a:prstGeom>
          <a:noFill/>
          <a:ln/>
        </p:spPr>
        <p:txBody>
          <a:bodyPr wrap="square" lIns="0" tIns="0" rIns="0" bIns="0" rtlCol="0" anchor="t"/>
          <a:lstStyle/>
          <a:p>
            <a:pPr marL="0" indent="0" algn="l">
              <a:lnSpc>
                <a:spcPct val="106000"/>
              </a:lnSpc>
              <a:buNone/>
            </a:pPr>
            <a:r>
              <a:rPr lang="en-US" sz="1000" b="1" dirty="0">
                <a:solidFill>
                  <a:srgbClr val="7A8894"/>
                </a:solidFill>
                <a:latin typeface="Calibri" pitchFamily="34" charset="0"/>
                <a:ea typeface="Calibri" pitchFamily="34" charset="-122"/>
                <a:cs typeface="Calibri" pitchFamily="34" charset="-120"/>
              </a:rPr>
              <a:t>Owner</a:t>
            </a:r>
            <a:endParaRPr lang="en-US" sz="1000" dirty="0"/>
          </a:p>
        </p:txBody>
      </p:sp>
      <p:sp>
        <p:nvSpPr>
          <p:cNvPr id="18" name="Shape 16"/>
          <p:cNvSpPr/>
          <p:nvPr/>
        </p:nvSpPr>
        <p:spPr>
          <a:xfrm>
            <a:off x="676656" y="3995928"/>
            <a:ext cx="10838383" cy="274320"/>
          </a:xfrm>
          <a:prstGeom prst="rect">
            <a:avLst/>
          </a:prstGeom>
          <a:solidFill>
            <a:srgbClr val="F1F5F9"/>
          </a:solidFill>
          <a:ln w="6350">
            <a:solidFill>
              <a:srgbClr val="F1F5F9"/>
            </a:solidFill>
            <a:prstDash val="solid"/>
          </a:ln>
        </p:spPr>
        <p:txBody>
          <a:bodyPr/>
          <a:lstStyle/>
          <a:p>
            <a:endParaRPr lang="en-US"/>
          </a:p>
        </p:txBody>
      </p:sp>
      <p:sp>
        <p:nvSpPr>
          <p:cNvPr id="19" name="Text 17"/>
          <p:cNvSpPr/>
          <p:nvPr/>
        </p:nvSpPr>
        <p:spPr>
          <a:xfrm>
            <a:off x="877824" y="4023360"/>
            <a:ext cx="1920240" cy="256032"/>
          </a:xfrm>
          <a:prstGeom prst="rect">
            <a:avLst/>
          </a:prstGeom>
          <a:noFill/>
          <a:ln/>
        </p:spPr>
        <p:txBody>
          <a:bodyPr wrap="square" lIns="0" tIns="0" rIns="0" bIns="0" rtlCol="0" anchor="t"/>
          <a:lstStyle/>
          <a:p>
            <a:pPr marL="0" indent="0" algn="l">
              <a:lnSpc>
                <a:spcPct val="106000"/>
              </a:lnSpc>
              <a:buNone/>
            </a:pPr>
            <a:r>
              <a:rPr lang="en-US" sz="1200" b="1" dirty="0">
                <a:solidFill>
                  <a:srgbClr val="16212E"/>
                </a:solidFill>
                <a:latin typeface="Calibri" pitchFamily="34" charset="0"/>
                <a:ea typeface="Calibri" pitchFamily="34" charset="-122"/>
                <a:cs typeface="Calibri" pitchFamily="34" charset="-120"/>
              </a:rPr>
              <a:t>Cipher suite</a:t>
            </a:r>
            <a:endParaRPr lang="en-US" sz="1200" dirty="0"/>
          </a:p>
        </p:txBody>
      </p:sp>
      <p:sp>
        <p:nvSpPr>
          <p:cNvPr id="20" name="Text 18"/>
          <p:cNvSpPr/>
          <p:nvPr/>
        </p:nvSpPr>
        <p:spPr>
          <a:xfrm>
            <a:off x="2761488" y="4023360"/>
            <a:ext cx="6583680" cy="256032"/>
          </a:xfrm>
          <a:prstGeom prst="rect">
            <a:avLst/>
          </a:prstGeom>
          <a:noFill/>
          <a:ln/>
        </p:spPr>
        <p:txBody>
          <a:bodyPr wrap="square" lIns="0" tIns="0" rIns="0" bIns="0" rtlCol="0" anchor="t"/>
          <a:lstStyle/>
          <a:p>
            <a:pPr marL="0" indent="0" algn="l">
              <a:lnSpc>
                <a:spcPct val="106000"/>
              </a:lnSpc>
              <a:buNone/>
            </a:pPr>
            <a:r>
              <a:rPr lang="en-US" sz="1150" dirty="0">
                <a:solidFill>
                  <a:srgbClr val="2C3E50"/>
                </a:solidFill>
                <a:latin typeface="Courier New" pitchFamily="34" charset="0"/>
                <a:ea typeface="Courier New" pitchFamily="34" charset="-122"/>
                <a:cs typeface="Courier New" pitchFamily="34" charset="-120"/>
              </a:rPr>
              <a:t>TLS_AES_256_GCM_SHA384  ·  or ChaCha20-Poly1305</a:t>
            </a:r>
            <a:endParaRPr lang="en-US" sz="1150" dirty="0"/>
          </a:p>
        </p:txBody>
      </p:sp>
      <p:sp>
        <p:nvSpPr>
          <p:cNvPr id="21" name="Text 19"/>
          <p:cNvSpPr/>
          <p:nvPr/>
        </p:nvSpPr>
        <p:spPr>
          <a:xfrm>
            <a:off x="9436608" y="4023360"/>
            <a:ext cx="2651760" cy="256032"/>
          </a:xfrm>
          <a:prstGeom prst="rect">
            <a:avLst/>
          </a:prstGeom>
          <a:noFill/>
          <a:ln/>
        </p:spPr>
        <p:txBody>
          <a:bodyPr wrap="square" lIns="0" tIns="0" rIns="0" bIns="0" rtlCol="0" anchor="t"/>
          <a:lstStyle/>
          <a:p>
            <a:pPr marL="0" indent="0" algn="l">
              <a:lnSpc>
                <a:spcPct val="106000"/>
              </a:lnSpc>
              <a:buNone/>
            </a:pPr>
            <a:r>
              <a:rPr lang="en-US" sz="1100" b="1" dirty="0">
                <a:solidFill>
                  <a:srgbClr val="2BA88C"/>
                </a:solidFill>
                <a:latin typeface="Calibri" pitchFamily="34" charset="0"/>
                <a:ea typeface="Calibri" pitchFamily="34" charset="-122"/>
                <a:cs typeface="Calibri" pitchFamily="34" charset="-120"/>
              </a:rPr>
              <a:t>Payload + TLS</a:t>
            </a:r>
            <a:endParaRPr lang="en-US" sz="1100" dirty="0"/>
          </a:p>
        </p:txBody>
      </p:sp>
      <p:sp>
        <p:nvSpPr>
          <p:cNvPr id="22" name="Text 20"/>
          <p:cNvSpPr/>
          <p:nvPr/>
        </p:nvSpPr>
        <p:spPr>
          <a:xfrm>
            <a:off x="877824" y="4315968"/>
            <a:ext cx="1920240" cy="256032"/>
          </a:xfrm>
          <a:prstGeom prst="rect">
            <a:avLst/>
          </a:prstGeom>
          <a:noFill/>
          <a:ln/>
        </p:spPr>
        <p:txBody>
          <a:bodyPr wrap="square" lIns="0" tIns="0" rIns="0" bIns="0" rtlCol="0" anchor="t"/>
          <a:lstStyle/>
          <a:p>
            <a:pPr marL="0" indent="0" algn="l">
              <a:lnSpc>
                <a:spcPct val="106000"/>
              </a:lnSpc>
              <a:buNone/>
            </a:pPr>
            <a:r>
              <a:rPr lang="en-US" sz="1200" b="1" dirty="0">
                <a:solidFill>
                  <a:srgbClr val="16212E"/>
                </a:solidFill>
                <a:latin typeface="Calibri" pitchFamily="34" charset="0"/>
                <a:ea typeface="Calibri" pitchFamily="34" charset="-122"/>
                <a:cs typeface="Calibri" pitchFamily="34" charset="-120"/>
              </a:rPr>
              <a:t>Hash</a:t>
            </a:r>
            <a:endParaRPr lang="en-US" sz="1200" dirty="0"/>
          </a:p>
        </p:txBody>
      </p:sp>
      <p:sp>
        <p:nvSpPr>
          <p:cNvPr id="23" name="Text 21"/>
          <p:cNvSpPr/>
          <p:nvPr/>
        </p:nvSpPr>
        <p:spPr>
          <a:xfrm>
            <a:off x="2761488" y="4315968"/>
            <a:ext cx="6583680" cy="256032"/>
          </a:xfrm>
          <a:prstGeom prst="rect">
            <a:avLst/>
          </a:prstGeom>
          <a:noFill/>
          <a:ln/>
        </p:spPr>
        <p:txBody>
          <a:bodyPr wrap="square" lIns="0" tIns="0" rIns="0" bIns="0" rtlCol="0" anchor="t"/>
          <a:lstStyle/>
          <a:p>
            <a:pPr marL="0" indent="0" algn="l">
              <a:lnSpc>
                <a:spcPct val="106000"/>
              </a:lnSpc>
              <a:buNone/>
            </a:pPr>
            <a:r>
              <a:rPr lang="en-US" sz="1150" dirty="0">
                <a:solidFill>
                  <a:srgbClr val="2C3E50"/>
                </a:solidFill>
                <a:latin typeface="Courier New" pitchFamily="34" charset="0"/>
                <a:ea typeface="Courier New" pitchFamily="34" charset="-122"/>
                <a:cs typeface="Courier New" pitchFamily="34" charset="-120"/>
              </a:rPr>
              <a:t>SHA-384</a:t>
            </a:r>
            <a:endParaRPr lang="en-US" sz="1150" dirty="0"/>
          </a:p>
        </p:txBody>
      </p:sp>
      <p:sp>
        <p:nvSpPr>
          <p:cNvPr id="24" name="Text 22"/>
          <p:cNvSpPr/>
          <p:nvPr/>
        </p:nvSpPr>
        <p:spPr>
          <a:xfrm>
            <a:off x="9436608" y="4315968"/>
            <a:ext cx="2651760" cy="256032"/>
          </a:xfrm>
          <a:prstGeom prst="rect">
            <a:avLst/>
          </a:prstGeom>
          <a:noFill/>
          <a:ln/>
        </p:spPr>
        <p:txBody>
          <a:bodyPr wrap="square" lIns="0" tIns="0" rIns="0" bIns="0" rtlCol="0" anchor="t"/>
          <a:lstStyle/>
          <a:p>
            <a:pPr marL="0" indent="0" algn="l">
              <a:lnSpc>
                <a:spcPct val="106000"/>
              </a:lnSpc>
              <a:buNone/>
            </a:pPr>
            <a:r>
              <a:rPr lang="en-US" sz="1100" b="1" dirty="0">
                <a:solidFill>
                  <a:srgbClr val="2BA88C"/>
                </a:solidFill>
                <a:latin typeface="Calibri" pitchFamily="34" charset="0"/>
                <a:ea typeface="Calibri" pitchFamily="34" charset="-122"/>
                <a:cs typeface="Calibri" pitchFamily="34" charset="-120"/>
              </a:rPr>
              <a:t>In our HKDF</a:t>
            </a:r>
            <a:endParaRPr lang="en-US" sz="1100" dirty="0"/>
          </a:p>
        </p:txBody>
      </p:sp>
      <p:sp>
        <p:nvSpPr>
          <p:cNvPr id="25" name="Shape 23"/>
          <p:cNvSpPr/>
          <p:nvPr/>
        </p:nvSpPr>
        <p:spPr>
          <a:xfrm>
            <a:off x="676656" y="4581144"/>
            <a:ext cx="10838383" cy="274320"/>
          </a:xfrm>
          <a:prstGeom prst="rect">
            <a:avLst/>
          </a:prstGeom>
          <a:solidFill>
            <a:srgbClr val="F1F5F9"/>
          </a:solidFill>
          <a:ln w="6350">
            <a:solidFill>
              <a:srgbClr val="F1F5F9"/>
            </a:solidFill>
            <a:prstDash val="solid"/>
          </a:ln>
        </p:spPr>
        <p:txBody>
          <a:bodyPr/>
          <a:lstStyle/>
          <a:p>
            <a:endParaRPr lang="en-US"/>
          </a:p>
        </p:txBody>
      </p:sp>
      <p:sp>
        <p:nvSpPr>
          <p:cNvPr id="26" name="Text 24"/>
          <p:cNvSpPr/>
          <p:nvPr/>
        </p:nvSpPr>
        <p:spPr>
          <a:xfrm>
            <a:off x="877824" y="4608576"/>
            <a:ext cx="1920240" cy="256032"/>
          </a:xfrm>
          <a:prstGeom prst="rect">
            <a:avLst/>
          </a:prstGeom>
          <a:noFill/>
          <a:ln/>
        </p:spPr>
        <p:txBody>
          <a:bodyPr wrap="square" lIns="0" tIns="0" rIns="0" bIns="0" rtlCol="0" anchor="t"/>
          <a:lstStyle/>
          <a:p>
            <a:pPr marL="0" indent="0" algn="l">
              <a:lnSpc>
                <a:spcPct val="106000"/>
              </a:lnSpc>
              <a:buNone/>
            </a:pPr>
            <a:r>
              <a:rPr lang="en-US" sz="1200" b="1" dirty="0">
                <a:solidFill>
                  <a:srgbClr val="16212E"/>
                </a:solidFill>
                <a:latin typeface="Calibri" pitchFamily="34" charset="0"/>
                <a:ea typeface="Calibri" pitchFamily="34" charset="-122"/>
                <a:cs typeface="Calibri" pitchFamily="34" charset="-120"/>
              </a:rPr>
              <a:t>Key size</a:t>
            </a:r>
            <a:endParaRPr lang="en-US" sz="1200" dirty="0"/>
          </a:p>
        </p:txBody>
      </p:sp>
      <p:sp>
        <p:nvSpPr>
          <p:cNvPr id="27" name="Text 25"/>
          <p:cNvSpPr/>
          <p:nvPr/>
        </p:nvSpPr>
        <p:spPr>
          <a:xfrm>
            <a:off x="2761488" y="4608576"/>
            <a:ext cx="6583680" cy="256032"/>
          </a:xfrm>
          <a:prstGeom prst="rect">
            <a:avLst/>
          </a:prstGeom>
          <a:noFill/>
          <a:ln/>
        </p:spPr>
        <p:txBody>
          <a:bodyPr wrap="square" lIns="0" tIns="0" rIns="0" bIns="0" rtlCol="0" anchor="t"/>
          <a:lstStyle/>
          <a:p>
            <a:pPr marL="0" indent="0" algn="l">
              <a:lnSpc>
                <a:spcPct val="106000"/>
              </a:lnSpc>
              <a:buNone/>
            </a:pPr>
            <a:r>
              <a:rPr lang="en-US" sz="1150" dirty="0">
                <a:solidFill>
                  <a:srgbClr val="2C3E50"/>
                </a:solidFill>
                <a:latin typeface="Courier New" pitchFamily="34" charset="0"/>
                <a:ea typeface="Courier New" pitchFamily="34" charset="-122"/>
                <a:cs typeface="Courier New" pitchFamily="34" charset="-120"/>
              </a:rPr>
              <a:t>AES-256</a:t>
            </a:r>
            <a:endParaRPr lang="en-US" sz="1150" dirty="0"/>
          </a:p>
        </p:txBody>
      </p:sp>
      <p:sp>
        <p:nvSpPr>
          <p:cNvPr id="28" name="Text 26"/>
          <p:cNvSpPr/>
          <p:nvPr/>
        </p:nvSpPr>
        <p:spPr>
          <a:xfrm>
            <a:off x="9436608" y="4608576"/>
            <a:ext cx="2651760" cy="256032"/>
          </a:xfrm>
          <a:prstGeom prst="rect">
            <a:avLst/>
          </a:prstGeom>
          <a:noFill/>
          <a:ln/>
        </p:spPr>
        <p:txBody>
          <a:bodyPr wrap="square" lIns="0" tIns="0" rIns="0" bIns="0" rtlCol="0" anchor="t"/>
          <a:lstStyle/>
          <a:p>
            <a:pPr marL="0" indent="0" algn="l">
              <a:lnSpc>
                <a:spcPct val="106000"/>
              </a:lnSpc>
              <a:buNone/>
            </a:pPr>
            <a:r>
              <a:rPr lang="en-US" sz="1100" b="1" dirty="0">
                <a:solidFill>
                  <a:srgbClr val="2BA88C"/>
                </a:solidFill>
                <a:latin typeface="Calibri" pitchFamily="34" charset="0"/>
                <a:ea typeface="Calibri" pitchFamily="34" charset="-122"/>
                <a:cs typeface="Calibri" pitchFamily="34" charset="-120"/>
              </a:rPr>
              <a:t>Our team</a:t>
            </a:r>
            <a:endParaRPr lang="en-US" sz="1100" dirty="0"/>
          </a:p>
        </p:txBody>
      </p:sp>
      <p:sp>
        <p:nvSpPr>
          <p:cNvPr id="29" name="Text 27"/>
          <p:cNvSpPr/>
          <p:nvPr/>
        </p:nvSpPr>
        <p:spPr>
          <a:xfrm>
            <a:off x="877824" y="4901184"/>
            <a:ext cx="1920240" cy="256032"/>
          </a:xfrm>
          <a:prstGeom prst="rect">
            <a:avLst/>
          </a:prstGeom>
          <a:noFill/>
          <a:ln/>
        </p:spPr>
        <p:txBody>
          <a:bodyPr wrap="square" lIns="0" tIns="0" rIns="0" bIns="0" rtlCol="0" anchor="t"/>
          <a:lstStyle/>
          <a:p>
            <a:pPr marL="0" indent="0" algn="l">
              <a:lnSpc>
                <a:spcPct val="106000"/>
              </a:lnSpc>
              <a:buNone/>
            </a:pPr>
            <a:r>
              <a:rPr lang="en-US" sz="1200" b="1" dirty="0">
                <a:solidFill>
                  <a:srgbClr val="16212E"/>
                </a:solidFill>
                <a:latin typeface="Calibri" pitchFamily="34" charset="0"/>
                <a:ea typeface="Calibri" pitchFamily="34" charset="-122"/>
                <a:cs typeface="Calibri" pitchFamily="34" charset="-120"/>
              </a:rPr>
              <a:t>Key exchange</a:t>
            </a:r>
            <a:endParaRPr lang="en-US" sz="1200" dirty="0"/>
          </a:p>
        </p:txBody>
      </p:sp>
      <p:sp>
        <p:nvSpPr>
          <p:cNvPr id="30" name="Text 28"/>
          <p:cNvSpPr/>
          <p:nvPr/>
        </p:nvSpPr>
        <p:spPr>
          <a:xfrm>
            <a:off x="2761488" y="4901184"/>
            <a:ext cx="6583680" cy="256032"/>
          </a:xfrm>
          <a:prstGeom prst="rect">
            <a:avLst/>
          </a:prstGeom>
          <a:noFill/>
          <a:ln/>
        </p:spPr>
        <p:txBody>
          <a:bodyPr wrap="square" lIns="0" tIns="0" rIns="0" bIns="0" rtlCol="0" anchor="t"/>
          <a:lstStyle/>
          <a:p>
            <a:pPr marL="0" indent="0" algn="l">
              <a:lnSpc>
                <a:spcPct val="106000"/>
              </a:lnSpc>
              <a:buNone/>
            </a:pPr>
            <a:r>
              <a:rPr lang="en-US" sz="1150" dirty="0">
                <a:solidFill>
                  <a:srgbClr val="D0524E"/>
                </a:solidFill>
                <a:latin typeface="Courier New" pitchFamily="34" charset="0"/>
                <a:ea typeface="Courier New" pitchFamily="34" charset="-122"/>
                <a:cs typeface="Courier New" pitchFamily="34" charset="-120"/>
              </a:rPr>
              <a:t>Hybrid PQC:  X25519 + Kyber-768</a:t>
            </a:r>
            <a:endParaRPr lang="en-US" sz="1150" dirty="0"/>
          </a:p>
        </p:txBody>
      </p:sp>
      <p:sp>
        <p:nvSpPr>
          <p:cNvPr id="31" name="Text 29"/>
          <p:cNvSpPr/>
          <p:nvPr/>
        </p:nvSpPr>
        <p:spPr>
          <a:xfrm>
            <a:off x="9436608" y="4901184"/>
            <a:ext cx="2651760" cy="256032"/>
          </a:xfrm>
          <a:prstGeom prst="rect">
            <a:avLst/>
          </a:prstGeom>
          <a:noFill/>
          <a:ln/>
        </p:spPr>
        <p:txBody>
          <a:bodyPr wrap="square" lIns="0" tIns="0" rIns="0" bIns="0" rtlCol="0" anchor="t"/>
          <a:lstStyle/>
          <a:p>
            <a:pPr marL="0" indent="0" algn="l">
              <a:lnSpc>
                <a:spcPct val="106000"/>
              </a:lnSpc>
              <a:buNone/>
            </a:pPr>
            <a:r>
              <a:rPr lang="en-US" sz="1100" b="1" dirty="0">
                <a:solidFill>
                  <a:srgbClr val="D0524E"/>
                </a:solidFill>
                <a:latin typeface="Calibri" pitchFamily="34" charset="0"/>
                <a:ea typeface="Calibri" pitchFamily="34" charset="-122"/>
                <a:cs typeface="Calibri" pitchFamily="34" charset="-120"/>
              </a:rPr>
              <a:t>TLS layer — separate track</a:t>
            </a:r>
            <a:endParaRPr lang="en-US" sz="1100" dirty="0"/>
          </a:p>
        </p:txBody>
      </p:sp>
      <p:sp>
        <p:nvSpPr>
          <p:cNvPr id="32" name="Shape 30"/>
          <p:cNvSpPr/>
          <p:nvPr/>
        </p:nvSpPr>
        <p:spPr>
          <a:xfrm>
            <a:off x="566928" y="5392540"/>
            <a:ext cx="11057839" cy="969264"/>
          </a:xfrm>
          <a:prstGeom prst="roundRect">
            <a:avLst>
              <a:gd name="adj" fmla="val 5660"/>
            </a:avLst>
          </a:prstGeom>
          <a:solidFill>
            <a:srgbClr val="0F1721"/>
          </a:solidFill>
          <a:ln w="6350">
            <a:solidFill>
              <a:srgbClr val="0F1721"/>
            </a:solidFill>
            <a:prstDash val="solid"/>
          </a:ln>
        </p:spPr>
        <p:txBody>
          <a:bodyPr/>
          <a:lstStyle/>
          <a:p>
            <a:endParaRPr lang="en-US"/>
          </a:p>
        </p:txBody>
      </p:sp>
      <p:sp>
        <p:nvSpPr>
          <p:cNvPr id="33" name="Text 31"/>
          <p:cNvSpPr/>
          <p:nvPr/>
        </p:nvSpPr>
        <p:spPr>
          <a:xfrm>
            <a:off x="789467" y="5519425"/>
            <a:ext cx="4937760" cy="312274"/>
          </a:xfrm>
          <a:prstGeom prst="rect">
            <a:avLst/>
          </a:prstGeom>
          <a:noFill/>
          <a:ln/>
        </p:spPr>
        <p:txBody>
          <a:bodyPr wrap="square" lIns="0" tIns="0" rIns="0" bIns="0" rtlCol="0" anchor="t"/>
          <a:lstStyle/>
          <a:p>
            <a:pPr marL="0" indent="0" algn="l">
              <a:lnSpc>
                <a:spcPct val="110000"/>
              </a:lnSpc>
              <a:buNone/>
            </a:pPr>
            <a:r>
              <a:rPr lang="en-US" sz="1300" b="1" dirty="0">
                <a:solidFill>
                  <a:srgbClr val="E8A033"/>
                </a:solidFill>
                <a:latin typeface="Calibri" pitchFamily="34" charset="0"/>
                <a:ea typeface="Calibri" pitchFamily="34" charset="-122"/>
                <a:cs typeface="Calibri" pitchFamily="34" charset="-120"/>
              </a:rPr>
              <a:t>Why a bank regulator moves before quantum computers exist:</a:t>
            </a:r>
            <a:endParaRPr lang="en-US" sz="1300" dirty="0"/>
          </a:p>
        </p:txBody>
      </p:sp>
      <p:sp>
        <p:nvSpPr>
          <p:cNvPr id="34" name="Text 32"/>
          <p:cNvSpPr/>
          <p:nvPr/>
        </p:nvSpPr>
        <p:spPr>
          <a:xfrm>
            <a:off x="6031294" y="5439691"/>
            <a:ext cx="5205679" cy="694944"/>
          </a:xfrm>
          <a:prstGeom prst="rect">
            <a:avLst/>
          </a:prstGeom>
          <a:noFill/>
          <a:ln/>
        </p:spPr>
        <p:txBody>
          <a:bodyPr wrap="square" lIns="0" tIns="0" rIns="0" bIns="0" rtlCol="0" anchor="t"/>
          <a:lstStyle/>
          <a:p>
            <a:pPr marL="0" indent="0" algn="l">
              <a:lnSpc>
                <a:spcPct val="116000"/>
              </a:lnSpc>
              <a:buNone/>
            </a:pPr>
            <a:r>
              <a:rPr lang="en-US" sz="1200" dirty="0">
                <a:solidFill>
                  <a:srgbClr val="C6D3DE"/>
                </a:solidFill>
                <a:latin typeface="Calibri" pitchFamily="34" charset="0"/>
                <a:ea typeface="Calibri" pitchFamily="34" charset="-122"/>
                <a:cs typeface="Calibri" pitchFamily="34" charset="-120"/>
              </a:rPr>
              <a:t>"Harvest now, decrypt later." An adversary can capture our encrypted traffic today and decrypt it years later once quantum matures. Financial data has a long shelf life — so it must be quantum-resilient now. Our AES-256 + SHA-384 rows are done; the Kyber key-exchange row lives in the TLS stack.</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0F1721"/>
        </a:solidFill>
        <a:effectLst/>
      </p:bgPr>
    </p:bg>
    <p:spTree>
      <p:nvGrpSpPr>
        <p:cNvPr id="1" name=""/>
        <p:cNvGrpSpPr/>
        <p:nvPr/>
      </p:nvGrpSpPr>
      <p:grpSpPr>
        <a:xfrm>
          <a:off x="0" y="0"/>
          <a:ext cx="0" cy="0"/>
          <a:chOff x="0" y="0"/>
          <a:chExt cx="0" cy="0"/>
        </a:xfrm>
      </p:grpSpPr>
      <p:sp>
        <p:nvSpPr>
          <p:cNvPr id="2" name="Text 0"/>
          <p:cNvSpPr/>
          <p:nvPr/>
        </p:nvSpPr>
        <p:spPr>
          <a:xfrm>
            <a:off x="566928" y="2331720"/>
            <a:ext cx="5486400" cy="310896"/>
          </a:xfrm>
          <a:prstGeom prst="rect">
            <a:avLst/>
          </a:prstGeom>
          <a:noFill/>
          <a:ln/>
        </p:spPr>
        <p:txBody>
          <a:bodyPr wrap="square" lIns="0" tIns="0" rIns="0" bIns="0" rtlCol="0" anchor="ctr"/>
          <a:lstStyle/>
          <a:p>
            <a:pPr marL="0" indent="0">
              <a:buNone/>
            </a:pPr>
            <a:r>
              <a:rPr lang="en-US" sz="1250" b="1" kern="0" spc="300" dirty="0">
                <a:solidFill>
                  <a:srgbClr val="E8A033"/>
                </a:solidFill>
                <a:latin typeface="Calibri" pitchFamily="34" charset="0"/>
                <a:ea typeface="Calibri" pitchFamily="34" charset="-122"/>
                <a:cs typeface="Calibri" pitchFamily="34" charset="-120"/>
              </a:rPr>
              <a:t>PART TWO</a:t>
            </a:r>
            <a:endParaRPr lang="en-US" sz="1250" dirty="0"/>
          </a:p>
        </p:txBody>
      </p:sp>
      <p:sp>
        <p:nvSpPr>
          <p:cNvPr id="3" name="Text 1"/>
          <p:cNvSpPr/>
          <p:nvPr/>
        </p:nvSpPr>
        <p:spPr>
          <a:xfrm>
            <a:off x="566928" y="2724912"/>
            <a:ext cx="8229600" cy="86868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The implementation</a:t>
            </a:r>
            <a:endParaRPr lang="en-US" sz="4600" dirty="0"/>
          </a:p>
        </p:txBody>
      </p:sp>
      <p:sp>
        <p:nvSpPr>
          <p:cNvPr id="4" name="Text 2"/>
          <p:cNvSpPr/>
          <p:nvPr/>
        </p:nvSpPr>
        <p:spPr>
          <a:xfrm>
            <a:off x="566928" y="3675888"/>
            <a:ext cx="7498080" cy="822960"/>
          </a:xfrm>
          <a:prstGeom prst="rect">
            <a:avLst/>
          </a:prstGeom>
          <a:noFill/>
          <a:ln/>
        </p:spPr>
        <p:txBody>
          <a:bodyPr wrap="square" lIns="0" tIns="0" rIns="0" bIns="0" rtlCol="0" anchor="ctr"/>
          <a:lstStyle/>
          <a:p>
            <a:pPr marL="0" indent="0">
              <a:lnSpc>
                <a:spcPct val="125000"/>
              </a:lnSpc>
              <a:buNone/>
            </a:pPr>
            <a:r>
              <a:rPr lang="en-US" sz="1600" dirty="0">
                <a:solidFill>
                  <a:srgbClr val="A8B8C6"/>
                </a:solidFill>
                <a:latin typeface="Calibri" pitchFamily="34" charset="0"/>
                <a:ea typeface="Calibri" pitchFamily="34" charset="-122"/>
                <a:cs typeface="Calibri" pitchFamily="34" charset="-120"/>
              </a:rPr>
              <a:t>Why CBC is going, what GCM does inside, why 256 and why HKDF —</a:t>
            </a:r>
            <a:endParaRPr lang="en-US" sz="1600" dirty="0"/>
          </a:p>
          <a:p>
            <a:pPr marL="0" indent="0">
              <a:lnSpc>
                <a:spcPct val="125000"/>
              </a:lnSpc>
              <a:buNone/>
            </a:pPr>
            <a:r>
              <a:rPr lang="en-US" sz="1600" dirty="0">
                <a:solidFill>
                  <a:srgbClr val="A8B8C6"/>
                </a:solidFill>
                <a:latin typeface="Calibri" pitchFamily="34" charset="0"/>
                <a:ea typeface="Calibri" pitchFamily="34" charset="-122"/>
                <a:cs typeface="Calibri" pitchFamily="34" charset="-120"/>
              </a:rPr>
              <a:t>then the exact bytes on the wire, our call path, and a live demo.</a:t>
            </a:r>
            <a:endParaRPr lang="en-US" sz="1600" dirty="0"/>
          </a:p>
        </p:txBody>
      </p:sp>
      <p:sp>
        <p:nvSpPr>
          <p:cNvPr id="5" name="Shape 3"/>
          <p:cNvSpPr/>
          <p:nvPr/>
        </p:nvSpPr>
        <p:spPr>
          <a:xfrm>
            <a:off x="566928" y="4709160"/>
            <a:ext cx="1874520" cy="402336"/>
          </a:xfrm>
          <a:prstGeom prst="roundRect">
            <a:avLst>
              <a:gd name="adj" fmla="val 113636"/>
            </a:avLst>
          </a:prstGeom>
          <a:solidFill>
            <a:srgbClr val="E8A033"/>
          </a:solidFill>
          <a:ln w="6350">
            <a:solidFill>
              <a:srgbClr val="E8A033"/>
            </a:solidFill>
            <a:prstDash val="solid"/>
          </a:ln>
        </p:spPr>
        <p:txBody>
          <a:bodyPr/>
          <a:lstStyle/>
          <a:p>
            <a:endParaRPr lang="en-US"/>
          </a:p>
        </p:txBody>
      </p:sp>
      <p:sp>
        <p:nvSpPr>
          <p:cNvPr id="6" name="Text 4"/>
          <p:cNvSpPr/>
          <p:nvPr/>
        </p:nvSpPr>
        <p:spPr>
          <a:xfrm>
            <a:off x="566928" y="4709160"/>
            <a:ext cx="1874520" cy="402336"/>
          </a:xfrm>
          <a:prstGeom prst="rect">
            <a:avLst/>
          </a:prstGeom>
          <a:noFill/>
          <a:ln/>
        </p:spPr>
        <p:txBody>
          <a:bodyPr wrap="square" lIns="0" tIns="0" rIns="0" bIns="0" rtlCol="0" anchor="ctr"/>
          <a:lstStyle/>
          <a:p>
            <a:pPr marL="0" indent="0" algn="ctr">
              <a:buNone/>
            </a:pPr>
            <a:r>
              <a:rPr lang="en-US" sz="1050" b="1" kern="0" spc="60" dirty="0">
                <a:solidFill>
                  <a:srgbClr val="0F1721"/>
                </a:solidFill>
                <a:latin typeface="Calibri" pitchFamily="34" charset="0"/>
                <a:ea typeface="Calibri" pitchFamily="34" charset="-122"/>
                <a:cs typeface="Calibri" pitchFamily="34" charset="-120"/>
              </a:rPr>
              <a:t>CODE AHEAD</a:t>
            </a:r>
            <a:endParaRPr lang="en-US" sz="1050" dirty="0"/>
          </a:p>
        </p:txBody>
      </p:sp>
      <p:sp>
        <p:nvSpPr>
          <p:cNvPr id="7" name="Text 5"/>
          <p:cNvSpPr/>
          <p:nvPr/>
        </p:nvSpPr>
        <p:spPr>
          <a:xfrm>
            <a:off x="9692640" y="2926080"/>
            <a:ext cx="2011680" cy="457200"/>
          </a:xfrm>
          <a:prstGeom prst="rect">
            <a:avLst/>
          </a:prstGeom>
          <a:noFill/>
          <a:ln/>
        </p:spPr>
        <p:txBody>
          <a:bodyPr wrap="square" lIns="0" tIns="0" rIns="0" bIns="0" rtlCol="0" anchor="ctr"/>
          <a:lstStyle/>
          <a:p>
            <a:pPr marL="0" indent="0" algn="r">
              <a:buNone/>
            </a:pPr>
            <a:r>
              <a:rPr lang="en-US" sz="2600" b="1" dirty="0">
                <a:solidFill>
                  <a:srgbClr val="2C3E50"/>
                </a:solidFill>
                <a:latin typeface="Cambria" pitchFamily="34" charset="0"/>
                <a:ea typeface="Cambria" pitchFamily="34" charset="-122"/>
                <a:cs typeface="Cambria" pitchFamily="34" charset="-120"/>
              </a:rPr>
              <a:t>18 minutes</a:t>
            </a:r>
            <a:endParaRPr lang="en-US" sz="2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SIDE BY SIDE</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AES-128-CBC vs AES-256-GCM</a:t>
            </a:r>
            <a:endParaRPr lang="en-US" sz="3100" dirty="0"/>
          </a:p>
        </p:txBody>
      </p:sp>
      <p:sp>
        <p:nvSpPr>
          <p:cNvPr id="4" name="Shape 2"/>
          <p:cNvSpPr/>
          <p:nvPr/>
        </p:nvSpPr>
        <p:spPr>
          <a:xfrm>
            <a:off x="566928" y="1133856"/>
            <a:ext cx="11057839" cy="4681728"/>
          </a:xfrm>
          <a:prstGeom prst="roundRect">
            <a:avLst>
              <a:gd name="adj" fmla="val 1172"/>
            </a:avLst>
          </a:prstGeom>
          <a:solidFill>
            <a:srgbClr val="F1F5F9"/>
          </a:solidFill>
          <a:ln w="6350">
            <a:solidFill>
              <a:srgbClr val="F1F5F9"/>
            </a:solidFill>
            <a:prstDash val="solid"/>
          </a:ln>
        </p:spPr>
        <p:txBody>
          <a:bodyPr/>
          <a:lstStyle/>
          <a:p>
            <a:endParaRPr lang="en-US"/>
          </a:p>
        </p:txBody>
      </p:sp>
      <p:sp>
        <p:nvSpPr>
          <p:cNvPr id="5" name="Text 3"/>
          <p:cNvSpPr/>
          <p:nvPr/>
        </p:nvSpPr>
        <p:spPr>
          <a:xfrm>
            <a:off x="3767328" y="1261872"/>
            <a:ext cx="3657600" cy="274320"/>
          </a:xfrm>
          <a:prstGeom prst="rect">
            <a:avLst/>
          </a:prstGeom>
          <a:noFill/>
          <a:ln/>
        </p:spPr>
        <p:txBody>
          <a:bodyPr wrap="square" lIns="0" tIns="0" rIns="0" bIns="0" rtlCol="0" anchor="t"/>
          <a:lstStyle/>
          <a:p>
            <a:pPr marL="0" indent="0" algn="l">
              <a:lnSpc>
                <a:spcPct val="106000"/>
              </a:lnSpc>
              <a:buNone/>
            </a:pPr>
            <a:r>
              <a:rPr lang="en-US" sz="1250" b="1" dirty="0">
                <a:solidFill>
                  <a:srgbClr val="D0524E"/>
                </a:solidFill>
                <a:latin typeface="Calibri" pitchFamily="34" charset="0"/>
                <a:ea typeface="Calibri" pitchFamily="34" charset="-122"/>
                <a:cs typeface="Calibri" pitchFamily="34" charset="-120"/>
              </a:rPr>
              <a:t>AES-128-CBC  ·  legacy</a:t>
            </a:r>
            <a:endParaRPr lang="en-US" sz="1250" dirty="0"/>
          </a:p>
        </p:txBody>
      </p:sp>
      <p:sp>
        <p:nvSpPr>
          <p:cNvPr id="6" name="Text 4"/>
          <p:cNvSpPr/>
          <p:nvPr/>
        </p:nvSpPr>
        <p:spPr>
          <a:xfrm>
            <a:off x="7607808" y="1261872"/>
            <a:ext cx="3840480" cy="274320"/>
          </a:xfrm>
          <a:prstGeom prst="rect">
            <a:avLst/>
          </a:prstGeom>
          <a:noFill/>
          <a:ln/>
        </p:spPr>
        <p:txBody>
          <a:bodyPr wrap="square" lIns="0" tIns="0" rIns="0" bIns="0" rtlCol="0" anchor="t"/>
          <a:lstStyle/>
          <a:p>
            <a:pPr marL="0" indent="0" algn="l">
              <a:lnSpc>
                <a:spcPct val="106000"/>
              </a:lnSpc>
              <a:buNone/>
            </a:pPr>
            <a:r>
              <a:rPr lang="en-US" sz="1250" b="1" dirty="0">
                <a:solidFill>
                  <a:srgbClr val="2BA88C"/>
                </a:solidFill>
                <a:latin typeface="Calibri" pitchFamily="34" charset="0"/>
                <a:ea typeface="Calibri" pitchFamily="34" charset="-122"/>
                <a:cs typeface="Calibri" pitchFamily="34" charset="-120"/>
              </a:rPr>
              <a:t>AES-256-GCM  ·  target</a:t>
            </a:r>
            <a:endParaRPr lang="en-US" sz="1250" dirty="0"/>
          </a:p>
        </p:txBody>
      </p:sp>
      <p:sp>
        <p:nvSpPr>
          <p:cNvPr id="7" name="Shape 5"/>
          <p:cNvSpPr/>
          <p:nvPr/>
        </p:nvSpPr>
        <p:spPr>
          <a:xfrm>
            <a:off x="658368" y="1536192"/>
            <a:ext cx="10874959" cy="411480"/>
          </a:xfrm>
          <a:prstGeom prst="rect">
            <a:avLst/>
          </a:prstGeom>
          <a:solidFill>
            <a:srgbClr val="FFFFFF"/>
          </a:solidFill>
          <a:ln w="6350">
            <a:solidFill>
              <a:srgbClr val="FFFFFF"/>
            </a:solidFill>
            <a:prstDash val="solid"/>
          </a:ln>
        </p:spPr>
        <p:txBody>
          <a:bodyPr/>
          <a:lstStyle/>
          <a:p>
            <a:endParaRPr lang="en-US"/>
          </a:p>
        </p:txBody>
      </p:sp>
      <p:sp>
        <p:nvSpPr>
          <p:cNvPr id="8" name="Text 6"/>
          <p:cNvSpPr/>
          <p:nvPr/>
        </p:nvSpPr>
        <p:spPr>
          <a:xfrm>
            <a:off x="841248" y="1645920"/>
            <a:ext cx="2834640" cy="292608"/>
          </a:xfrm>
          <a:prstGeom prst="rect">
            <a:avLst/>
          </a:prstGeom>
          <a:noFill/>
          <a:ln/>
        </p:spPr>
        <p:txBody>
          <a:bodyPr wrap="square" lIns="0" tIns="0" rIns="0" bIns="0" rtlCol="0" anchor="t"/>
          <a:lstStyle/>
          <a:p>
            <a:pPr marL="0" indent="0" algn="l">
              <a:lnSpc>
                <a:spcPct val="106000"/>
              </a:lnSpc>
              <a:buNone/>
            </a:pPr>
            <a:r>
              <a:rPr lang="en-US" sz="1250" b="1" dirty="0">
                <a:solidFill>
                  <a:srgbClr val="16212E"/>
                </a:solidFill>
                <a:latin typeface="Calibri" pitchFamily="34" charset="0"/>
                <a:ea typeface="Calibri" pitchFamily="34" charset="-122"/>
                <a:cs typeface="Calibri" pitchFamily="34" charset="-120"/>
              </a:rPr>
              <a:t>Key length</a:t>
            </a:r>
            <a:endParaRPr lang="en-US" sz="1250" dirty="0"/>
          </a:p>
        </p:txBody>
      </p:sp>
      <p:sp>
        <p:nvSpPr>
          <p:cNvPr id="9" name="Text 7"/>
          <p:cNvSpPr/>
          <p:nvPr/>
        </p:nvSpPr>
        <p:spPr>
          <a:xfrm>
            <a:off x="3767328" y="1645920"/>
            <a:ext cx="3703320" cy="292608"/>
          </a:xfrm>
          <a:prstGeom prst="rect">
            <a:avLst/>
          </a:prstGeom>
          <a:noFill/>
          <a:ln/>
        </p:spPr>
        <p:txBody>
          <a:bodyPr wrap="square" lIns="0" tIns="0" rIns="0" bIns="0" rtlCol="0" anchor="t"/>
          <a:lstStyle/>
          <a:p>
            <a:pPr marL="0" indent="0" algn="l">
              <a:lnSpc>
                <a:spcPct val="106000"/>
              </a:lnSpc>
              <a:buNone/>
            </a:pPr>
            <a:r>
              <a:rPr lang="en-US" sz="1250" dirty="0">
                <a:solidFill>
                  <a:srgbClr val="3D4C5A"/>
                </a:solidFill>
                <a:latin typeface="Calibri" pitchFamily="34" charset="0"/>
                <a:ea typeface="Calibri" pitchFamily="34" charset="-122"/>
                <a:cs typeface="Calibri" pitchFamily="34" charset="-120"/>
              </a:rPr>
              <a:t>128 bits</a:t>
            </a:r>
            <a:endParaRPr lang="en-US" sz="1250" dirty="0"/>
          </a:p>
        </p:txBody>
      </p:sp>
      <p:sp>
        <p:nvSpPr>
          <p:cNvPr id="10" name="Text 8"/>
          <p:cNvSpPr/>
          <p:nvPr/>
        </p:nvSpPr>
        <p:spPr>
          <a:xfrm>
            <a:off x="7607808" y="1645920"/>
            <a:ext cx="3840480" cy="292608"/>
          </a:xfrm>
          <a:prstGeom prst="rect">
            <a:avLst/>
          </a:prstGeom>
          <a:noFill/>
          <a:ln/>
        </p:spPr>
        <p:txBody>
          <a:bodyPr wrap="square" lIns="0" tIns="0" rIns="0" bIns="0" rtlCol="0" anchor="t"/>
          <a:lstStyle/>
          <a:p>
            <a:pPr marL="0" indent="0" algn="l">
              <a:lnSpc>
                <a:spcPct val="106000"/>
              </a:lnSpc>
              <a:buNone/>
            </a:pPr>
            <a:r>
              <a:rPr lang="en-US" sz="1250" dirty="0">
                <a:solidFill>
                  <a:srgbClr val="3D4C5A"/>
                </a:solidFill>
                <a:latin typeface="Calibri" pitchFamily="34" charset="0"/>
                <a:ea typeface="Calibri" pitchFamily="34" charset="-122"/>
                <a:cs typeface="Calibri" pitchFamily="34" charset="-120"/>
              </a:rPr>
              <a:t>256 bits</a:t>
            </a:r>
            <a:endParaRPr lang="en-US" sz="1250" dirty="0"/>
          </a:p>
        </p:txBody>
      </p:sp>
      <p:sp>
        <p:nvSpPr>
          <p:cNvPr id="11" name="Text 9"/>
          <p:cNvSpPr/>
          <p:nvPr/>
        </p:nvSpPr>
        <p:spPr>
          <a:xfrm>
            <a:off x="841248" y="2103120"/>
            <a:ext cx="2834640" cy="292608"/>
          </a:xfrm>
          <a:prstGeom prst="rect">
            <a:avLst/>
          </a:prstGeom>
          <a:noFill/>
          <a:ln/>
        </p:spPr>
        <p:txBody>
          <a:bodyPr wrap="square" lIns="0" tIns="0" rIns="0" bIns="0" rtlCol="0" anchor="t"/>
          <a:lstStyle/>
          <a:p>
            <a:pPr marL="0" indent="0" algn="l">
              <a:lnSpc>
                <a:spcPct val="106000"/>
              </a:lnSpc>
              <a:buNone/>
            </a:pPr>
            <a:r>
              <a:rPr lang="en-US" sz="1250" b="1" dirty="0">
                <a:solidFill>
                  <a:srgbClr val="16212E"/>
                </a:solidFill>
                <a:latin typeface="Calibri" pitchFamily="34" charset="0"/>
                <a:ea typeface="Calibri" pitchFamily="34" charset="-122"/>
                <a:cs typeface="Calibri" pitchFamily="34" charset="-120"/>
              </a:rPr>
              <a:t>AES rounds</a:t>
            </a:r>
            <a:endParaRPr lang="en-US" sz="1250" dirty="0"/>
          </a:p>
        </p:txBody>
      </p:sp>
      <p:sp>
        <p:nvSpPr>
          <p:cNvPr id="12" name="Text 10"/>
          <p:cNvSpPr/>
          <p:nvPr/>
        </p:nvSpPr>
        <p:spPr>
          <a:xfrm>
            <a:off x="3767328" y="2103120"/>
            <a:ext cx="3703320" cy="292608"/>
          </a:xfrm>
          <a:prstGeom prst="rect">
            <a:avLst/>
          </a:prstGeom>
          <a:noFill/>
          <a:ln/>
        </p:spPr>
        <p:txBody>
          <a:bodyPr wrap="square" lIns="0" tIns="0" rIns="0" bIns="0" rtlCol="0" anchor="t"/>
          <a:lstStyle/>
          <a:p>
            <a:pPr marL="0" indent="0" algn="l">
              <a:lnSpc>
                <a:spcPct val="106000"/>
              </a:lnSpc>
              <a:buNone/>
            </a:pPr>
            <a:r>
              <a:rPr lang="en-US" sz="1250" dirty="0">
                <a:solidFill>
                  <a:srgbClr val="3D4C5A"/>
                </a:solidFill>
                <a:latin typeface="Calibri" pitchFamily="34" charset="0"/>
                <a:ea typeface="Calibri" pitchFamily="34" charset="-122"/>
                <a:cs typeface="Calibri" pitchFamily="34" charset="-120"/>
              </a:rPr>
              <a:t>10</a:t>
            </a:r>
            <a:endParaRPr lang="en-US" sz="1250" dirty="0"/>
          </a:p>
        </p:txBody>
      </p:sp>
      <p:sp>
        <p:nvSpPr>
          <p:cNvPr id="13" name="Text 11"/>
          <p:cNvSpPr/>
          <p:nvPr/>
        </p:nvSpPr>
        <p:spPr>
          <a:xfrm>
            <a:off x="7607808" y="2103120"/>
            <a:ext cx="3840480" cy="292608"/>
          </a:xfrm>
          <a:prstGeom prst="rect">
            <a:avLst/>
          </a:prstGeom>
          <a:noFill/>
          <a:ln/>
        </p:spPr>
        <p:txBody>
          <a:bodyPr wrap="square" lIns="0" tIns="0" rIns="0" bIns="0" rtlCol="0" anchor="t"/>
          <a:lstStyle/>
          <a:p>
            <a:pPr marL="0" indent="0" algn="l">
              <a:lnSpc>
                <a:spcPct val="106000"/>
              </a:lnSpc>
              <a:buNone/>
            </a:pPr>
            <a:r>
              <a:rPr lang="en-US" sz="1250" dirty="0">
                <a:solidFill>
                  <a:srgbClr val="3D4C5A"/>
                </a:solidFill>
                <a:latin typeface="Calibri" pitchFamily="34" charset="0"/>
                <a:ea typeface="Calibri" pitchFamily="34" charset="-122"/>
                <a:cs typeface="Calibri" pitchFamily="34" charset="-120"/>
              </a:rPr>
              <a:t>14</a:t>
            </a:r>
            <a:endParaRPr lang="en-US" sz="1250" dirty="0"/>
          </a:p>
        </p:txBody>
      </p:sp>
      <p:sp>
        <p:nvSpPr>
          <p:cNvPr id="14" name="Shape 12"/>
          <p:cNvSpPr/>
          <p:nvPr/>
        </p:nvSpPr>
        <p:spPr>
          <a:xfrm>
            <a:off x="658368" y="2450592"/>
            <a:ext cx="10874959" cy="411480"/>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841248" y="2560320"/>
            <a:ext cx="2834640" cy="292608"/>
          </a:xfrm>
          <a:prstGeom prst="rect">
            <a:avLst/>
          </a:prstGeom>
          <a:noFill/>
          <a:ln/>
        </p:spPr>
        <p:txBody>
          <a:bodyPr wrap="square" lIns="0" tIns="0" rIns="0" bIns="0" rtlCol="0" anchor="t"/>
          <a:lstStyle/>
          <a:p>
            <a:pPr marL="0" indent="0" algn="l">
              <a:lnSpc>
                <a:spcPct val="106000"/>
              </a:lnSpc>
              <a:buNone/>
            </a:pPr>
            <a:r>
              <a:rPr lang="en-US" sz="1250" b="1" dirty="0">
                <a:solidFill>
                  <a:srgbClr val="16212E"/>
                </a:solidFill>
                <a:latin typeface="Calibri" pitchFamily="34" charset="0"/>
                <a:ea typeface="Calibri" pitchFamily="34" charset="-122"/>
                <a:cs typeface="Calibri" pitchFamily="34" charset="-120"/>
              </a:rPr>
              <a:t>How it works</a:t>
            </a:r>
            <a:endParaRPr lang="en-US" sz="1250" dirty="0"/>
          </a:p>
        </p:txBody>
      </p:sp>
      <p:sp>
        <p:nvSpPr>
          <p:cNvPr id="16" name="Text 14"/>
          <p:cNvSpPr/>
          <p:nvPr/>
        </p:nvSpPr>
        <p:spPr>
          <a:xfrm>
            <a:off x="3767328" y="2560320"/>
            <a:ext cx="3703320" cy="292608"/>
          </a:xfrm>
          <a:prstGeom prst="rect">
            <a:avLst/>
          </a:prstGeom>
          <a:noFill/>
          <a:ln/>
        </p:spPr>
        <p:txBody>
          <a:bodyPr wrap="square" lIns="0" tIns="0" rIns="0" bIns="0" rtlCol="0" anchor="t"/>
          <a:lstStyle/>
          <a:p>
            <a:pPr marL="0" indent="0" algn="l">
              <a:lnSpc>
                <a:spcPct val="106000"/>
              </a:lnSpc>
              <a:buNone/>
            </a:pPr>
            <a:r>
              <a:rPr lang="en-US" sz="1250" dirty="0">
                <a:solidFill>
                  <a:srgbClr val="3D4C5A"/>
                </a:solidFill>
                <a:latin typeface="Calibri" pitchFamily="34" charset="0"/>
                <a:ea typeface="Calibri" pitchFamily="34" charset="-122"/>
                <a:cs typeface="Calibri" pitchFamily="34" charset="-120"/>
              </a:rPr>
              <a:t>Each block is XOR-chained into the next</a:t>
            </a:r>
            <a:endParaRPr lang="en-US" sz="1250" dirty="0"/>
          </a:p>
        </p:txBody>
      </p:sp>
      <p:sp>
        <p:nvSpPr>
          <p:cNvPr id="17" name="Text 15"/>
          <p:cNvSpPr/>
          <p:nvPr/>
        </p:nvSpPr>
        <p:spPr>
          <a:xfrm>
            <a:off x="7607808" y="2560320"/>
            <a:ext cx="3840480" cy="292608"/>
          </a:xfrm>
          <a:prstGeom prst="rect">
            <a:avLst/>
          </a:prstGeom>
          <a:noFill/>
          <a:ln/>
        </p:spPr>
        <p:txBody>
          <a:bodyPr wrap="square" lIns="0" tIns="0" rIns="0" bIns="0" rtlCol="0" anchor="t"/>
          <a:lstStyle/>
          <a:p>
            <a:pPr marL="0" indent="0" algn="l">
              <a:lnSpc>
                <a:spcPct val="106000"/>
              </a:lnSpc>
              <a:buNone/>
            </a:pPr>
            <a:r>
              <a:rPr lang="en-US" sz="1250" dirty="0">
                <a:solidFill>
                  <a:srgbClr val="3D4C5A"/>
                </a:solidFill>
                <a:latin typeface="Calibri" pitchFamily="34" charset="0"/>
                <a:ea typeface="Calibri" pitchFamily="34" charset="-122"/>
                <a:cs typeface="Calibri" pitchFamily="34" charset="-120"/>
              </a:rPr>
              <a:t>AES makes a keystream; your data is XOR-ed with it</a:t>
            </a:r>
            <a:endParaRPr lang="en-US" sz="1250" dirty="0"/>
          </a:p>
        </p:txBody>
      </p:sp>
      <p:sp>
        <p:nvSpPr>
          <p:cNvPr id="18" name="Text 16"/>
          <p:cNvSpPr/>
          <p:nvPr/>
        </p:nvSpPr>
        <p:spPr>
          <a:xfrm>
            <a:off x="841248" y="3017520"/>
            <a:ext cx="2834640" cy="292608"/>
          </a:xfrm>
          <a:prstGeom prst="rect">
            <a:avLst/>
          </a:prstGeom>
          <a:noFill/>
          <a:ln/>
        </p:spPr>
        <p:txBody>
          <a:bodyPr wrap="square" lIns="0" tIns="0" rIns="0" bIns="0" rtlCol="0" anchor="t"/>
          <a:lstStyle/>
          <a:p>
            <a:pPr marL="0" indent="0" algn="l">
              <a:lnSpc>
                <a:spcPct val="106000"/>
              </a:lnSpc>
              <a:buNone/>
            </a:pPr>
            <a:r>
              <a:rPr lang="en-US" sz="1250" b="1" dirty="0">
                <a:solidFill>
                  <a:srgbClr val="16212E"/>
                </a:solidFill>
                <a:latin typeface="Calibri" pitchFamily="34" charset="0"/>
                <a:ea typeface="Calibri" pitchFamily="34" charset="-122"/>
                <a:cs typeface="Calibri" pitchFamily="34" charset="-120"/>
              </a:rPr>
              <a:t>Built-in integrity</a:t>
            </a:r>
            <a:endParaRPr lang="en-US" sz="1250" dirty="0"/>
          </a:p>
        </p:txBody>
      </p:sp>
      <p:sp>
        <p:nvSpPr>
          <p:cNvPr id="19" name="Text 17"/>
          <p:cNvSpPr/>
          <p:nvPr/>
        </p:nvSpPr>
        <p:spPr>
          <a:xfrm>
            <a:off x="3767328" y="3017520"/>
            <a:ext cx="3703320" cy="292608"/>
          </a:xfrm>
          <a:prstGeom prst="rect">
            <a:avLst/>
          </a:prstGeom>
          <a:noFill/>
          <a:ln/>
        </p:spPr>
        <p:txBody>
          <a:bodyPr wrap="square" lIns="0" tIns="0" rIns="0" bIns="0" rtlCol="0" anchor="t"/>
          <a:lstStyle/>
          <a:p>
            <a:pPr marL="0" indent="0" algn="l">
              <a:lnSpc>
                <a:spcPct val="106000"/>
              </a:lnSpc>
              <a:buNone/>
            </a:pPr>
            <a:r>
              <a:rPr lang="en-US" sz="1250" dirty="0">
                <a:solidFill>
                  <a:srgbClr val="3D4C5A"/>
                </a:solidFill>
                <a:latin typeface="Calibri" pitchFamily="34" charset="0"/>
                <a:ea typeface="Calibri" pitchFamily="34" charset="-122"/>
                <a:cs typeface="Calibri" pitchFamily="34" charset="-120"/>
              </a:rPr>
              <a:t>None. Needs a bolted-on HMAC.</a:t>
            </a:r>
            <a:endParaRPr lang="en-US" sz="1250" dirty="0"/>
          </a:p>
        </p:txBody>
      </p:sp>
      <p:sp>
        <p:nvSpPr>
          <p:cNvPr id="20" name="Text 18"/>
          <p:cNvSpPr/>
          <p:nvPr/>
        </p:nvSpPr>
        <p:spPr>
          <a:xfrm>
            <a:off x="7607808" y="3017520"/>
            <a:ext cx="3840480" cy="292608"/>
          </a:xfrm>
          <a:prstGeom prst="rect">
            <a:avLst/>
          </a:prstGeom>
          <a:noFill/>
          <a:ln/>
        </p:spPr>
        <p:txBody>
          <a:bodyPr wrap="square" lIns="0" tIns="0" rIns="0" bIns="0" rtlCol="0" anchor="t"/>
          <a:lstStyle/>
          <a:p>
            <a:pPr marL="0" indent="0" algn="l">
              <a:lnSpc>
                <a:spcPct val="106000"/>
              </a:lnSpc>
              <a:buNone/>
            </a:pPr>
            <a:r>
              <a:rPr lang="en-US" sz="1250" dirty="0">
                <a:solidFill>
                  <a:srgbClr val="3D4C5A"/>
                </a:solidFill>
                <a:latin typeface="Calibri" pitchFamily="34" charset="0"/>
                <a:ea typeface="Calibri" pitchFamily="34" charset="-122"/>
                <a:cs typeface="Calibri" pitchFamily="34" charset="-120"/>
              </a:rPr>
              <a:t>Yes — a 16-byte tag, same pass</a:t>
            </a:r>
            <a:endParaRPr lang="en-US" sz="1250" dirty="0"/>
          </a:p>
        </p:txBody>
      </p:sp>
      <p:sp>
        <p:nvSpPr>
          <p:cNvPr id="21" name="Shape 19"/>
          <p:cNvSpPr/>
          <p:nvPr/>
        </p:nvSpPr>
        <p:spPr>
          <a:xfrm>
            <a:off x="658368" y="3364992"/>
            <a:ext cx="10874959" cy="411480"/>
          </a:xfrm>
          <a:prstGeom prst="rect">
            <a:avLst/>
          </a:prstGeom>
          <a:solidFill>
            <a:srgbClr val="FFFFFF"/>
          </a:solidFill>
          <a:ln w="6350">
            <a:solidFill>
              <a:srgbClr val="FFFFFF"/>
            </a:solidFill>
            <a:prstDash val="solid"/>
          </a:ln>
        </p:spPr>
        <p:txBody>
          <a:bodyPr/>
          <a:lstStyle/>
          <a:p>
            <a:endParaRPr lang="en-US"/>
          </a:p>
        </p:txBody>
      </p:sp>
      <p:sp>
        <p:nvSpPr>
          <p:cNvPr id="22" name="Text 20"/>
          <p:cNvSpPr/>
          <p:nvPr/>
        </p:nvSpPr>
        <p:spPr>
          <a:xfrm>
            <a:off x="841248" y="3474720"/>
            <a:ext cx="2834640" cy="292608"/>
          </a:xfrm>
          <a:prstGeom prst="rect">
            <a:avLst/>
          </a:prstGeom>
          <a:noFill/>
          <a:ln/>
        </p:spPr>
        <p:txBody>
          <a:bodyPr wrap="square" lIns="0" tIns="0" rIns="0" bIns="0" rtlCol="0" anchor="t"/>
          <a:lstStyle/>
          <a:p>
            <a:pPr marL="0" indent="0" algn="l">
              <a:lnSpc>
                <a:spcPct val="106000"/>
              </a:lnSpc>
              <a:buNone/>
            </a:pPr>
            <a:r>
              <a:rPr lang="en-US" sz="1250" b="1" dirty="0">
                <a:solidFill>
                  <a:srgbClr val="16212E"/>
                </a:solidFill>
                <a:latin typeface="Calibri" pitchFamily="34" charset="0"/>
                <a:ea typeface="Calibri" pitchFamily="34" charset="-122"/>
                <a:cs typeface="Calibri" pitchFamily="34" charset="-120"/>
              </a:rPr>
              <a:t>Padding</a:t>
            </a:r>
            <a:endParaRPr lang="en-US" sz="1250" dirty="0"/>
          </a:p>
        </p:txBody>
      </p:sp>
      <p:sp>
        <p:nvSpPr>
          <p:cNvPr id="23" name="Text 21"/>
          <p:cNvSpPr/>
          <p:nvPr/>
        </p:nvSpPr>
        <p:spPr>
          <a:xfrm>
            <a:off x="3767328" y="3474720"/>
            <a:ext cx="3703320" cy="292608"/>
          </a:xfrm>
          <a:prstGeom prst="rect">
            <a:avLst/>
          </a:prstGeom>
          <a:noFill/>
          <a:ln/>
        </p:spPr>
        <p:txBody>
          <a:bodyPr wrap="square" lIns="0" tIns="0" rIns="0" bIns="0" rtlCol="0" anchor="t"/>
          <a:lstStyle/>
          <a:p>
            <a:pPr marL="0" indent="0" algn="l">
              <a:lnSpc>
                <a:spcPct val="106000"/>
              </a:lnSpc>
              <a:buNone/>
            </a:pPr>
            <a:r>
              <a:rPr lang="en-US" sz="1250" dirty="0">
                <a:solidFill>
                  <a:srgbClr val="3D4C5A"/>
                </a:solidFill>
                <a:latin typeface="Calibri" pitchFamily="34" charset="0"/>
                <a:ea typeface="Calibri" pitchFamily="34" charset="-122"/>
                <a:cs typeface="Calibri" pitchFamily="34" charset="-120"/>
              </a:rPr>
              <a:t>PKCS#7 required → padding-oracle risk</a:t>
            </a:r>
            <a:endParaRPr lang="en-US" sz="1250" dirty="0"/>
          </a:p>
        </p:txBody>
      </p:sp>
      <p:sp>
        <p:nvSpPr>
          <p:cNvPr id="24" name="Text 22"/>
          <p:cNvSpPr/>
          <p:nvPr/>
        </p:nvSpPr>
        <p:spPr>
          <a:xfrm>
            <a:off x="7607808" y="3474720"/>
            <a:ext cx="3840480" cy="292608"/>
          </a:xfrm>
          <a:prstGeom prst="rect">
            <a:avLst/>
          </a:prstGeom>
          <a:noFill/>
          <a:ln/>
        </p:spPr>
        <p:txBody>
          <a:bodyPr wrap="square" lIns="0" tIns="0" rIns="0" bIns="0" rtlCol="0" anchor="t"/>
          <a:lstStyle/>
          <a:p>
            <a:pPr marL="0" indent="0" algn="l">
              <a:lnSpc>
                <a:spcPct val="106000"/>
              </a:lnSpc>
              <a:buNone/>
            </a:pPr>
            <a:r>
              <a:rPr lang="en-US" sz="1250" dirty="0">
                <a:solidFill>
                  <a:srgbClr val="3D4C5A"/>
                </a:solidFill>
                <a:latin typeface="Calibri" pitchFamily="34" charset="0"/>
                <a:ea typeface="Calibri" pitchFamily="34" charset="-122"/>
                <a:cs typeface="Calibri" pitchFamily="34" charset="-120"/>
              </a:rPr>
              <a:t>None. Any length, no padding at all.</a:t>
            </a:r>
            <a:endParaRPr lang="en-US" sz="1250" dirty="0"/>
          </a:p>
        </p:txBody>
      </p:sp>
      <p:sp>
        <p:nvSpPr>
          <p:cNvPr id="25" name="Text 23"/>
          <p:cNvSpPr/>
          <p:nvPr/>
        </p:nvSpPr>
        <p:spPr>
          <a:xfrm>
            <a:off x="841248" y="3931920"/>
            <a:ext cx="2834640" cy="292608"/>
          </a:xfrm>
          <a:prstGeom prst="rect">
            <a:avLst/>
          </a:prstGeom>
          <a:noFill/>
          <a:ln/>
        </p:spPr>
        <p:txBody>
          <a:bodyPr wrap="square" lIns="0" tIns="0" rIns="0" bIns="0" rtlCol="0" anchor="t"/>
          <a:lstStyle/>
          <a:p>
            <a:pPr marL="0" indent="0" algn="l">
              <a:lnSpc>
                <a:spcPct val="106000"/>
              </a:lnSpc>
              <a:buNone/>
            </a:pPr>
            <a:r>
              <a:rPr lang="en-US" sz="1250" b="1" dirty="0">
                <a:solidFill>
                  <a:srgbClr val="16212E"/>
                </a:solidFill>
                <a:latin typeface="Calibri" pitchFamily="34" charset="0"/>
                <a:ea typeface="Calibri" pitchFamily="34" charset="-122"/>
                <a:cs typeface="Calibri" pitchFamily="34" charset="-120"/>
              </a:rPr>
              <a:t>Parallelism</a:t>
            </a:r>
            <a:endParaRPr lang="en-US" sz="1250" dirty="0"/>
          </a:p>
        </p:txBody>
      </p:sp>
      <p:sp>
        <p:nvSpPr>
          <p:cNvPr id="26" name="Text 24"/>
          <p:cNvSpPr/>
          <p:nvPr/>
        </p:nvSpPr>
        <p:spPr>
          <a:xfrm>
            <a:off x="3767328" y="3931920"/>
            <a:ext cx="3703320" cy="292608"/>
          </a:xfrm>
          <a:prstGeom prst="rect">
            <a:avLst/>
          </a:prstGeom>
          <a:noFill/>
          <a:ln/>
        </p:spPr>
        <p:txBody>
          <a:bodyPr wrap="square" lIns="0" tIns="0" rIns="0" bIns="0" rtlCol="0" anchor="t"/>
          <a:lstStyle/>
          <a:p>
            <a:pPr marL="0" indent="0" algn="l">
              <a:lnSpc>
                <a:spcPct val="106000"/>
              </a:lnSpc>
              <a:buNone/>
            </a:pPr>
            <a:r>
              <a:rPr lang="en-US" sz="1250" dirty="0">
                <a:solidFill>
                  <a:srgbClr val="3D4C5A"/>
                </a:solidFill>
                <a:latin typeface="Calibri" pitchFamily="34" charset="0"/>
                <a:ea typeface="Calibri" pitchFamily="34" charset="-122"/>
                <a:cs typeface="Calibri" pitchFamily="34" charset="-120"/>
              </a:rPr>
              <a:t>Encryption is strictly sequential</a:t>
            </a:r>
            <a:endParaRPr lang="en-US" sz="1250" dirty="0"/>
          </a:p>
        </p:txBody>
      </p:sp>
      <p:sp>
        <p:nvSpPr>
          <p:cNvPr id="27" name="Text 25"/>
          <p:cNvSpPr/>
          <p:nvPr/>
        </p:nvSpPr>
        <p:spPr>
          <a:xfrm>
            <a:off x="7607808" y="3931920"/>
            <a:ext cx="3840480" cy="292608"/>
          </a:xfrm>
          <a:prstGeom prst="rect">
            <a:avLst/>
          </a:prstGeom>
          <a:noFill/>
          <a:ln/>
        </p:spPr>
        <p:txBody>
          <a:bodyPr wrap="square" lIns="0" tIns="0" rIns="0" bIns="0" rtlCol="0" anchor="t"/>
          <a:lstStyle/>
          <a:p>
            <a:pPr marL="0" indent="0" algn="l">
              <a:lnSpc>
                <a:spcPct val="106000"/>
              </a:lnSpc>
              <a:buNone/>
            </a:pPr>
            <a:r>
              <a:rPr lang="en-US" sz="1250" dirty="0">
                <a:solidFill>
                  <a:srgbClr val="3D4C5A"/>
                </a:solidFill>
                <a:latin typeface="Calibri" pitchFamily="34" charset="0"/>
                <a:ea typeface="Calibri" pitchFamily="34" charset="-122"/>
                <a:cs typeface="Calibri" pitchFamily="34" charset="-120"/>
              </a:rPr>
              <a:t>Fully parallel both directions</a:t>
            </a:r>
            <a:endParaRPr lang="en-US" sz="1250" dirty="0"/>
          </a:p>
        </p:txBody>
      </p:sp>
      <p:sp>
        <p:nvSpPr>
          <p:cNvPr id="28" name="Shape 26"/>
          <p:cNvSpPr/>
          <p:nvPr/>
        </p:nvSpPr>
        <p:spPr>
          <a:xfrm>
            <a:off x="658368" y="4279392"/>
            <a:ext cx="10874959" cy="411480"/>
          </a:xfrm>
          <a:prstGeom prst="rect">
            <a:avLst/>
          </a:prstGeom>
          <a:solidFill>
            <a:srgbClr val="FFFFFF"/>
          </a:solidFill>
          <a:ln w="6350">
            <a:solidFill>
              <a:srgbClr val="FFFFFF"/>
            </a:solidFill>
            <a:prstDash val="solid"/>
          </a:ln>
        </p:spPr>
        <p:txBody>
          <a:bodyPr/>
          <a:lstStyle/>
          <a:p>
            <a:endParaRPr lang="en-US"/>
          </a:p>
        </p:txBody>
      </p:sp>
      <p:sp>
        <p:nvSpPr>
          <p:cNvPr id="29" name="Text 27"/>
          <p:cNvSpPr/>
          <p:nvPr/>
        </p:nvSpPr>
        <p:spPr>
          <a:xfrm>
            <a:off x="841248" y="4389120"/>
            <a:ext cx="2834640" cy="292608"/>
          </a:xfrm>
          <a:prstGeom prst="rect">
            <a:avLst/>
          </a:prstGeom>
          <a:noFill/>
          <a:ln/>
        </p:spPr>
        <p:txBody>
          <a:bodyPr wrap="square" lIns="0" tIns="0" rIns="0" bIns="0" rtlCol="0" anchor="t"/>
          <a:lstStyle/>
          <a:p>
            <a:pPr marL="0" indent="0" algn="l">
              <a:lnSpc>
                <a:spcPct val="106000"/>
              </a:lnSpc>
              <a:buNone/>
            </a:pPr>
            <a:r>
              <a:rPr lang="en-US" sz="1250" b="1" dirty="0">
                <a:solidFill>
                  <a:srgbClr val="16212E"/>
                </a:solidFill>
                <a:latin typeface="Calibri" pitchFamily="34" charset="0"/>
                <a:ea typeface="Calibri" pitchFamily="34" charset="-122"/>
                <a:cs typeface="Calibri" pitchFamily="34" charset="-120"/>
              </a:rPr>
              <a:t>On tampering</a:t>
            </a:r>
            <a:endParaRPr lang="en-US" sz="1250" dirty="0"/>
          </a:p>
        </p:txBody>
      </p:sp>
      <p:sp>
        <p:nvSpPr>
          <p:cNvPr id="30" name="Text 28"/>
          <p:cNvSpPr/>
          <p:nvPr/>
        </p:nvSpPr>
        <p:spPr>
          <a:xfrm>
            <a:off x="3767328" y="4389120"/>
            <a:ext cx="3703320" cy="292608"/>
          </a:xfrm>
          <a:prstGeom prst="rect">
            <a:avLst/>
          </a:prstGeom>
          <a:noFill/>
          <a:ln/>
        </p:spPr>
        <p:txBody>
          <a:bodyPr wrap="square" lIns="0" tIns="0" rIns="0" bIns="0" rtlCol="0" anchor="t"/>
          <a:lstStyle/>
          <a:p>
            <a:pPr marL="0" indent="0" algn="l">
              <a:lnSpc>
                <a:spcPct val="106000"/>
              </a:lnSpc>
              <a:buNone/>
            </a:pPr>
            <a:r>
              <a:rPr lang="en-US" sz="1250" dirty="0">
                <a:solidFill>
                  <a:srgbClr val="3D4C5A"/>
                </a:solidFill>
                <a:latin typeface="Calibri" pitchFamily="34" charset="0"/>
                <a:ea typeface="Calibri" pitchFamily="34" charset="-122"/>
                <a:cs typeface="Calibri" pitchFamily="34" charset="-120"/>
              </a:rPr>
              <a:t>Decrypts to garbage, silently</a:t>
            </a:r>
            <a:endParaRPr lang="en-US" sz="1250" dirty="0"/>
          </a:p>
        </p:txBody>
      </p:sp>
      <p:sp>
        <p:nvSpPr>
          <p:cNvPr id="31" name="Text 29"/>
          <p:cNvSpPr/>
          <p:nvPr/>
        </p:nvSpPr>
        <p:spPr>
          <a:xfrm>
            <a:off x="7607808" y="4389120"/>
            <a:ext cx="3840480" cy="292608"/>
          </a:xfrm>
          <a:prstGeom prst="rect">
            <a:avLst/>
          </a:prstGeom>
          <a:noFill/>
          <a:ln/>
        </p:spPr>
        <p:txBody>
          <a:bodyPr wrap="square" lIns="0" tIns="0" rIns="0" bIns="0" rtlCol="0" anchor="t"/>
          <a:lstStyle/>
          <a:p>
            <a:pPr marL="0" indent="0" algn="l">
              <a:lnSpc>
                <a:spcPct val="106000"/>
              </a:lnSpc>
              <a:buNone/>
            </a:pPr>
            <a:r>
              <a:rPr lang="en-US" sz="1250" dirty="0">
                <a:solidFill>
                  <a:srgbClr val="3D4C5A"/>
                </a:solidFill>
                <a:latin typeface="Calibri" pitchFamily="34" charset="0"/>
                <a:ea typeface="Calibri" pitchFamily="34" charset="-122"/>
                <a:cs typeface="Calibri" pitchFamily="34" charset="-120"/>
              </a:rPr>
              <a:t>Hard failure. No plaintext is returned.</a:t>
            </a:r>
            <a:endParaRPr lang="en-US" sz="1250" dirty="0"/>
          </a:p>
        </p:txBody>
      </p:sp>
      <p:sp>
        <p:nvSpPr>
          <p:cNvPr id="32" name="Text 30"/>
          <p:cNvSpPr/>
          <p:nvPr/>
        </p:nvSpPr>
        <p:spPr>
          <a:xfrm>
            <a:off x="841248" y="4846320"/>
            <a:ext cx="2834640" cy="292608"/>
          </a:xfrm>
          <a:prstGeom prst="rect">
            <a:avLst/>
          </a:prstGeom>
          <a:noFill/>
          <a:ln/>
        </p:spPr>
        <p:txBody>
          <a:bodyPr wrap="square" lIns="0" tIns="0" rIns="0" bIns="0" rtlCol="0" anchor="t"/>
          <a:lstStyle/>
          <a:p>
            <a:pPr marL="0" indent="0" algn="l">
              <a:lnSpc>
                <a:spcPct val="106000"/>
              </a:lnSpc>
              <a:buNone/>
            </a:pPr>
            <a:r>
              <a:rPr lang="en-US" sz="1250" b="1" dirty="0">
                <a:solidFill>
                  <a:srgbClr val="16212E"/>
                </a:solidFill>
                <a:latin typeface="Calibri" pitchFamily="34" charset="0"/>
                <a:ea typeface="Calibri" pitchFamily="34" charset="-122"/>
                <a:cs typeface="Calibri" pitchFamily="34" charset="-120"/>
              </a:rPr>
              <a:t>Our key derivation</a:t>
            </a:r>
            <a:endParaRPr lang="en-US" sz="1250" dirty="0"/>
          </a:p>
        </p:txBody>
      </p:sp>
      <p:sp>
        <p:nvSpPr>
          <p:cNvPr id="33" name="Text 31"/>
          <p:cNvSpPr/>
          <p:nvPr/>
        </p:nvSpPr>
        <p:spPr>
          <a:xfrm>
            <a:off x="3767328" y="4846320"/>
            <a:ext cx="3703320" cy="292608"/>
          </a:xfrm>
          <a:prstGeom prst="rect">
            <a:avLst/>
          </a:prstGeom>
          <a:noFill/>
          <a:ln/>
        </p:spPr>
        <p:txBody>
          <a:bodyPr wrap="square" lIns="0" tIns="0" rIns="0" bIns="0" rtlCol="0" anchor="t"/>
          <a:lstStyle/>
          <a:p>
            <a:pPr marL="0" indent="0" algn="l">
              <a:lnSpc>
                <a:spcPct val="106000"/>
              </a:lnSpc>
              <a:buNone/>
            </a:pPr>
            <a:r>
              <a:rPr lang="en-US" sz="1250" dirty="0">
                <a:solidFill>
                  <a:srgbClr val="3D4C5A"/>
                </a:solidFill>
                <a:latin typeface="Calibri" pitchFamily="34" charset="0"/>
                <a:ea typeface="Calibri" pitchFamily="34" charset="-122"/>
                <a:cs typeface="Calibri" pitchFamily="34" charset="-120"/>
              </a:rPr>
              <a:t>EVP_BytesToKey — MD5, one iteration</a:t>
            </a:r>
            <a:endParaRPr lang="en-US" sz="1250" dirty="0"/>
          </a:p>
        </p:txBody>
      </p:sp>
      <p:sp>
        <p:nvSpPr>
          <p:cNvPr id="34" name="Text 32"/>
          <p:cNvSpPr/>
          <p:nvPr/>
        </p:nvSpPr>
        <p:spPr>
          <a:xfrm>
            <a:off x="7607808" y="4846320"/>
            <a:ext cx="3840480" cy="292608"/>
          </a:xfrm>
          <a:prstGeom prst="rect">
            <a:avLst/>
          </a:prstGeom>
          <a:noFill/>
          <a:ln/>
        </p:spPr>
        <p:txBody>
          <a:bodyPr wrap="square" lIns="0" tIns="0" rIns="0" bIns="0" rtlCol="0" anchor="t"/>
          <a:lstStyle/>
          <a:p>
            <a:pPr marL="0" indent="0" algn="l">
              <a:lnSpc>
                <a:spcPct val="106000"/>
              </a:lnSpc>
              <a:buNone/>
            </a:pPr>
            <a:r>
              <a:rPr lang="en-US" sz="1250" dirty="0">
                <a:solidFill>
                  <a:srgbClr val="3D4C5A"/>
                </a:solidFill>
                <a:latin typeface="Calibri" pitchFamily="34" charset="0"/>
                <a:ea typeface="Calibri" pitchFamily="34" charset="-122"/>
                <a:cs typeface="Calibri" pitchFamily="34" charset="-120"/>
              </a:rPr>
              <a:t>HKDF-SHA384, fresh salt per message</a:t>
            </a:r>
            <a:endParaRPr lang="en-US" sz="1250" dirty="0"/>
          </a:p>
        </p:txBody>
      </p:sp>
      <p:sp>
        <p:nvSpPr>
          <p:cNvPr id="39" name="Text 37"/>
          <p:cNvSpPr/>
          <p:nvPr/>
        </p:nvSpPr>
        <p:spPr>
          <a:xfrm>
            <a:off x="566928" y="5870448"/>
            <a:ext cx="11057839" cy="310896"/>
          </a:xfrm>
          <a:prstGeom prst="rect">
            <a:avLst/>
          </a:prstGeom>
          <a:noFill/>
          <a:ln/>
        </p:spPr>
        <p:txBody>
          <a:bodyPr wrap="square" lIns="0" tIns="0" rIns="0" bIns="0" rtlCol="0" anchor="t"/>
          <a:lstStyle/>
          <a:p>
            <a:pPr marL="0" indent="0" algn="l">
              <a:lnSpc>
                <a:spcPct val="106000"/>
              </a:lnSpc>
              <a:buNone/>
            </a:pPr>
            <a:r>
              <a:rPr lang="en-US" sz="1300" b="1" dirty="0">
                <a:solidFill>
                  <a:srgbClr val="16212E"/>
                </a:solidFill>
                <a:latin typeface="Calibri" pitchFamily="34" charset="0"/>
                <a:ea typeface="Calibri" pitchFamily="34" charset="-122"/>
                <a:cs typeface="Calibri" pitchFamily="34" charset="-120"/>
              </a:rPr>
              <a:t>The row that matters most is "built-in integrity". Everything else is a bonus.</a:t>
            </a:r>
            <a:endParaRPr lang="en-US" sz="1300" dirty="0"/>
          </a:p>
        </p:txBody>
      </p:sp>
      <p:sp>
        <p:nvSpPr>
          <p:cNvPr id="40" name="Text 38"/>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2 · The implementation</a:t>
            </a:r>
            <a:endParaRPr lang="en-US" sz="950" dirty="0"/>
          </a:p>
        </p:txBody>
      </p:sp>
      <p:sp>
        <p:nvSpPr>
          <p:cNvPr id="41" name="Text 39"/>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THE HONEST REASONS</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Why CBC is being retired</a:t>
            </a:r>
            <a:endParaRPr lang="en-US" sz="3100" dirty="0"/>
          </a:p>
        </p:txBody>
      </p:sp>
      <p:sp>
        <p:nvSpPr>
          <p:cNvPr id="4" name="Text 2"/>
          <p:cNvSpPr/>
          <p:nvPr/>
        </p:nvSpPr>
        <p:spPr>
          <a:xfrm>
            <a:off x="566928" y="1298448"/>
            <a:ext cx="11057839" cy="365760"/>
          </a:xfrm>
          <a:prstGeom prst="rect">
            <a:avLst/>
          </a:prstGeom>
          <a:noFill/>
          <a:ln/>
        </p:spPr>
        <p:txBody>
          <a:bodyPr wrap="square" lIns="0" tIns="0" rIns="0" bIns="0" rtlCol="0" anchor="ctr"/>
          <a:lstStyle/>
          <a:p>
            <a:pPr marL="0" indent="0">
              <a:lnSpc>
                <a:spcPct val="105000"/>
              </a:lnSpc>
              <a:buNone/>
            </a:pPr>
            <a:r>
              <a:rPr lang="en-US" sz="1450" dirty="0">
                <a:solidFill>
                  <a:srgbClr val="7A8894"/>
                </a:solidFill>
                <a:latin typeface="Calibri" pitchFamily="34" charset="0"/>
                <a:ea typeface="Calibri" pitchFamily="34" charset="-122"/>
                <a:cs typeface="Calibri" pitchFamily="34" charset="-120"/>
              </a:rPr>
              <a:t>Key length is the weakest argument for this migration. These are the real ones.</a:t>
            </a:r>
            <a:endParaRPr lang="en-US" sz="1450" dirty="0"/>
          </a:p>
        </p:txBody>
      </p:sp>
      <p:sp>
        <p:nvSpPr>
          <p:cNvPr id="5" name="Shape 3"/>
          <p:cNvSpPr/>
          <p:nvPr/>
        </p:nvSpPr>
        <p:spPr>
          <a:xfrm>
            <a:off x="566928" y="1773936"/>
            <a:ext cx="5230368" cy="1572768"/>
          </a:xfrm>
          <a:prstGeom prst="roundRect">
            <a:avLst>
              <a:gd name="adj" fmla="val 3488"/>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6" name="Text 4"/>
          <p:cNvSpPr/>
          <p:nvPr/>
        </p:nvSpPr>
        <p:spPr>
          <a:xfrm>
            <a:off x="859536" y="1975104"/>
            <a:ext cx="548640" cy="274320"/>
          </a:xfrm>
          <a:prstGeom prst="rect">
            <a:avLst/>
          </a:prstGeom>
          <a:noFill/>
          <a:ln/>
        </p:spPr>
        <p:txBody>
          <a:bodyPr wrap="square" lIns="0" tIns="0" rIns="0" bIns="0" rtlCol="0" anchor="t"/>
          <a:lstStyle/>
          <a:p>
            <a:pPr marL="0" indent="0" algn="l">
              <a:lnSpc>
                <a:spcPct val="106000"/>
              </a:lnSpc>
              <a:buNone/>
            </a:pPr>
            <a:r>
              <a:rPr lang="en-US" sz="1300" b="1" dirty="0">
                <a:solidFill>
                  <a:srgbClr val="E8A033"/>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1463040" y="1956816"/>
            <a:ext cx="4041648" cy="310896"/>
          </a:xfrm>
          <a:prstGeom prst="rect">
            <a:avLst/>
          </a:prstGeom>
          <a:noFill/>
          <a:ln/>
        </p:spPr>
        <p:txBody>
          <a:bodyPr wrap="square" lIns="0" tIns="0" rIns="0" bIns="0" rtlCol="0" anchor="t"/>
          <a:lstStyle/>
          <a:p>
            <a:pPr marL="0" indent="0" algn="l">
              <a:lnSpc>
                <a:spcPct val="106000"/>
              </a:lnSpc>
              <a:buNone/>
            </a:pPr>
            <a:r>
              <a:rPr lang="en-US" sz="1550" b="1" dirty="0">
                <a:solidFill>
                  <a:srgbClr val="16212E"/>
                </a:solidFill>
                <a:latin typeface="Calibri" pitchFamily="34" charset="0"/>
                <a:ea typeface="Calibri" pitchFamily="34" charset="-122"/>
                <a:cs typeface="Calibri" pitchFamily="34" charset="-120"/>
              </a:rPr>
              <a:t>Malleable by design</a:t>
            </a:r>
            <a:endParaRPr lang="en-US" sz="1550" dirty="0"/>
          </a:p>
        </p:txBody>
      </p:sp>
      <p:sp>
        <p:nvSpPr>
          <p:cNvPr id="8" name="Text 6"/>
          <p:cNvSpPr/>
          <p:nvPr/>
        </p:nvSpPr>
        <p:spPr>
          <a:xfrm>
            <a:off x="1463040" y="2340864"/>
            <a:ext cx="4041648" cy="868680"/>
          </a:xfrm>
          <a:prstGeom prst="rect">
            <a:avLst/>
          </a:prstGeom>
          <a:noFill/>
          <a:ln/>
        </p:spPr>
        <p:txBody>
          <a:bodyPr wrap="square" lIns="0" tIns="0" rIns="0" bIns="0" rtlCol="0" anchor="t"/>
          <a:lstStyle/>
          <a:p>
            <a:pPr marL="0" indent="0" algn="l">
              <a:lnSpc>
                <a:spcPct val="116000"/>
              </a:lnSpc>
              <a:buNone/>
            </a:pPr>
            <a:r>
              <a:rPr lang="en-US" sz="1250" dirty="0">
                <a:solidFill>
                  <a:srgbClr val="3D4C5A"/>
                </a:solidFill>
                <a:latin typeface="Calibri" pitchFamily="34" charset="0"/>
                <a:ea typeface="Calibri" pitchFamily="34" charset="-122"/>
                <a:cs typeface="Calibri" pitchFamily="34" charset="-120"/>
              </a:rPr>
              <a:t>Flip a bit in CBC ciphertext and you flip a predictable bit in the plaintext. Without a MAC, nothing notices.</a:t>
            </a:r>
            <a:endParaRPr lang="en-US" sz="1250" dirty="0"/>
          </a:p>
        </p:txBody>
      </p:sp>
      <p:sp>
        <p:nvSpPr>
          <p:cNvPr id="9" name="Shape 7"/>
          <p:cNvSpPr/>
          <p:nvPr/>
        </p:nvSpPr>
        <p:spPr>
          <a:xfrm>
            <a:off x="6126480" y="1773936"/>
            <a:ext cx="5230368" cy="1572768"/>
          </a:xfrm>
          <a:prstGeom prst="roundRect">
            <a:avLst>
              <a:gd name="adj" fmla="val 3488"/>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0" name="Text 8"/>
          <p:cNvSpPr/>
          <p:nvPr/>
        </p:nvSpPr>
        <p:spPr>
          <a:xfrm>
            <a:off x="6419088" y="1975104"/>
            <a:ext cx="548640" cy="274320"/>
          </a:xfrm>
          <a:prstGeom prst="rect">
            <a:avLst/>
          </a:prstGeom>
          <a:noFill/>
          <a:ln/>
        </p:spPr>
        <p:txBody>
          <a:bodyPr wrap="square" lIns="0" tIns="0" rIns="0" bIns="0" rtlCol="0" anchor="t"/>
          <a:lstStyle/>
          <a:p>
            <a:pPr marL="0" indent="0" algn="l">
              <a:lnSpc>
                <a:spcPct val="106000"/>
              </a:lnSpc>
              <a:buNone/>
            </a:pPr>
            <a:r>
              <a:rPr lang="en-US" sz="1300" b="1" dirty="0">
                <a:solidFill>
                  <a:srgbClr val="E8A033"/>
                </a:solidFill>
                <a:latin typeface="Calibri" pitchFamily="34" charset="0"/>
                <a:ea typeface="Calibri" pitchFamily="34" charset="-122"/>
                <a:cs typeface="Calibri" pitchFamily="34" charset="-120"/>
              </a:rPr>
              <a:t>02</a:t>
            </a:r>
            <a:endParaRPr lang="en-US" sz="1300" dirty="0"/>
          </a:p>
        </p:txBody>
      </p:sp>
      <p:sp>
        <p:nvSpPr>
          <p:cNvPr id="11" name="Text 9"/>
          <p:cNvSpPr/>
          <p:nvPr/>
        </p:nvSpPr>
        <p:spPr>
          <a:xfrm>
            <a:off x="7022592" y="1956816"/>
            <a:ext cx="4041648" cy="310896"/>
          </a:xfrm>
          <a:prstGeom prst="rect">
            <a:avLst/>
          </a:prstGeom>
          <a:noFill/>
          <a:ln/>
        </p:spPr>
        <p:txBody>
          <a:bodyPr wrap="square" lIns="0" tIns="0" rIns="0" bIns="0" rtlCol="0" anchor="t"/>
          <a:lstStyle/>
          <a:p>
            <a:pPr marL="0" indent="0" algn="l">
              <a:lnSpc>
                <a:spcPct val="106000"/>
              </a:lnSpc>
              <a:buNone/>
            </a:pPr>
            <a:r>
              <a:rPr lang="en-US" sz="1550" b="1" dirty="0">
                <a:solidFill>
                  <a:srgbClr val="16212E"/>
                </a:solidFill>
                <a:latin typeface="Calibri" pitchFamily="34" charset="0"/>
                <a:ea typeface="Calibri" pitchFamily="34" charset="-122"/>
                <a:cs typeface="Calibri" pitchFamily="34" charset="-120"/>
              </a:rPr>
              <a:t>Padding oracle attacks</a:t>
            </a:r>
            <a:endParaRPr lang="en-US" sz="1550" dirty="0"/>
          </a:p>
        </p:txBody>
      </p:sp>
      <p:sp>
        <p:nvSpPr>
          <p:cNvPr id="12" name="Text 10"/>
          <p:cNvSpPr/>
          <p:nvPr/>
        </p:nvSpPr>
        <p:spPr>
          <a:xfrm>
            <a:off x="7022592" y="2340864"/>
            <a:ext cx="4041648" cy="868680"/>
          </a:xfrm>
          <a:prstGeom prst="rect">
            <a:avLst/>
          </a:prstGeom>
          <a:noFill/>
          <a:ln/>
        </p:spPr>
        <p:txBody>
          <a:bodyPr wrap="square" lIns="0" tIns="0" rIns="0" bIns="0" rtlCol="0" anchor="t"/>
          <a:lstStyle/>
          <a:p>
            <a:pPr marL="0" indent="0" algn="l">
              <a:lnSpc>
                <a:spcPct val="116000"/>
              </a:lnSpc>
              <a:buNone/>
            </a:pPr>
            <a:r>
              <a:rPr lang="en-US" sz="1250" dirty="0">
                <a:solidFill>
                  <a:srgbClr val="3D4C5A"/>
                </a:solidFill>
                <a:latin typeface="Calibri" pitchFamily="34" charset="0"/>
                <a:ea typeface="Calibri" pitchFamily="34" charset="-122"/>
                <a:cs typeface="Calibri" pitchFamily="34" charset="-120"/>
              </a:rPr>
              <a:t>If your errors distinguish "bad padding" from "bad data", an attacker decrypts the message without ever knowing the key. Known since 2002 and still shipping.</a:t>
            </a:r>
            <a:endParaRPr lang="en-US" sz="1250" dirty="0"/>
          </a:p>
        </p:txBody>
      </p:sp>
      <p:sp>
        <p:nvSpPr>
          <p:cNvPr id="13" name="Shape 11"/>
          <p:cNvSpPr/>
          <p:nvPr/>
        </p:nvSpPr>
        <p:spPr>
          <a:xfrm>
            <a:off x="566928" y="3602736"/>
            <a:ext cx="5230368" cy="1572768"/>
          </a:xfrm>
          <a:prstGeom prst="roundRect">
            <a:avLst>
              <a:gd name="adj" fmla="val 3488"/>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4" name="Text 12"/>
          <p:cNvSpPr/>
          <p:nvPr/>
        </p:nvSpPr>
        <p:spPr>
          <a:xfrm>
            <a:off x="859536" y="3803904"/>
            <a:ext cx="548640" cy="274320"/>
          </a:xfrm>
          <a:prstGeom prst="rect">
            <a:avLst/>
          </a:prstGeom>
          <a:noFill/>
          <a:ln/>
        </p:spPr>
        <p:txBody>
          <a:bodyPr wrap="square" lIns="0" tIns="0" rIns="0" bIns="0" rtlCol="0" anchor="t"/>
          <a:lstStyle/>
          <a:p>
            <a:pPr marL="0" indent="0" algn="l">
              <a:lnSpc>
                <a:spcPct val="106000"/>
              </a:lnSpc>
              <a:buNone/>
            </a:pPr>
            <a:r>
              <a:rPr lang="en-US" sz="1300" b="1" dirty="0">
                <a:solidFill>
                  <a:srgbClr val="E8A033"/>
                </a:solidFill>
                <a:latin typeface="Calibri" pitchFamily="34" charset="0"/>
                <a:ea typeface="Calibri" pitchFamily="34" charset="-122"/>
                <a:cs typeface="Calibri" pitchFamily="34" charset="-120"/>
              </a:rPr>
              <a:t>03</a:t>
            </a:r>
            <a:endParaRPr lang="en-US" sz="1300" dirty="0"/>
          </a:p>
        </p:txBody>
      </p:sp>
      <p:sp>
        <p:nvSpPr>
          <p:cNvPr id="15" name="Text 13"/>
          <p:cNvSpPr/>
          <p:nvPr/>
        </p:nvSpPr>
        <p:spPr>
          <a:xfrm>
            <a:off x="1463040" y="3785616"/>
            <a:ext cx="4041648" cy="310896"/>
          </a:xfrm>
          <a:prstGeom prst="rect">
            <a:avLst/>
          </a:prstGeom>
          <a:noFill/>
          <a:ln/>
        </p:spPr>
        <p:txBody>
          <a:bodyPr wrap="square" lIns="0" tIns="0" rIns="0" bIns="0" rtlCol="0" anchor="t"/>
          <a:lstStyle/>
          <a:p>
            <a:pPr marL="0" indent="0" algn="l">
              <a:lnSpc>
                <a:spcPct val="106000"/>
              </a:lnSpc>
              <a:buNone/>
            </a:pPr>
            <a:r>
              <a:rPr lang="en-US" sz="1550" b="1" dirty="0">
                <a:solidFill>
                  <a:srgbClr val="16212E"/>
                </a:solidFill>
                <a:latin typeface="Calibri" pitchFamily="34" charset="0"/>
                <a:ea typeface="Calibri" pitchFamily="34" charset="-122"/>
                <a:cs typeface="Calibri" pitchFamily="34" charset="-120"/>
              </a:rPr>
              <a:t>IV mistakes are easy and fatal</a:t>
            </a:r>
            <a:endParaRPr lang="en-US" sz="1550" dirty="0"/>
          </a:p>
        </p:txBody>
      </p:sp>
      <p:sp>
        <p:nvSpPr>
          <p:cNvPr id="16" name="Text 14"/>
          <p:cNvSpPr/>
          <p:nvPr/>
        </p:nvSpPr>
        <p:spPr>
          <a:xfrm>
            <a:off x="1463040" y="4169664"/>
            <a:ext cx="4041648" cy="868680"/>
          </a:xfrm>
          <a:prstGeom prst="rect">
            <a:avLst/>
          </a:prstGeom>
          <a:noFill/>
          <a:ln/>
        </p:spPr>
        <p:txBody>
          <a:bodyPr wrap="square" lIns="0" tIns="0" rIns="0" bIns="0" rtlCol="0" anchor="t"/>
          <a:lstStyle/>
          <a:p>
            <a:pPr marL="0" indent="0" algn="l">
              <a:lnSpc>
                <a:spcPct val="116000"/>
              </a:lnSpc>
              <a:buNone/>
            </a:pPr>
            <a:r>
              <a:rPr lang="en-US" sz="1250" dirty="0">
                <a:solidFill>
                  <a:srgbClr val="3D4C5A"/>
                </a:solidFill>
                <a:latin typeface="Calibri" pitchFamily="34" charset="0"/>
                <a:ea typeface="Calibri" pitchFamily="34" charset="-122"/>
                <a:cs typeface="Calibri" pitchFamily="34" charset="-120"/>
              </a:rPr>
              <a:t>Predictable or reused IVs broke real systems — BEAST in 2011, Lucky13 in 2013. The failure mode is silent.</a:t>
            </a:r>
            <a:endParaRPr lang="en-US" sz="1250" dirty="0"/>
          </a:p>
        </p:txBody>
      </p:sp>
      <p:sp>
        <p:nvSpPr>
          <p:cNvPr id="17" name="Shape 15"/>
          <p:cNvSpPr/>
          <p:nvPr/>
        </p:nvSpPr>
        <p:spPr>
          <a:xfrm>
            <a:off x="6126480" y="3602736"/>
            <a:ext cx="5230368" cy="1572768"/>
          </a:xfrm>
          <a:prstGeom prst="roundRect">
            <a:avLst>
              <a:gd name="adj" fmla="val 3488"/>
            </a:avLst>
          </a:prstGeom>
          <a:solidFill>
            <a:srgbClr val="FBEAE9"/>
          </a:solidFill>
          <a:ln w="6350">
            <a:solidFill>
              <a:srgbClr val="FBEAE9"/>
            </a:solidFill>
            <a:prstDash val="solid"/>
          </a:ln>
          <a:effectLst>
            <a:outerShdw blurRad="114300" dist="25400" dir="5400000" algn="bl" rotWithShape="0">
              <a:srgbClr val="9FB0BF">
                <a:alpha val="25000"/>
              </a:srgbClr>
            </a:outerShdw>
          </a:effectLst>
        </p:spPr>
        <p:txBody>
          <a:bodyPr/>
          <a:lstStyle/>
          <a:p>
            <a:endParaRPr lang="en-US"/>
          </a:p>
        </p:txBody>
      </p:sp>
      <p:sp>
        <p:nvSpPr>
          <p:cNvPr id="18" name="Text 16"/>
          <p:cNvSpPr/>
          <p:nvPr/>
        </p:nvSpPr>
        <p:spPr>
          <a:xfrm>
            <a:off x="6419088" y="3803904"/>
            <a:ext cx="548640" cy="274320"/>
          </a:xfrm>
          <a:prstGeom prst="rect">
            <a:avLst/>
          </a:prstGeom>
          <a:noFill/>
          <a:ln/>
        </p:spPr>
        <p:txBody>
          <a:bodyPr wrap="square" lIns="0" tIns="0" rIns="0" bIns="0" rtlCol="0" anchor="t"/>
          <a:lstStyle/>
          <a:p>
            <a:pPr marL="0" indent="0" algn="l">
              <a:lnSpc>
                <a:spcPct val="106000"/>
              </a:lnSpc>
              <a:buNone/>
            </a:pPr>
            <a:r>
              <a:rPr lang="en-US" sz="1300" b="1" dirty="0">
                <a:solidFill>
                  <a:srgbClr val="D0524E"/>
                </a:solidFill>
                <a:latin typeface="Calibri" pitchFamily="34" charset="0"/>
                <a:ea typeface="Calibri" pitchFamily="34" charset="-122"/>
                <a:cs typeface="Calibri" pitchFamily="34" charset="-120"/>
              </a:rPr>
              <a:t>04</a:t>
            </a:r>
            <a:endParaRPr lang="en-US" sz="1300" dirty="0"/>
          </a:p>
        </p:txBody>
      </p:sp>
      <p:sp>
        <p:nvSpPr>
          <p:cNvPr id="19" name="Text 17"/>
          <p:cNvSpPr/>
          <p:nvPr/>
        </p:nvSpPr>
        <p:spPr>
          <a:xfrm>
            <a:off x="7022592" y="3785616"/>
            <a:ext cx="4041648" cy="310896"/>
          </a:xfrm>
          <a:prstGeom prst="rect">
            <a:avLst/>
          </a:prstGeom>
          <a:noFill/>
          <a:ln/>
        </p:spPr>
        <p:txBody>
          <a:bodyPr wrap="square" lIns="0" tIns="0" rIns="0" bIns="0" rtlCol="0" anchor="t"/>
          <a:lstStyle/>
          <a:p>
            <a:pPr marL="0" indent="0" algn="l">
              <a:lnSpc>
                <a:spcPct val="106000"/>
              </a:lnSpc>
              <a:buNone/>
            </a:pPr>
            <a:r>
              <a:rPr lang="en-US" sz="1550" b="1" dirty="0">
                <a:solidFill>
                  <a:srgbClr val="16212E"/>
                </a:solidFill>
                <a:latin typeface="Calibri" pitchFamily="34" charset="0"/>
                <a:ea typeface="Calibri" pitchFamily="34" charset="-122"/>
                <a:cs typeface="Calibri" pitchFamily="34" charset="-120"/>
              </a:rPr>
              <a:t>Our own legacy format is worse than textbook CBC</a:t>
            </a:r>
            <a:endParaRPr lang="en-US" sz="1550" dirty="0"/>
          </a:p>
        </p:txBody>
      </p:sp>
      <p:sp>
        <p:nvSpPr>
          <p:cNvPr id="20" name="Text 18"/>
          <p:cNvSpPr/>
          <p:nvPr/>
        </p:nvSpPr>
        <p:spPr>
          <a:xfrm>
            <a:off x="7022592" y="4232010"/>
            <a:ext cx="4041648" cy="868680"/>
          </a:xfrm>
          <a:prstGeom prst="rect">
            <a:avLst/>
          </a:prstGeom>
          <a:noFill/>
          <a:ln/>
        </p:spPr>
        <p:txBody>
          <a:bodyPr wrap="square" lIns="0" tIns="0" rIns="0" bIns="0" rtlCol="0" anchor="t"/>
          <a:lstStyle/>
          <a:p>
            <a:pPr marL="0" indent="0" algn="l">
              <a:lnSpc>
                <a:spcPct val="116000"/>
              </a:lnSpc>
              <a:buNone/>
            </a:pPr>
            <a:r>
              <a:rPr lang="en-US" sz="1250" dirty="0">
                <a:solidFill>
                  <a:srgbClr val="3D4C5A"/>
                </a:solidFill>
                <a:latin typeface="Calibri" pitchFamily="34" charset="0"/>
                <a:ea typeface="Calibri" pitchFamily="34" charset="-122"/>
                <a:cs typeface="Calibri" pitchFamily="34" charset="-120"/>
              </a:rPr>
              <a:t>The CryptoJS "Salted__" scheme derives its key with EVP_BytesToKey over MD5, one iteration. That is not a key derivation function by any modern standard.</a:t>
            </a:r>
            <a:endParaRPr lang="en-US" sz="1250" dirty="0"/>
          </a:p>
        </p:txBody>
      </p:sp>
      <p:sp>
        <p:nvSpPr>
          <p:cNvPr id="21" name="Shape 19"/>
          <p:cNvSpPr/>
          <p:nvPr/>
        </p:nvSpPr>
        <p:spPr>
          <a:xfrm>
            <a:off x="566928" y="5175504"/>
            <a:ext cx="11057839" cy="877824"/>
          </a:xfrm>
          <a:prstGeom prst="roundRect">
            <a:avLst>
              <a:gd name="adj" fmla="val 6250"/>
            </a:avLst>
          </a:prstGeom>
          <a:solidFill>
            <a:srgbClr val="0F1721"/>
          </a:solidFill>
          <a:ln w="6350">
            <a:solidFill>
              <a:srgbClr val="0F1721"/>
            </a:solidFill>
            <a:prstDash val="solid"/>
          </a:ln>
        </p:spPr>
        <p:txBody>
          <a:bodyPr/>
          <a:lstStyle/>
          <a:p>
            <a:endParaRPr lang="en-US"/>
          </a:p>
        </p:txBody>
      </p:sp>
      <p:sp>
        <p:nvSpPr>
          <p:cNvPr id="22" name="Text 20"/>
          <p:cNvSpPr/>
          <p:nvPr/>
        </p:nvSpPr>
        <p:spPr>
          <a:xfrm>
            <a:off x="950976" y="5394960"/>
            <a:ext cx="1234440" cy="274320"/>
          </a:xfrm>
          <a:prstGeom prst="rect">
            <a:avLst/>
          </a:prstGeom>
          <a:noFill/>
          <a:ln/>
        </p:spPr>
        <p:txBody>
          <a:bodyPr wrap="square" lIns="0" tIns="0" rIns="0" bIns="0" rtlCol="0" anchor="t"/>
          <a:lstStyle/>
          <a:p>
            <a:pPr marL="0" indent="0" algn="l">
              <a:lnSpc>
                <a:spcPct val="106000"/>
              </a:lnSpc>
              <a:buNone/>
            </a:pPr>
            <a:r>
              <a:rPr lang="en-US" sz="1350" b="1" dirty="0">
                <a:solidFill>
                  <a:srgbClr val="E8A033"/>
                </a:solidFill>
                <a:latin typeface="Calibri" pitchFamily="34" charset="0"/>
                <a:ea typeface="Calibri" pitchFamily="34" charset="-122"/>
                <a:cs typeface="Calibri" pitchFamily="34" charset="-120"/>
              </a:rPr>
              <a:t>Bottom line:</a:t>
            </a:r>
            <a:endParaRPr lang="en-US" sz="1350" dirty="0"/>
          </a:p>
        </p:txBody>
      </p:sp>
      <p:sp>
        <p:nvSpPr>
          <p:cNvPr id="23" name="Text 21"/>
          <p:cNvSpPr/>
          <p:nvPr/>
        </p:nvSpPr>
        <p:spPr>
          <a:xfrm>
            <a:off x="2258568" y="5394960"/>
            <a:ext cx="8954719" cy="457200"/>
          </a:xfrm>
          <a:prstGeom prst="rect">
            <a:avLst/>
          </a:prstGeom>
          <a:noFill/>
          <a:ln/>
        </p:spPr>
        <p:txBody>
          <a:bodyPr wrap="square" lIns="0" tIns="0" rIns="0" bIns="0" rtlCol="0" anchor="t"/>
          <a:lstStyle/>
          <a:p>
            <a:pPr marL="0" indent="0" algn="l">
              <a:lnSpc>
                <a:spcPct val="106000"/>
              </a:lnSpc>
              <a:buNone/>
            </a:pPr>
            <a:r>
              <a:rPr lang="en-US" sz="1350" dirty="0">
                <a:solidFill>
                  <a:srgbClr val="C6D3DE"/>
                </a:solidFill>
                <a:latin typeface="Calibri" pitchFamily="34" charset="0"/>
                <a:ea typeface="Calibri" pitchFamily="34" charset="-122"/>
                <a:cs typeface="Calibri" pitchFamily="34" charset="-120"/>
              </a:rPr>
              <a:t>we are not moving because 128 bits is too few. We are moving because the mode has no integrity and our particular flavour of it hangs off MD5.</a:t>
            </a:r>
            <a:endParaRPr lang="en-US" sz="1350" dirty="0"/>
          </a:p>
        </p:txBody>
      </p:sp>
      <p:sp>
        <p:nvSpPr>
          <p:cNvPr id="24" name="Text 22"/>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2 · The implementation</a:t>
            </a:r>
            <a:endParaRPr lang="en-US" sz="950" dirty="0"/>
          </a:p>
        </p:txBody>
      </p:sp>
      <p:sp>
        <p:nvSpPr>
          <p:cNvPr id="25" name="Text 23"/>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UNDER THE HOOD</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What GCM actually does: two halves, one pass</a:t>
            </a:r>
            <a:endParaRPr lang="en-US" sz="3100" dirty="0"/>
          </a:p>
        </p:txBody>
      </p:sp>
      <p:sp>
        <p:nvSpPr>
          <p:cNvPr id="4" name="Shape 2"/>
          <p:cNvSpPr/>
          <p:nvPr/>
        </p:nvSpPr>
        <p:spPr>
          <a:xfrm>
            <a:off x="566928" y="1609344"/>
            <a:ext cx="5230368" cy="2487168"/>
          </a:xfrm>
          <a:prstGeom prst="roundRect">
            <a:avLst>
              <a:gd name="adj" fmla="val 2206"/>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5" name="Shape 3"/>
          <p:cNvSpPr/>
          <p:nvPr/>
        </p:nvSpPr>
        <p:spPr>
          <a:xfrm>
            <a:off x="877824" y="1828800"/>
            <a:ext cx="2286000" cy="329184"/>
          </a:xfrm>
          <a:prstGeom prst="roundRect">
            <a:avLst>
              <a:gd name="adj" fmla="val 138889"/>
            </a:avLst>
          </a:prstGeom>
          <a:solidFill>
            <a:srgbClr val="2C3E50"/>
          </a:solidFill>
          <a:ln w="6350">
            <a:solidFill>
              <a:srgbClr val="2C3E50"/>
            </a:solidFill>
            <a:prstDash val="solid"/>
          </a:ln>
        </p:spPr>
        <p:txBody>
          <a:bodyPr/>
          <a:lstStyle/>
          <a:p>
            <a:endParaRPr lang="en-US"/>
          </a:p>
        </p:txBody>
      </p:sp>
      <p:sp>
        <p:nvSpPr>
          <p:cNvPr id="6" name="Text 4"/>
          <p:cNvSpPr/>
          <p:nvPr/>
        </p:nvSpPr>
        <p:spPr>
          <a:xfrm>
            <a:off x="877824" y="1828800"/>
            <a:ext cx="2286000" cy="329184"/>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THE ENCRYPTING HALF</a:t>
            </a:r>
            <a:endParaRPr lang="en-US" sz="1050" dirty="0"/>
          </a:p>
        </p:txBody>
      </p:sp>
      <p:sp>
        <p:nvSpPr>
          <p:cNvPr id="7" name="Text 5"/>
          <p:cNvSpPr/>
          <p:nvPr/>
        </p:nvSpPr>
        <p:spPr>
          <a:xfrm>
            <a:off x="877824" y="2304288"/>
            <a:ext cx="4572000" cy="329184"/>
          </a:xfrm>
          <a:prstGeom prst="rect">
            <a:avLst/>
          </a:prstGeom>
          <a:noFill/>
          <a:ln/>
        </p:spPr>
        <p:txBody>
          <a:bodyPr wrap="square" lIns="0" tIns="0" rIns="0" bIns="0" rtlCol="0" anchor="t"/>
          <a:lstStyle/>
          <a:p>
            <a:pPr marL="0" indent="0" algn="l">
              <a:lnSpc>
                <a:spcPct val="106000"/>
              </a:lnSpc>
              <a:buNone/>
            </a:pPr>
            <a:r>
              <a:rPr lang="en-US" sz="1900" b="1" dirty="0">
                <a:solidFill>
                  <a:srgbClr val="16212E"/>
                </a:solidFill>
                <a:latin typeface="Calibri" pitchFamily="34" charset="0"/>
                <a:ea typeface="Calibri" pitchFamily="34" charset="-122"/>
                <a:cs typeface="Calibri" pitchFamily="34" charset="-120"/>
              </a:rPr>
              <a:t>Counter mode (CTR)</a:t>
            </a:r>
            <a:endParaRPr lang="en-US" sz="1900" dirty="0"/>
          </a:p>
        </p:txBody>
      </p:sp>
      <p:sp>
        <p:nvSpPr>
          <p:cNvPr id="8" name="Text 6"/>
          <p:cNvSpPr/>
          <p:nvPr/>
        </p:nvSpPr>
        <p:spPr>
          <a:xfrm>
            <a:off x="877824" y="2688336"/>
            <a:ext cx="4608576" cy="603504"/>
          </a:xfrm>
          <a:prstGeom prst="rect">
            <a:avLst/>
          </a:prstGeom>
          <a:noFill/>
          <a:ln/>
        </p:spPr>
        <p:txBody>
          <a:bodyPr wrap="square" lIns="0" tIns="0" rIns="0" bIns="0" rtlCol="0" anchor="t"/>
          <a:lstStyle/>
          <a:p>
            <a:pPr marL="0" indent="0" algn="l">
              <a:lnSpc>
                <a:spcPct val="115000"/>
              </a:lnSpc>
              <a:buNone/>
            </a:pPr>
            <a:r>
              <a:rPr lang="en-US" sz="1250" dirty="0">
                <a:solidFill>
                  <a:srgbClr val="3D4C5A"/>
                </a:solidFill>
                <a:latin typeface="Calibri" pitchFamily="34" charset="0"/>
                <a:ea typeface="Calibri" pitchFamily="34" charset="-122"/>
                <a:cs typeface="Calibri" pitchFamily="34" charset="-120"/>
              </a:rPr>
              <a:t>AES never touches your data. It encrypts a counter, producing a keystream, and your plaintext is XOR-ed with that keystream.</a:t>
            </a:r>
            <a:endParaRPr lang="en-US" sz="1250" dirty="0"/>
          </a:p>
        </p:txBody>
      </p:sp>
      <p:sp>
        <p:nvSpPr>
          <p:cNvPr id="9" name="Text 7"/>
          <p:cNvSpPr/>
          <p:nvPr/>
        </p:nvSpPr>
        <p:spPr>
          <a:xfrm>
            <a:off x="877824" y="3346704"/>
            <a:ext cx="4608576" cy="640080"/>
          </a:xfrm>
          <a:prstGeom prst="rect">
            <a:avLst/>
          </a:prstGeom>
          <a:noFill/>
          <a:ln/>
        </p:spPr>
        <p:txBody>
          <a:bodyPr wrap="square" lIns="0" tIns="0" rIns="0" bIns="0" rtlCol="0" anchor="ctr"/>
          <a:lstStyle/>
          <a:p>
            <a:pPr marL="342900" indent="-342900">
              <a:lnSpc>
                <a:spcPct val="102000"/>
              </a:lnSpc>
              <a:spcAft>
                <a:spcPts val="400"/>
              </a:spcAft>
              <a:buSzPct val="100000"/>
              <a:buChar char="•"/>
            </a:pPr>
            <a:r>
              <a:rPr lang="en-US" sz="1200" dirty="0">
                <a:solidFill>
                  <a:srgbClr val="3D4C5A"/>
                </a:solidFill>
                <a:latin typeface="Calibri" pitchFamily="34" charset="0"/>
                <a:ea typeface="Calibri" pitchFamily="34" charset="-122"/>
                <a:cs typeface="Calibri" pitchFamily="34" charset="-120"/>
              </a:rPr>
              <a:t>No padding, any length</a:t>
            </a:r>
            <a:endParaRPr lang="en-US" sz="1200" dirty="0"/>
          </a:p>
          <a:p>
            <a:pPr marL="342900" indent="-342900">
              <a:lnSpc>
                <a:spcPct val="102000"/>
              </a:lnSpc>
              <a:spcAft>
                <a:spcPts val="400"/>
              </a:spcAft>
              <a:buSzPct val="100000"/>
              <a:buChar char="•"/>
            </a:pPr>
            <a:r>
              <a:rPr lang="en-US" sz="1200" dirty="0">
                <a:solidFill>
                  <a:srgbClr val="3D4C5A"/>
                </a:solidFill>
                <a:latin typeface="Calibri" pitchFamily="34" charset="0"/>
                <a:ea typeface="Calibri" pitchFamily="34" charset="-122"/>
                <a:cs typeface="Calibri" pitchFamily="34" charset="-120"/>
              </a:rPr>
              <a:t>Parallelisable; encrypt and decrypt are the same operation</a:t>
            </a:r>
            <a:endParaRPr lang="en-US" sz="1200" dirty="0"/>
          </a:p>
        </p:txBody>
      </p:sp>
      <p:sp>
        <p:nvSpPr>
          <p:cNvPr id="10" name="Shape 8"/>
          <p:cNvSpPr/>
          <p:nvPr/>
        </p:nvSpPr>
        <p:spPr>
          <a:xfrm>
            <a:off x="6126480" y="1609344"/>
            <a:ext cx="5230368" cy="2487168"/>
          </a:xfrm>
          <a:prstGeom prst="roundRect">
            <a:avLst>
              <a:gd name="adj" fmla="val 2206"/>
            </a:avLst>
          </a:prstGeom>
          <a:solidFill>
            <a:srgbClr val="E2F4EF"/>
          </a:solidFill>
          <a:ln w="6350">
            <a:solidFill>
              <a:srgbClr val="E2F4EF"/>
            </a:solidFill>
            <a:prstDash val="solid"/>
          </a:ln>
          <a:effectLst>
            <a:outerShdw blurRad="114300" dist="25400" dir="5400000" algn="bl" rotWithShape="0">
              <a:srgbClr val="9FB0BF">
                <a:alpha val="25000"/>
              </a:srgbClr>
            </a:outerShdw>
          </a:effectLst>
        </p:spPr>
        <p:txBody>
          <a:bodyPr/>
          <a:lstStyle/>
          <a:p>
            <a:endParaRPr lang="en-US"/>
          </a:p>
        </p:txBody>
      </p:sp>
      <p:sp>
        <p:nvSpPr>
          <p:cNvPr id="11" name="Shape 9"/>
          <p:cNvSpPr/>
          <p:nvPr/>
        </p:nvSpPr>
        <p:spPr>
          <a:xfrm>
            <a:off x="6437376" y="1828800"/>
            <a:ext cx="2514600" cy="329184"/>
          </a:xfrm>
          <a:prstGeom prst="roundRect">
            <a:avLst>
              <a:gd name="adj" fmla="val 138889"/>
            </a:avLst>
          </a:prstGeom>
          <a:solidFill>
            <a:srgbClr val="2BA88C"/>
          </a:solidFill>
          <a:ln w="6350">
            <a:solidFill>
              <a:srgbClr val="2BA88C"/>
            </a:solidFill>
            <a:prstDash val="solid"/>
          </a:ln>
        </p:spPr>
        <p:txBody>
          <a:bodyPr/>
          <a:lstStyle/>
          <a:p>
            <a:endParaRPr lang="en-US"/>
          </a:p>
        </p:txBody>
      </p:sp>
      <p:sp>
        <p:nvSpPr>
          <p:cNvPr id="12" name="Text 10"/>
          <p:cNvSpPr/>
          <p:nvPr/>
        </p:nvSpPr>
        <p:spPr>
          <a:xfrm>
            <a:off x="6437376" y="1828800"/>
            <a:ext cx="2514600" cy="329184"/>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THE AUTHENTICATING HALF</a:t>
            </a:r>
            <a:endParaRPr lang="en-US" sz="1050" dirty="0"/>
          </a:p>
        </p:txBody>
      </p:sp>
      <p:sp>
        <p:nvSpPr>
          <p:cNvPr id="13" name="Text 11"/>
          <p:cNvSpPr/>
          <p:nvPr/>
        </p:nvSpPr>
        <p:spPr>
          <a:xfrm>
            <a:off x="6437376" y="2304288"/>
            <a:ext cx="4572000" cy="329184"/>
          </a:xfrm>
          <a:prstGeom prst="rect">
            <a:avLst/>
          </a:prstGeom>
          <a:noFill/>
          <a:ln/>
        </p:spPr>
        <p:txBody>
          <a:bodyPr wrap="square" lIns="0" tIns="0" rIns="0" bIns="0" rtlCol="0" anchor="t"/>
          <a:lstStyle/>
          <a:p>
            <a:pPr marL="0" indent="0" algn="l">
              <a:lnSpc>
                <a:spcPct val="106000"/>
              </a:lnSpc>
              <a:buNone/>
            </a:pPr>
            <a:r>
              <a:rPr lang="en-US" sz="1900" b="1" dirty="0">
                <a:solidFill>
                  <a:srgbClr val="16212E"/>
                </a:solidFill>
                <a:latin typeface="Calibri" pitchFamily="34" charset="0"/>
                <a:ea typeface="Calibri" pitchFamily="34" charset="-122"/>
                <a:cs typeface="Calibri" pitchFamily="34" charset="-120"/>
              </a:rPr>
              <a:t>GHASH</a:t>
            </a:r>
            <a:endParaRPr lang="en-US" sz="1900" dirty="0"/>
          </a:p>
        </p:txBody>
      </p:sp>
      <p:sp>
        <p:nvSpPr>
          <p:cNvPr id="14" name="Text 12"/>
          <p:cNvSpPr/>
          <p:nvPr/>
        </p:nvSpPr>
        <p:spPr>
          <a:xfrm>
            <a:off x="6437376" y="2688336"/>
            <a:ext cx="4608576" cy="603504"/>
          </a:xfrm>
          <a:prstGeom prst="rect">
            <a:avLst/>
          </a:prstGeom>
          <a:noFill/>
          <a:ln/>
        </p:spPr>
        <p:txBody>
          <a:bodyPr wrap="square" lIns="0" tIns="0" rIns="0" bIns="0" rtlCol="0" anchor="t"/>
          <a:lstStyle/>
          <a:p>
            <a:pPr marL="0" indent="0" algn="l">
              <a:lnSpc>
                <a:spcPct val="115000"/>
              </a:lnSpc>
              <a:buNone/>
            </a:pPr>
            <a:r>
              <a:rPr lang="en-US" sz="1250" dirty="0">
                <a:solidFill>
                  <a:srgbClr val="3D4C5A"/>
                </a:solidFill>
                <a:latin typeface="Calibri" pitchFamily="34" charset="0"/>
                <a:ea typeface="Calibri" pitchFamily="34" charset="-122"/>
                <a:cs typeface="Calibri" pitchFamily="34" charset="-120"/>
              </a:rPr>
              <a:t>A fast keyed hash over the ciphertext (and any associated data) in GF(2¹²⁸). Its output is the 16-byte tag.</a:t>
            </a:r>
            <a:endParaRPr lang="en-US" sz="1250" dirty="0"/>
          </a:p>
        </p:txBody>
      </p:sp>
      <p:sp>
        <p:nvSpPr>
          <p:cNvPr id="15" name="Text 13"/>
          <p:cNvSpPr/>
          <p:nvPr/>
        </p:nvSpPr>
        <p:spPr>
          <a:xfrm>
            <a:off x="6437376" y="3346704"/>
            <a:ext cx="4608576" cy="640080"/>
          </a:xfrm>
          <a:prstGeom prst="rect">
            <a:avLst/>
          </a:prstGeom>
          <a:noFill/>
          <a:ln/>
        </p:spPr>
        <p:txBody>
          <a:bodyPr wrap="square" lIns="0" tIns="0" rIns="0" bIns="0" rtlCol="0" anchor="ctr"/>
          <a:lstStyle/>
          <a:p>
            <a:pPr marL="342900" indent="-342900">
              <a:lnSpc>
                <a:spcPct val="102000"/>
              </a:lnSpc>
              <a:spcAft>
                <a:spcPts val="400"/>
              </a:spcAft>
              <a:buSzPct val="100000"/>
              <a:buChar char="•"/>
            </a:pPr>
            <a:r>
              <a:rPr lang="en-US" sz="1200" dirty="0">
                <a:solidFill>
                  <a:srgbClr val="3D4C5A"/>
                </a:solidFill>
                <a:latin typeface="Calibri" pitchFamily="34" charset="0"/>
                <a:ea typeface="Calibri" pitchFamily="34" charset="-122"/>
                <a:cs typeface="Calibri" pitchFamily="34" charset="-120"/>
              </a:rPr>
              <a:t>Hardware-accelerated by PCLMULQDQ</a:t>
            </a:r>
            <a:endParaRPr lang="en-US" sz="1200" dirty="0"/>
          </a:p>
          <a:p>
            <a:pPr marL="342900" indent="-342900">
              <a:lnSpc>
                <a:spcPct val="102000"/>
              </a:lnSpc>
              <a:spcAft>
                <a:spcPts val="400"/>
              </a:spcAft>
              <a:buSzPct val="100000"/>
              <a:buChar char="•"/>
            </a:pPr>
            <a:r>
              <a:rPr lang="en-US" sz="1200" dirty="0">
                <a:solidFill>
                  <a:srgbClr val="3D4C5A"/>
                </a:solidFill>
                <a:latin typeface="Calibri" pitchFamily="34" charset="0"/>
                <a:ea typeface="Calibri" pitchFamily="34" charset="-122"/>
                <a:cs typeface="Calibri" pitchFamily="34" charset="-120"/>
              </a:rPr>
              <a:t>Encrypt-then-MAC — the ordering cryptographers recommend</a:t>
            </a:r>
            <a:endParaRPr lang="en-US" sz="1200" dirty="0"/>
          </a:p>
        </p:txBody>
      </p:sp>
      <p:sp>
        <p:nvSpPr>
          <p:cNvPr id="16" name="Shape 14"/>
          <p:cNvSpPr/>
          <p:nvPr/>
        </p:nvSpPr>
        <p:spPr>
          <a:xfrm>
            <a:off x="566928" y="4261104"/>
            <a:ext cx="11057839" cy="932688"/>
          </a:xfrm>
          <a:prstGeom prst="roundRect">
            <a:avLst>
              <a:gd name="adj" fmla="val 5882"/>
            </a:avLst>
          </a:prstGeom>
          <a:solidFill>
            <a:srgbClr val="FBEEDA"/>
          </a:solidFill>
          <a:ln w="6350">
            <a:solidFill>
              <a:srgbClr val="FBEEDA"/>
            </a:solidFill>
            <a:prstDash val="solid"/>
          </a:ln>
          <a:effectLst>
            <a:outerShdw blurRad="114300" dist="25400" dir="5400000" algn="bl" rotWithShape="0">
              <a:srgbClr val="9FB0BF">
                <a:alpha val="25000"/>
              </a:srgbClr>
            </a:outerShdw>
          </a:effectLst>
        </p:spPr>
        <p:txBody>
          <a:bodyPr/>
          <a:lstStyle/>
          <a:p>
            <a:endParaRPr lang="en-US"/>
          </a:p>
        </p:txBody>
      </p:sp>
      <p:sp>
        <p:nvSpPr>
          <p:cNvPr id="17" name="Text 15"/>
          <p:cNvSpPr/>
          <p:nvPr/>
        </p:nvSpPr>
        <p:spPr>
          <a:xfrm>
            <a:off x="950976" y="4462272"/>
            <a:ext cx="6035040" cy="292608"/>
          </a:xfrm>
          <a:prstGeom prst="rect">
            <a:avLst/>
          </a:prstGeom>
          <a:noFill/>
          <a:ln/>
        </p:spPr>
        <p:txBody>
          <a:bodyPr wrap="square" lIns="0" tIns="0" rIns="0" bIns="0" rtlCol="0" anchor="t"/>
          <a:lstStyle/>
          <a:p>
            <a:pPr marL="0" indent="0" algn="l">
              <a:lnSpc>
                <a:spcPct val="106000"/>
              </a:lnSpc>
              <a:buNone/>
            </a:pPr>
            <a:r>
              <a:rPr lang="en-US" sz="1350" b="1" dirty="0">
                <a:solidFill>
                  <a:srgbClr val="16212E"/>
                </a:solidFill>
                <a:latin typeface="Calibri" pitchFamily="34" charset="0"/>
                <a:ea typeface="Calibri" pitchFamily="34" charset="-122"/>
                <a:cs typeface="Calibri" pitchFamily="34" charset="-120"/>
              </a:rPr>
              <a:t>The counter block is literally  nonce (12 bytes) || counter (4 bytes)</a:t>
            </a:r>
            <a:endParaRPr lang="en-US" sz="1350" dirty="0"/>
          </a:p>
        </p:txBody>
      </p:sp>
      <p:sp>
        <p:nvSpPr>
          <p:cNvPr id="18" name="Text 16"/>
          <p:cNvSpPr/>
          <p:nvPr/>
        </p:nvSpPr>
        <p:spPr>
          <a:xfrm>
            <a:off x="950976" y="4773168"/>
            <a:ext cx="10234879" cy="347472"/>
          </a:xfrm>
          <a:prstGeom prst="rect">
            <a:avLst/>
          </a:prstGeom>
          <a:noFill/>
          <a:ln/>
        </p:spPr>
        <p:txBody>
          <a:bodyPr wrap="square" lIns="0" tIns="0" rIns="0" bIns="0" rtlCol="0" anchor="t"/>
          <a:lstStyle/>
          <a:p>
            <a:pPr marL="0" indent="0" algn="l">
              <a:lnSpc>
                <a:spcPct val="106000"/>
              </a:lnSpc>
              <a:buNone/>
            </a:pPr>
            <a:r>
              <a:rPr lang="en-US" sz="1250" dirty="0">
                <a:solidFill>
                  <a:srgbClr val="3D4C5A"/>
                </a:solidFill>
                <a:latin typeface="Calibri" pitchFamily="34" charset="0"/>
                <a:ea typeface="Calibri" pitchFamily="34" charset="-122"/>
                <a:cs typeface="Calibri" pitchFamily="34" charset="-120"/>
              </a:rPr>
              <a:t>Repeat a nonce under the same key and you replay the identical keystream — two messages XOR-ed together, recoverable. This is why nonce discipline gets its own slide later.</a:t>
            </a:r>
            <a:endParaRPr lang="en-US" sz="1250" dirty="0"/>
          </a:p>
        </p:txBody>
      </p:sp>
      <p:sp>
        <p:nvSpPr>
          <p:cNvPr id="19" name="Text 17"/>
          <p:cNvSpPr/>
          <p:nvPr/>
        </p:nvSpPr>
        <p:spPr>
          <a:xfrm>
            <a:off x="566928" y="5413248"/>
            <a:ext cx="11057839" cy="548640"/>
          </a:xfrm>
          <a:prstGeom prst="rect">
            <a:avLst/>
          </a:prstGeom>
          <a:noFill/>
          <a:ln/>
        </p:spPr>
        <p:txBody>
          <a:bodyPr wrap="square" lIns="0" tIns="0" rIns="0" bIns="0" rtlCol="0" anchor="t"/>
          <a:lstStyle/>
          <a:p>
            <a:pPr marL="0" indent="0" algn="l">
              <a:lnSpc>
                <a:spcPct val="115000"/>
              </a:lnSpc>
              <a:buNone/>
            </a:pPr>
            <a:r>
              <a:rPr lang="en-US" sz="1350" b="1" dirty="0">
                <a:solidFill>
                  <a:srgbClr val="16212E"/>
                </a:solidFill>
                <a:latin typeface="Calibri" pitchFamily="34" charset="0"/>
                <a:ea typeface="Calibri" pitchFamily="34" charset="-122"/>
                <a:cs typeface="Calibri" pitchFamily="34" charset="-120"/>
              </a:rPr>
              <a:t>So AEAD is not a slower, safer option. One pass over the data with dedicated CPU instructions makes GCM both safer and faster than CBC followed by a separate HMAC.</a:t>
            </a:r>
            <a:endParaRPr lang="en-US" sz="1350" dirty="0"/>
          </a:p>
        </p:txBody>
      </p:sp>
      <p:sp>
        <p:nvSpPr>
          <p:cNvPr id="20" name="Text 18"/>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2 · The implementation</a:t>
            </a:r>
            <a:endParaRPr lang="en-US" sz="950" dirty="0"/>
          </a:p>
        </p:txBody>
      </p:sp>
      <p:sp>
        <p:nvSpPr>
          <p:cNvPr id="21" name="Text 19"/>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KEY SIZE</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Why 256 and not 128</a:t>
            </a:r>
            <a:endParaRPr lang="en-US" sz="3100" dirty="0"/>
          </a:p>
        </p:txBody>
      </p:sp>
      <p:sp>
        <p:nvSpPr>
          <p:cNvPr id="4" name="Shape 2"/>
          <p:cNvSpPr/>
          <p:nvPr/>
        </p:nvSpPr>
        <p:spPr>
          <a:xfrm>
            <a:off x="566928" y="1572768"/>
            <a:ext cx="5230368" cy="1371600"/>
          </a:xfrm>
          <a:prstGeom prst="roundRect">
            <a:avLst>
              <a:gd name="adj" fmla="val 4000"/>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5" name="Text 3"/>
          <p:cNvSpPr/>
          <p:nvPr/>
        </p:nvSpPr>
        <p:spPr>
          <a:xfrm>
            <a:off x="859536" y="1755648"/>
            <a:ext cx="4645152" cy="310896"/>
          </a:xfrm>
          <a:prstGeom prst="rect">
            <a:avLst/>
          </a:prstGeom>
          <a:noFill/>
          <a:ln/>
        </p:spPr>
        <p:txBody>
          <a:bodyPr wrap="square" lIns="0" tIns="0" rIns="0" bIns="0" rtlCol="0" anchor="t"/>
          <a:lstStyle/>
          <a:p>
            <a:pPr marL="0" indent="0" algn="l">
              <a:lnSpc>
                <a:spcPct val="106000"/>
              </a:lnSpc>
              <a:buNone/>
            </a:pPr>
            <a:r>
              <a:rPr lang="en-US" sz="1500" b="1" dirty="0">
                <a:solidFill>
                  <a:srgbClr val="16212E"/>
                </a:solidFill>
                <a:latin typeface="Calibri" pitchFamily="34" charset="0"/>
                <a:ea typeface="Calibri" pitchFamily="34" charset="-122"/>
                <a:cs typeface="Calibri" pitchFamily="34" charset="-120"/>
              </a:rPr>
              <a:t>More rounds, more margin</a:t>
            </a:r>
            <a:endParaRPr lang="en-US" sz="1500" dirty="0"/>
          </a:p>
        </p:txBody>
      </p:sp>
      <p:sp>
        <p:nvSpPr>
          <p:cNvPr id="6" name="Text 4"/>
          <p:cNvSpPr/>
          <p:nvPr/>
        </p:nvSpPr>
        <p:spPr>
          <a:xfrm>
            <a:off x="859536" y="2121408"/>
            <a:ext cx="4645152" cy="731520"/>
          </a:xfrm>
          <a:prstGeom prst="rect">
            <a:avLst/>
          </a:prstGeom>
          <a:noFill/>
          <a:ln/>
        </p:spPr>
        <p:txBody>
          <a:bodyPr wrap="square" lIns="0" tIns="0" rIns="0" bIns="0" rtlCol="0" anchor="t"/>
          <a:lstStyle/>
          <a:p>
            <a:pPr marL="0" indent="0" algn="l">
              <a:lnSpc>
                <a:spcPct val="115000"/>
              </a:lnSpc>
              <a:buNone/>
            </a:pPr>
            <a:r>
              <a:rPr lang="en-US" sz="1250" dirty="0">
                <a:solidFill>
                  <a:srgbClr val="3D4C5A"/>
                </a:solidFill>
                <a:latin typeface="Calibri" pitchFamily="34" charset="0"/>
                <a:ea typeface="Calibri" pitchFamily="34" charset="-122"/>
                <a:cs typeface="Calibri" pitchFamily="34" charset="-120"/>
              </a:rPr>
              <a:t>AES-128 runs 10 rounds; AES-256 runs 14. Real attacks come from structural cryptanalysis, not brute force — and rounds are the margin against it.</a:t>
            </a:r>
            <a:endParaRPr lang="en-US" sz="1250" dirty="0"/>
          </a:p>
        </p:txBody>
      </p:sp>
      <p:sp>
        <p:nvSpPr>
          <p:cNvPr id="7" name="Shape 5"/>
          <p:cNvSpPr/>
          <p:nvPr/>
        </p:nvSpPr>
        <p:spPr>
          <a:xfrm>
            <a:off x="6126480" y="1572768"/>
            <a:ext cx="5230368" cy="1371600"/>
          </a:xfrm>
          <a:prstGeom prst="roundRect">
            <a:avLst>
              <a:gd name="adj" fmla="val 4000"/>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8" name="Text 6"/>
          <p:cNvSpPr/>
          <p:nvPr/>
        </p:nvSpPr>
        <p:spPr>
          <a:xfrm>
            <a:off x="6419088" y="1755648"/>
            <a:ext cx="4645152" cy="310896"/>
          </a:xfrm>
          <a:prstGeom prst="rect">
            <a:avLst/>
          </a:prstGeom>
          <a:noFill/>
          <a:ln/>
        </p:spPr>
        <p:txBody>
          <a:bodyPr wrap="square" lIns="0" tIns="0" rIns="0" bIns="0" rtlCol="0" anchor="t"/>
          <a:lstStyle/>
          <a:p>
            <a:pPr marL="0" indent="0" algn="l">
              <a:lnSpc>
                <a:spcPct val="106000"/>
              </a:lnSpc>
              <a:buNone/>
            </a:pPr>
            <a:r>
              <a:rPr lang="en-US" sz="1500" b="1" dirty="0">
                <a:solidFill>
                  <a:srgbClr val="16212E"/>
                </a:solidFill>
                <a:latin typeface="Calibri" pitchFamily="34" charset="0"/>
                <a:ea typeface="Calibri" pitchFamily="34" charset="-122"/>
                <a:cs typeface="Calibri" pitchFamily="34" charset="-120"/>
              </a:rPr>
              <a:t>Key space is not the interesting part</a:t>
            </a:r>
            <a:endParaRPr lang="en-US" sz="1500" dirty="0"/>
          </a:p>
        </p:txBody>
      </p:sp>
      <p:sp>
        <p:nvSpPr>
          <p:cNvPr id="9" name="Text 7"/>
          <p:cNvSpPr/>
          <p:nvPr/>
        </p:nvSpPr>
        <p:spPr>
          <a:xfrm>
            <a:off x="6419088" y="2121408"/>
            <a:ext cx="4645152" cy="731520"/>
          </a:xfrm>
          <a:prstGeom prst="rect">
            <a:avLst/>
          </a:prstGeom>
          <a:noFill/>
          <a:ln/>
        </p:spPr>
        <p:txBody>
          <a:bodyPr wrap="square" lIns="0" tIns="0" rIns="0" bIns="0" rtlCol="0" anchor="t"/>
          <a:lstStyle/>
          <a:p>
            <a:pPr marL="0" indent="0" algn="l">
              <a:lnSpc>
                <a:spcPct val="115000"/>
              </a:lnSpc>
              <a:buNone/>
            </a:pPr>
            <a:r>
              <a:rPr lang="en-US" sz="1250" dirty="0">
                <a:solidFill>
                  <a:srgbClr val="3D4C5A"/>
                </a:solidFill>
                <a:latin typeface="Calibri" pitchFamily="34" charset="0"/>
                <a:ea typeface="Calibri" pitchFamily="34" charset="-122"/>
                <a:cs typeface="Calibri" pitchFamily="34" charset="-120"/>
              </a:rPr>
              <a:t>2¹²⁸ is already unreachable. Both sizes are beyond brute force and will stay there. Nobody is grinding your AES-128 key.</a:t>
            </a:r>
            <a:endParaRPr lang="en-US" sz="1250" dirty="0"/>
          </a:p>
        </p:txBody>
      </p:sp>
      <p:sp>
        <p:nvSpPr>
          <p:cNvPr id="10" name="Shape 8"/>
          <p:cNvSpPr/>
          <p:nvPr/>
        </p:nvSpPr>
        <p:spPr>
          <a:xfrm>
            <a:off x="566928" y="3145536"/>
            <a:ext cx="5150826" cy="1134740"/>
          </a:xfrm>
          <a:prstGeom prst="roundRect">
            <a:avLst>
              <a:gd name="adj" fmla="val 4000"/>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1" name="Text 9"/>
          <p:cNvSpPr/>
          <p:nvPr/>
        </p:nvSpPr>
        <p:spPr>
          <a:xfrm>
            <a:off x="859536" y="3328416"/>
            <a:ext cx="4645152" cy="310896"/>
          </a:xfrm>
          <a:prstGeom prst="rect">
            <a:avLst/>
          </a:prstGeom>
          <a:noFill/>
          <a:ln/>
        </p:spPr>
        <p:txBody>
          <a:bodyPr wrap="square" lIns="0" tIns="0" rIns="0" bIns="0" rtlCol="0" anchor="t"/>
          <a:lstStyle/>
          <a:p>
            <a:pPr marL="0" indent="0" algn="l">
              <a:lnSpc>
                <a:spcPct val="106000"/>
              </a:lnSpc>
              <a:buNone/>
            </a:pPr>
            <a:r>
              <a:rPr lang="en-US" sz="1500" b="1" dirty="0">
                <a:solidFill>
                  <a:srgbClr val="16212E"/>
                </a:solidFill>
                <a:latin typeface="Calibri" pitchFamily="34" charset="0"/>
                <a:ea typeface="Calibri" pitchFamily="34" charset="-122"/>
                <a:cs typeface="Calibri" pitchFamily="34" charset="-120"/>
              </a:rPr>
              <a:t>Related-key results exist against AES-256</a:t>
            </a:r>
            <a:endParaRPr lang="en-US" sz="1500" dirty="0"/>
          </a:p>
        </p:txBody>
      </p:sp>
      <p:sp>
        <p:nvSpPr>
          <p:cNvPr id="12" name="Text 10"/>
          <p:cNvSpPr/>
          <p:nvPr/>
        </p:nvSpPr>
        <p:spPr>
          <a:xfrm>
            <a:off x="859536" y="3694176"/>
            <a:ext cx="4645152" cy="731520"/>
          </a:xfrm>
          <a:prstGeom prst="rect">
            <a:avLst/>
          </a:prstGeom>
          <a:noFill/>
          <a:ln/>
        </p:spPr>
        <p:txBody>
          <a:bodyPr wrap="square" lIns="0" tIns="0" rIns="0" bIns="0" rtlCol="0" anchor="t"/>
          <a:lstStyle/>
          <a:p>
            <a:pPr marL="0" indent="0" algn="l">
              <a:lnSpc>
                <a:spcPct val="115000"/>
              </a:lnSpc>
              <a:buNone/>
            </a:pPr>
            <a:r>
              <a:rPr lang="en-US" sz="1250" dirty="0">
                <a:solidFill>
                  <a:srgbClr val="3D4C5A"/>
                </a:solidFill>
                <a:latin typeface="Calibri" pitchFamily="34" charset="0"/>
                <a:ea typeface="Calibri" pitchFamily="34" charset="-122"/>
                <a:cs typeface="Calibri" pitchFamily="34" charset="-120"/>
              </a:rPr>
              <a:t>Published in 2009 against its key schedule — but they need related keys, and HKDF hands us an unrelated fresh key every single message.</a:t>
            </a:r>
            <a:endParaRPr lang="en-US" sz="1250" dirty="0"/>
          </a:p>
        </p:txBody>
      </p:sp>
      <p:sp>
        <p:nvSpPr>
          <p:cNvPr id="13" name="Shape 11"/>
          <p:cNvSpPr/>
          <p:nvPr/>
        </p:nvSpPr>
        <p:spPr>
          <a:xfrm>
            <a:off x="6126480" y="3145536"/>
            <a:ext cx="5230368" cy="1134740"/>
          </a:xfrm>
          <a:prstGeom prst="roundRect">
            <a:avLst>
              <a:gd name="adj" fmla="val 4000"/>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4" name="Text 12"/>
          <p:cNvSpPr/>
          <p:nvPr/>
        </p:nvSpPr>
        <p:spPr>
          <a:xfrm>
            <a:off x="6419088" y="3328416"/>
            <a:ext cx="4645152" cy="310896"/>
          </a:xfrm>
          <a:prstGeom prst="rect">
            <a:avLst/>
          </a:prstGeom>
          <a:noFill/>
          <a:ln/>
        </p:spPr>
        <p:txBody>
          <a:bodyPr wrap="square" lIns="0" tIns="0" rIns="0" bIns="0" rtlCol="0" anchor="t"/>
          <a:lstStyle/>
          <a:p>
            <a:pPr marL="0" indent="0" algn="l">
              <a:lnSpc>
                <a:spcPct val="106000"/>
              </a:lnSpc>
              <a:buNone/>
            </a:pPr>
            <a:r>
              <a:rPr lang="en-US" sz="1500" b="1" dirty="0">
                <a:solidFill>
                  <a:srgbClr val="16212E"/>
                </a:solidFill>
                <a:latin typeface="Calibri" pitchFamily="34" charset="0"/>
                <a:ea typeface="Calibri" pitchFamily="34" charset="-122"/>
                <a:cs typeface="Calibri" pitchFamily="34" charset="-120"/>
              </a:rPr>
              <a:t>Compliance settles it</a:t>
            </a:r>
            <a:endParaRPr lang="en-US" sz="1500" dirty="0"/>
          </a:p>
        </p:txBody>
      </p:sp>
      <p:sp>
        <p:nvSpPr>
          <p:cNvPr id="15" name="Text 13"/>
          <p:cNvSpPr/>
          <p:nvPr/>
        </p:nvSpPr>
        <p:spPr>
          <a:xfrm>
            <a:off x="6419088" y="3694176"/>
            <a:ext cx="4645152" cy="731520"/>
          </a:xfrm>
          <a:prstGeom prst="rect">
            <a:avLst/>
          </a:prstGeom>
          <a:noFill/>
          <a:ln/>
        </p:spPr>
        <p:txBody>
          <a:bodyPr wrap="square" lIns="0" tIns="0" rIns="0" bIns="0" rtlCol="0" anchor="t"/>
          <a:lstStyle/>
          <a:p>
            <a:pPr marL="0" indent="0" algn="l">
              <a:lnSpc>
                <a:spcPct val="115000"/>
              </a:lnSpc>
              <a:buNone/>
            </a:pPr>
            <a:r>
              <a:rPr lang="en-US" sz="1250" dirty="0">
                <a:solidFill>
                  <a:srgbClr val="3D4C5A"/>
                </a:solidFill>
                <a:latin typeface="Calibri" pitchFamily="34" charset="0"/>
                <a:ea typeface="Calibri" pitchFamily="34" charset="-122"/>
                <a:cs typeface="Calibri" pitchFamily="34" charset="-120"/>
              </a:rPr>
              <a:t>CNSA 2.0 and most current regimes name AES-256 outright. That is the constraint we are actually working under.</a:t>
            </a:r>
            <a:endParaRPr lang="en-US" sz="1250" dirty="0"/>
          </a:p>
        </p:txBody>
      </p:sp>
      <p:sp>
        <p:nvSpPr>
          <p:cNvPr id="16" name="Shape 14"/>
          <p:cNvSpPr/>
          <p:nvPr/>
        </p:nvSpPr>
        <p:spPr>
          <a:xfrm>
            <a:off x="566928" y="4388236"/>
            <a:ext cx="11057839" cy="1372926"/>
          </a:xfrm>
          <a:prstGeom prst="roundRect">
            <a:avLst>
              <a:gd name="adj" fmla="val 3846"/>
            </a:avLst>
          </a:prstGeom>
          <a:solidFill>
            <a:srgbClr val="FBEEDA"/>
          </a:solidFill>
          <a:ln w="6350">
            <a:solidFill>
              <a:srgbClr val="FBEEDA"/>
            </a:solidFill>
            <a:prstDash val="solid"/>
          </a:ln>
          <a:effectLst>
            <a:outerShdw blurRad="114300" dist="25400" dir="5400000" algn="bl" rotWithShape="0">
              <a:srgbClr val="9FB0BF">
                <a:alpha val="25000"/>
              </a:srgbClr>
            </a:outerShdw>
          </a:effectLst>
        </p:spPr>
        <p:txBody>
          <a:bodyPr/>
          <a:lstStyle/>
          <a:p>
            <a:endParaRPr lang="en-US"/>
          </a:p>
        </p:txBody>
      </p:sp>
      <p:sp>
        <p:nvSpPr>
          <p:cNvPr id="17" name="Shape 15"/>
          <p:cNvSpPr/>
          <p:nvPr/>
        </p:nvSpPr>
        <p:spPr>
          <a:xfrm>
            <a:off x="877824" y="4462272"/>
            <a:ext cx="2331720" cy="329184"/>
          </a:xfrm>
          <a:prstGeom prst="roundRect">
            <a:avLst>
              <a:gd name="adj" fmla="val 138889"/>
            </a:avLst>
          </a:prstGeom>
          <a:solidFill>
            <a:srgbClr val="E8A033"/>
          </a:solidFill>
          <a:ln w="6350">
            <a:solidFill>
              <a:srgbClr val="E8A033"/>
            </a:solidFill>
            <a:prstDash val="solid"/>
          </a:ln>
        </p:spPr>
        <p:txBody>
          <a:bodyPr/>
          <a:lstStyle/>
          <a:p>
            <a:endParaRPr lang="en-US"/>
          </a:p>
        </p:txBody>
      </p:sp>
      <p:sp>
        <p:nvSpPr>
          <p:cNvPr id="18" name="Text 16"/>
          <p:cNvSpPr/>
          <p:nvPr/>
        </p:nvSpPr>
        <p:spPr>
          <a:xfrm>
            <a:off x="877824" y="4462272"/>
            <a:ext cx="2331720" cy="329184"/>
          </a:xfrm>
          <a:prstGeom prst="rect">
            <a:avLst/>
          </a:prstGeom>
          <a:noFill/>
          <a:ln/>
        </p:spPr>
        <p:txBody>
          <a:bodyPr wrap="square" lIns="0" tIns="0" rIns="0" bIns="0" rtlCol="0" anchor="ctr"/>
          <a:lstStyle/>
          <a:p>
            <a:pPr marL="0" indent="0" algn="ctr">
              <a:buNone/>
            </a:pPr>
            <a:r>
              <a:rPr lang="en-US" sz="1050" b="1" kern="0" spc="60" dirty="0">
                <a:solidFill>
                  <a:srgbClr val="0F1721"/>
                </a:solidFill>
                <a:latin typeface="Calibri" pitchFamily="34" charset="0"/>
                <a:ea typeface="Calibri" pitchFamily="34" charset="-122"/>
                <a:cs typeface="Calibri" pitchFamily="34" charset="-120"/>
              </a:rPr>
              <a:t>THE QUANTUM QUESTION</a:t>
            </a:r>
            <a:endParaRPr lang="en-US" sz="1050" dirty="0"/>
          </a:p>
        </p:txBody>
      </p:sp>
      <p:sp>
        <p:nvSpPr>
          <p:cNvPr id="19" name="Text 17"/>
          <p:cNvSpPr/>
          <p:nvPr/>
        </p:nvSpPr>
        <p:spPr>
          <a:xfrm>
            <a:off x="3401568" y="4425696"/>
            <a:ext cx="7857439" cy="1042416"/>
          </a:xfrm>
          <a:prstGeom prst="rect">
            <a:avLst/>
          </a:prstGeom>
          <a:noFill/>
          <a:ln/>
        </p:spPr>
        <p:txBody>
          <a:bodyPr wrap="square" lIns="0" tIns="0" rIns="0" bIns="0" rtlCol="0" anchor="t"/>
          <a:lstStyle/>
          <a:p>
            <a:pPr marL="0" indent="0" algn="l">
              <a:lnSpc>
                <a:spcPct val="116000"/>
              </a:lnSpc>
              <a:buNone/>
            </a:pPr>
            <a:r>
              <a:rPr lang="en-US" sz="1250" dirty="0">
                <a:solidFill>
                  <a:srgbClr val="3D4C5A"/>
                </a:solidFill>
                <a:latin typeface="Calibri" pitchFamily="34" charset="0"/>
                <a:ea typeface="Calibri" pitchFamily="34" charset="-122"/>
                <a:cs typeface="Calibri" pitchFamily="34" charset="-120"/>
              </a:rPr>
              <a:t>Grover’s algorithm gives a quadratic speedup on key search, so AES-256 is often quoted as "128-bit against a quantum attacker". Said honestly: Grover parallelises badly, so the real-world cost sits far above that number, and NIST still considers AES-128 acceptable. AES-256 is a margin decision and a compliance decision — not a rescue. The primitive quantum computers genuinely threaten is public-key crypto, which is TLS’s problem, not ours.</a:t>
            </a:r>
            <a:endParaRPr lang="en-US" sz="1250" dirty="0"/>
          </a:p>
        </p:txBody>
      </p:sp>
      <p:sp>
        <p:nvSpPr>
          <p:cNvPr id="20" name="Text 18"/>
          <p:cNvSpPr/>
          <p:nvPr/>
        </p:nvSpPr>
        <p:spPr>
          <a:xfrm>
            <a:off x="566928" y="5815584"/>
            <a:ext cx="11057839" cy="365760"/>
          </a:xfrm>
          <a:prstGeom prst="rect">
            <a:avLst/>
          </a:prstGeom>
          <a:noFill/>
          <a:ln/>
        </p:spPr>
        <p:txBody>
          <a:bodyPr wrap="square" lIns="0" tIns="0" rIns="0" bIns="0" rtlCol="0" anchor="t"/>
          <a:lstStyle/>
          <a:p>
            <a:pPr marL="0" indent="0" algn="l">
              <a:lnSpc>
                <a:spcPct val="106000"/>
              </a:lnSpc>
              <a:buNone/>
            </a:pPr>
            <a:r>
              <a:rPr lang="en-US" sz="1250" i="1" dirty="0">
                <a:solidFill>
                  <a:srgbClr val="7A8894"/>
                </a:solidFill>
                <a:latin typeface="Calibri" pitchFamily="34" charset="0"/>
                <a:ea typeface="Calibri" pitchFamily="34" charset="-122"/>
                <a:cs typeface="Calibri" pitchFamily="34" charset="-120"/>
              </a:rPr>
              <a:t>Cost of the upgrade: 40% more rounds, which with AES-NI is single-digit percent on payloads this size. Not a factor in the decision.</a:t>
            </a:r>
            <a:endParaRPr lang="en-US" sz="1250" dirty="0"/>
          </a:p>
        </p:txBody>
      </p:sp>
      <p:sp>
        <p:nvSpPr>
          <p:cNvPr id="21" name="Text 19"/>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2 · The implementation</a:t>
            </a:r>
            <a:endParaRPr lang="en-US" sz="950" dirty="0"/>
          </a:p>
        </p:txBody>
      </p:sp>
      <p:sp>
        <p:nvSpPr>
          <p:cNvPr id="22" name="Text 20"/>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KEY DERIVATION</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Why HKDF sits in front of AES</a:t>
            </a:r>
            <a:endParaRPr lang="en-US" sz="3100" dirty="0"/>
          </a:p>
        </p:txBody>
      </p:sp>
      <p:sp>
        <p:nvSpPr>
          <p:cNvPr id="4" name="Text 2"/>
          <p:cNvSpPr/>
          <p:nvPr/>
        </p:nvSpPr>
        <p:spPr>
          <a:xfrm>
            <a:off x="566928" y="1298448"/>
            <a:ext cx="11057839" cy="365760"/>
          </a:xfrm>
          <a:prstGeom prst="rect">
            <a:avLst/>
          </a:prstGeom>
          <a:noFill/>
          <a:ln/>
        </p:spPr>
        <p:txBody>
          <a:bodyPr wrap="square" lIns="0" tIns="0" rIns="0" bIns="0" rtlCol="0" anchor="ctr"/>
          <a:lstStyle/>
          <a:p>
            <a:pPr marL="0" indent="0">
              <a:lnSpc>
                <a:spcPct val="105000"/>
              </a:lnSpc>
              <a:buNone/>
            </a:pPr>
            <a:r>
              <a:rPr lang="en-US" sz="1450" dirty="0">
                <a:solidFill>
                  <a:srgbClr val="7A8894"/>
                </a:solidFill>
                <a:latin typeface="Calibri" pitchFamily="34" charset="0"/>
                <a:ea typeface="Calibri" pitchFamily="34" charset="-122"/>
                <a:cs typeface="Calibri" pitchFamily="34" charset="-120"/>
              </a:rPr>
              <a:t>A key derivation function (KDF) turns one secret into other keys, deterministically. HKDF is the "extract then expand" one — RFC 5869.</a:t>
            </a:r>
            <a:endParaRPr lang="en-US" sz="1450" dirty="0"/>
          </a:p>
        </p:txBody>
      </p:sp>
      <p:sp>
        <p:nvSpPr>
          <p:cNvPr id="5" name="Shape 3"/>
          <p:cNvSpPr/>
          <p:nvPr/>
        </p:nvSpPr>
        <p:spPr>
          <a:xfrm>
            <a:off x="566928" y="1883664"/>
            <a:ext cx="3502152" cy="2212848"/>
          </a:xfrm>
          <a:prstGeom prst="roundRect">
            <a:avLst>
              <a:gd name="adj" fmla="val 2479"/>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6" name="Shape 4"/>
          <p:cNvSpPr/>
          <p:nvPr/>
        </p:nvSpPr>
        <p:spPr>
          <a:xfrm>
            <a:off x="841248" y="2084832"/>
            <a:ext cx="438912" cy="438912"/>
          </a:xfrm>
          <a:prstGeom prst="ellipse">
            <a:avLst/>
          </a:prstGeom>
          <a:solidFill>
            <a:srgbClr val="2C3E50"/>
          </a:solidFill>
          <a:ln w="6350">
            <a:solidFill>
              <a:srgbClr val="2C3E50"/>
            </a:solidFill>
            <a:prstDash val="solid"/>
          </a:ln>
        </p:spPr>
        <p:txBody>
          <a:bodyPr/>
          <a:lstStyle/>
          <a:p>
            <a:endParaRPr lang="en-US"/>
          </a:p>
        </p:txBody>
      </p:sp>
      <p:sp>
        <p:nvSpPr>
          <p:cNvPr id="7" name="Text 5"/>
          <p:cNvSpPr/>
          <p:nvPr/>
        </p:nvSpPr>
        <p:spPr>
          <a:xfrm>
            <a:off x="841248" y="2084832"/>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841248" y="2651760"/>
            <a:ext cx="2953512" cy="640080"/>
          </a:xfrm>
          <a:prstGeom prst="rect">
            <a:avLst/>
          </a:prstGeom>
          <a:noFill/>
          <a:ln/>
        </p:spPr>
        <p:txBody>
          <a:bodyPr wrap="square" lIns="0" tIns="0" rIns="0" bIns="0" rtlCol="0" anchor="t"/>
          <a:lstStyle/>
          <a:p>
            <a:pPr marL="0" indent="0" algn="l">
              <a:lnSpc>
                <a:spcPct val="108000"/>
              </a:lnSpc>
              <a:buNone/>
            </a:pPr>
            <a:r>
              <a:rPr lang="en-US" sz="1450" b="1" dirty="0">
                <a:solidFill>
                  <a:srgbClr val="16212E"/>
                </a:solidFill>
                <a:latin typeface="Calibri" pitchFamily="34" charset="0"/>
                <a:ea typeface="Calibri" pitchFamily="34" charset="-122"/>
                <a:cs typeface="Calibri" pitchFamily="34" charset="-120"/>
              </a:rPr>
              <a:t>Never use a vault secret directly as an AES key</a:t>
            </a:r>
            <a:endParaRPr lang="en-US" sz="1450" dirty="0"/>
          </a:p>
        </p:txBody>
      </p:sp>
      <p:sp>
        <p:nvSpPr>
          <p:cNvPr id="9" name="Text 7"/>
          <p:cNvSpPr/>
          <p:nvPr/>
        </p:nvSpPr>
        <p:spPr>
          <a:xfrm>
            <a:off x="841248" y="3328416"/>
            <a:ext cx="2953512" cy="685800"/>
          </a:xfrm>
          <a:prstGeom prst="rect">
            <a:avLst/>
          </a:prstGeom>
          <a:noFill/>
          <a:ln/>
        </p:spPr>
        <p:txBody>
          <a:bodyPr wrap="square" lIns="0" tIns="0" rIns="0" bIns="0" rtlCol="0" anchor="t"/>
          <a:lstStyle/>
          <a:p>
            <a:pPr marL="0" indent="0" algn="l">
              <a:lnSpc>
                <a:spcPct val="114000"/>
              </a:lnSpc>
              <a:buNone/>
            </a:pPr>
            <a:r>
              <a:rPr lang="en-US" sz="1200" dirty="0">
                <a:solidFill>
                  <a:srgbClr val="3D4C5A"/>
                </a:solidFill>
                <a:latin typeface="Calibri" pitchFamily="34" charset="0"/>
                <a:ea typeface="Calibri" pitchFamily="34" charset="-122"/>
                <a:cs typeface="Calibri" pitchFamily="34" charset="-120"/>
              </a:rPr>
              <a:t>One key, used forever, for everything, means one compromise loses everything ever encrypted. Derivation gives us blast-radius control for free.</a:t>
            </a:r>
            <a:endParaRPr lang="en-US" sz="1200" dirty="0"/>
          </a:p>
        </p:txBody>
      </p:sp>
      <p:sp>
        <p:nvSpPr>
          <p:cNvPr id="10" name="Shape 8"/>
          <p:cNvSpPr/>
          <p:nvPr/>
        </p:nvSpPr>
        <p:spPr>
          <a:xfrm>
            <a:off x="4361688" y="1883664"/>
            <a:ext cx="3502152" cy="2212848"/>
          </a:xfrm>
          <a:prstGeom prst="roundRect">
            <a:avLst>
              <a:gd name="adj" fmla="val 2479"/>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1" name="Shape 9"/>
          <p:cNvSpPr/>
          <p:nvPr/>
        </p:nvSpPr>
        <p:spPr>
          <a:xfrm>
            <a:off x="4636008" y="2084832"/>
            <a:ext cx="438912" cy="438912"/>
          </a:xfrm>
          <a:prstGeom prst="ellipse">
            <a:avLst/>
          </a:prstGeom>
          <a:solidFill>
            <a:srgbClr val="2C3E50"/>
          </a:solidFill>
          <a:ln w="6350">
            <a:solidFill>
              <a:srgbClr val="2C3E50"/>
            </a:solidFill>
            <a:prstDash val="solid"/>
          </a:ln>
        </p:spPr>
        <p:txBody>
          <a:bodyPr/>
          <a:lstStyle/>
          <a:p>
            <a:endParaRPr lang="en-US"/>
          </a:p>
        </p:txBody>
      </p:sp>
      <p:sp>
        <p:nvSpPr>
          <p:cNvPr id="12" name="Text 10"/>
          <p:cNvSpPr/>
          <p:nvPr/>
        </p:nvSpPr>
        <p:spPr>
          <a:xfrm>
            <a:off x="4636008" y="2084832"/>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4636008" y="2651760"/>
            <a:ext cx="2953512" cy="640080"/>
          </a:xfrm>
          <a:prstGeom prst="rect">
            <a:avLst/>
          </a:prstGeom>
          <a:noFill/>
          <a:ln/>
        </p:spPr>
        <p:txBody>
          <a:bodyPr wrap="square" lIns="0" tIns="0" rIns="0" bIns="0" rtlCol="0" anchor="t"/>
          <a:lstStyle/>
          <a:p>
            <a:pPr marL="0" indent="0" algn="l">
              <a:lnSpc>
                <a:spcPct val="108000"/>
              </a:lnSpc>
              <a:buNone/>
            </a:pPr>
            <a:r>
              <a:rPr lang="en-US" sz="1450" b="1" dirty="0">
                <a:solidFill>
                  <a:srgbClr val="16212E"/>
                </a:solidFill>
                <a:latin typeface="Calibri" pitchFamily="34" charset="0"/>
                <a:ea typeface="Calibri" pitchFamily="34" charset="-122"/>
                <a:cs typeface="Calibri" pitchFamily="34" charset="-120"/>
              </a:rPr>
              <a:t>A fresh salt means a fresh key per message</a:t>
            </a:r>
            <a:endParaRPr lang="en-US" sz="1450" dirty="0"/>
          </a:p>
        </p:txBody>
      </p:sp>
      <p:sp>
        <p:nvSpPr>
          <p:cNvPr id="14" name="Text 12"/>
          <p:cNvSpPr/>
          <p:nvPr/>
        </p:nvSpPr>
        <p:spPr>
          <a:xfrm>
            <a:off x="4636008" y="3328416"/>
            <a:ext cx="2953512" cy="685800"/>
          </a:xfrm>
          <a:prstGeom prst="rect">
            <a:avLst/>
          </a:prstGeom>
          <a:noFill/>
          <a:ln/>
        </p:spPr>
        <p:txBody>
          <a:bodyPr wrap="square" lIns="0" tIns="0" rIns="0" bIns="0" rtlCol="0" anchor="t"/>
          <a:lstStyle/>
          <a:p>
            <a:pPr marL="0" indent="0" algn="l">
              <a:lnSpc>
                <a:spcPct val="114000"/>
              </a:lnSpc>
              <a:buNone/>
            </a:pPr>
            <a:r>
              <a:rPr lang="en-US" sz="1200" dirty="0">
                <a:solidFill>
                  <a:srgbClr val="3D4C5A"/>
                </a:solidFill>
                <a:latin typeface="Calibri" pitchFamily="34" charset="0"/>
                <a:ea typeface="Calibri" pitchFamily="34" charset="-122"/>
                <a:cs typeface="Calibri" pitchFamily="34" charset="-120"/>
              </a:rPr>
              <a:t>Every payload gets its own 32-byte key. This is what buys us enormous headroom on nonce reuse — see the hardening section.</a:t>
            </a:r>
            <a:endParaRPr lang="en-US" sz="1200" dirty="0"/>
          </a:p>
        </p:txBody>
      </p:sp>
      <p:sp>
        <p:nvSpPr>
          <p:cNvPr id="15" name="Shape 13"/>
          <p:cNvSpPr/>
          <p:nvPr/>
        </p:nvSpPr>
        <p:spPr>
          <a:xfrm>
            <a:off x="8156448" y="1883664"/>
            <a:ext cx="3502152" cy="2212848"/>
          </a:xfrm>
          <a:prstGeom prst="roundRect">
            <a:avLst>
              <a:gd name="adj" fmla="val 2479"/>
            </a:avLst>
          </a:prstGeom>
          <a:solidFill>
            <a:srgbClr val="FBEEDA"/>
          </a:solidFill>
          <a:ln w="6350">
            <a:solidFill>
              <a:srgbClr val="FBEEDA"/>
            </a:solidFill>
            <a:prstDash val="solid"/>
          </a:ln>
          <a:effectLst>
            <a:outerShdw blurRad="114300" dist="25400" dir="5400000" algn="bl" rotWithShape="0">
              <a:srgbClr val="9FB0BF">
                <a:alpha val="25000"/>
              </a:srgbClr>
            </a:outerShdw>
          </a:effectLst>
        </p:spPr>
        <p:txBody>
          <a:bodyPr/>
          <a:lstStyle/>
          <a:p>
            <a:endParaRPr lang="en-US"/>
          </a:p>
        </p:txBody>
      </p:sp>
      <p:sp>
        <p:nvSpPr>
          <p:cNvPr id="16" name="Shape 14"/>
          <p:cNvSpPr/>
          <p:nvPr/>
        </p:nvSpPr>
        <p:spPr>
          <a:xfrm>
            <a:off x="8430768" y="2084832"/>
            <a:ext cx="438912" cy="438912"/>
          </a:xfrm>
          <a:prstGeom prst="ellipse">
            <a:avLst/>
          </a:prstGeom>
          <a:solidFill>
            <a:srgbClr val="E8A033"/>
          </a:solidFill>
          <a:ln w="6350">
            <a:solidFill>
              <a:srgbClr val="E8A033"/>
            </a:solidFill>
            <a:prstDash val="solid"/>
          </a:ln>
        </p:spPr>
        <p:txBody>
          <a:bodyPr/>
          <a:lstStyle/>
          <a:p>
            <a:endParaRPr lang="en-US"/>
          </a:p>
        </p:txBody>
      </p:sp>
      <p:sp>
        <p:nvSpPr>
          <p:cNvPr id="17" name="Text 15"/>
          <p:cNvSpPr/>
          <p:nvPr/>
        </p:nvSpPr>
        <p:spPr>
          <a:xfrm>
            <a:off x="8430768" y="2084832"/>
            <a:ext cx="438912" cy="438912"/>
          </a:xfrm>
          <a:prstGeom prst="rect">
            <a:avLst/>
          </a:prstGeom>
          <a:noFill/>
          <a:ln/>
        </p:spPr>
        <p:txBody>
          <a:bodyPr wrap="square" lIns="0" tIns="0" rIns="0" bIns="0" rtlCol="0" anchor="ctr"/>
          <a:lstStyle/>
          <a:p>
            <a:pPr marL="0" indent="0" algn="ctr">
              <a:buNone/>
            </a:pPr>
            <a:r>
              <a:rPr lang="en-US" sz="1500" b="1" dirty="0">
                <a:solidFill>
                  <a:srgbClr val="0F1721"/>
                </a:solidFill>
                <a:latin typeface="Cambria" pitchFamily="34" charset="0"/>
                <a:ea typeface="Cambria" pitchFamily="34" charset="-122"/>
                <a:cs typeface="Cambria" pitchFamily="34" charset="-120"/>
              </a:rPr>
              <a:t>3</a:t>
            </a:r>
            <a:endParaRPr lang="en-US" sz="1500" dirty="0"/>
          </a:p>
        </p:txBody>
      </p:sp>
      <p:sp>
        <p:nvSpPr>
          <p:cNvPr id="18" name="Text 16"/>
          <p:cNvSpPr/>
          <p:nvPr/>
        </p:nvSpPr>
        <p:spPr>
          <a:xfrm>
            <a:off x="8430768" y="2651760"/>
            <a:ext cx="2953512" cy="640080"/>
          </a:xfrm>
          <a:prstGeom prst="rect">
            <a:avLst/>
          </a:prstGeom>
          <a:noFill/>
          <a:ln/>
        </p:spPr>
        <p:txBody>
          <a:bodyPr wrap="square" lIns="0" tIns="0" rIns="0" bIns="0" rtlCol="0" anchor="t"/>
          <a:lstStyle/>
          <a:p>
            <a:pPr marL="0" indent="0" algn="l">
              <a:lnSpc>
                <a:spcPct val="108000"/>
              </a:lnSpc>
              <a:buNone/>
            </a:pPr>
            <a:r>
              <a:rPr lang="en-US" sz="1450" b="1" dirty="0">
                <a:solidFill>
                  <a:srgbClr val="16212E"/>
                </a:solidFill>
                <a:latin typeface="Calibri" pitchFamily="34" charset="0"/>
                <a:ea typeface="Calibri" pitchFamily="34" charset="-122"/>
                <a:cs typeface="Calibri" pitchFamily="34" charset="-120"/>
              </a:rPr>
              <a:t>The info string is domain separation</a:t>
            </a:r>
            <a:endParaRPr lang="en-US" sz="1450" dirty="0"/>
          </a:p>
        </p:txBody>
      </p:sp>
      <p:sp>
        <p:nvSpPr>
          <p:cNvPr id="19" name="Text 17"/>
          <p:cNvSpPr/>
          <p:nvPr/>
        </p:nvSpPr>
        <p:spPr>
          <a:xfrm>
            <a:off x="8430768" y="3328416"/>
            <a:ext cx="2953512" cy="685800"/>
          </a:xfrm>
          <a:prstGeom prst="rect">
            <a:avLst/>
          </a:prstGeom>
          <a:noFill/>
          <a:ln/>
        </p:spPr>
        <p:txBody>
          <a:bodyPr wrap="square" lIns="0" tIns="0" rIns="0" bIns="0" rtlCol="0" anchor="t"/>
          <a:lstStyle/>
          <a:p>
            <a:pPr marL="0" indent="0" algn="l">
              <a:lnSpc>
                <a:spcPct val="114000"/>
              </a:lnSpc>
              <a:buNone/>
            </a:pPr>
            <a:r>
              <a:rPr lang="en-US" sz="1200" dirty="0">
                <a:solidFill>
                  <a:srgbClr val="3D4C5A"/>
                </a:solidFill>
                <a:latin typeface="Calibri" pitchFamily="34" charset="0"/>
                <a:ea typeface="Calibri" pitchFamily="34" charset="-122"/>
                <a:cs typeface="Calibri" pitchFamily="34" charset="-120"/>
              </a:rPr>
              <a:t>Ours is CBOM-AES-256-GCM-SHA384. Same master secret, different info string, completely unrelated key — so a token key can never accidentally open a payload.</a:t>
            </a:r>
            <a:endParaRPr lang="en-US" sz="1200" dirty="0"/>
          </a:p>
        </p:txBody>
      </p:sp>
      <p:sp>
        <p:nvSpPr>
          <p:cNvPr id="20" name="Shape 18"/>
          <p:cNvSpPr/>
          <p:nvPr/>
        </p:nvSpPr>
        <p:spPr>
          <a:xfrm>
            <a:off x="566928" y="4297680"/>
            <a:ext cx="11057839" cy="932688"/>
          </a:xfrm>
          <a:prstGeom prst="roundRect">
            <a:avLst>
              <a:gd name="adj" fmla="val 5882"/>
            </a:avLst>
          </a:prstGeom>
          <a:solidFill>
            <a:srgbClr val="0F1721"/>
          </a:solidFill>
          <a:ln w="6350">
            <a:solidFill>
              <a:srgbClr val="0F1721"/>
            </a:solidFill>
            <a:prstDash val="solid"/>
          </a:ln>
        </p:spPr>
        <p:txBody>
          <a:bodyPr/>
          <a:lstStyle/>
          <a:p>
            <a:endParaRPr lang="en-US"/>
          </a:p>
        </p:txBody>
      </p:sp>
      <p:sp>
        <p:nvSpPr>
          <p:cNvPr id="21" name="Text 19"/>
          <p:cNvSpPr/>
          <p:nvPr/>
        </p:nvSpPr>
        <p:spPr>
          <a:xfrm>
            <a:off x="950976" y="4572000"/>
            <a:ext cx="10234879" cy="384048"/>
          </a:xfrm>
          <a:prstGeom prst="rect">
            <a:avLst/>
          </a:prstGeom>
          <a:noFill/>
          <a:ln/>
        </p:spPr>
        <p:txBody>
          <a:bodyPr wrap="square" lIns="0" tIns="0" rIns="0" bIns="0" rtlCol="0" anchor="t"/>
          <a:lstStyle/>
          <a:p>
            <a:pPr marL="0" indent="0" algn="l">
              <a:lnSpc>
                <a:spcPct val="106000"/>
              </a:lnSpc>
              <a:buNone/>
            </a:pPr>
            <a:r>
              <a:rPr lang="en-US" sz="1500" b="1" dirty="0">
                <a:solidFill>
                  <a:srgbClr val="E8A033"/>
                </a:solidFill>
                <a:latin typeface="Courier New" pitchFamily="34" charset="0"/>
                <a:ea typeface="Courier New" pitchFamily="34" charset="-122"/>
                <a:cs typeface="Courier New" pitchFamily="34" charset="-120"/>
              </a:rPr>
              <a:t>key = HKDF-SHA384( keyMaterial, salt, info = "CBOM-AES-256-GCM-SHA384", 32 )</a:t>
            </a:r>
            <a:endParaRPr lang="en-US" sz="1500" dirty="0"/>
          </a:p>
        </p:txBody>
      </p:sp>
      <p:sp>
        <p:nvSpPr>
          <p:cNvPr id="22" name="Text 20"/>
          <p:cNvSpPr/>
          <p:nvPr/>
        </p:nvSpPr>
        <p:spPr>
          <a:xfrm>
            <a:off x="950976" y="4901184"/>
            <a:ext cx="10234879" cy="274320"/>
          </a:xfrm>
          <a:prstGeom prst="rect">
            <a:avLst/>
          </a:prstGeom>
          <a:noFill/>
          <a:ln/>
        </p:spPr>
        <p:txBody>
          <a:bodyPr wrap="square" lIns="0" tIns="0" rIns="0" bIns="0" rtlCol="0" anchor="t"/>
          <a:lstStyle/>
          <a:p>
            <a:pPr marL="0" indent="0" algn="l">
              <a:lnSpc>
                <a:spcPct val="106000"/>
              </a:lnSpc>
              <a:buNone/>
            </a:pPr>
            <a:r>
              <a:rPr lang="en-US" sz="1150" dirty="0">
                <a:solidFill>
                  <a:srgbClr val="8FA3B5"/>
                </a:solidFill>
                <a:latin typeface="Calibri" pitchFamily="34" charset="0"/>
                <a:ea typeface="Calibri" pitchFamily="34" charset="-122"/>
                <a:cs typeface="Calibri" pitchFamily="34" charset="-120"/>
              </a:rPr>
              <a:t>Every runtime must produce byte-identical output from this line. That is the whole interoperability contract.</a:t>
            </a:r>
            <a:endParaRPr lang="en-US" sz="1150" dirty="0"/>
          </a:p>
        </p:txBody>
      </p:sp>
      <p:sp>
        <p:nvSpPr>
          <p:cNvPr id="23" name="Shape 21"/>
          <p:cNvSpPr/>
          <p:nvPr/>
        </p:nvSpPr>
        <p:spPr>
          <a:xfrm>
            <a:off x="566928" y="5431536"/>
            <a:ext cx="11057839" cy="694944"/>
          </a:xfrm>
          <a:prstGeom prst="roundRect">
            <a:avLst>
              <a:gd name="adj" fmla="val 7895"/>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24" name="Text 22"/>
          <p:cNvSpPr/>
          <p:nvPr/>
        </p:nvSpPr>
        <p:spPr>
          <a:xfrm>
            <a:off x="932688" y="5614416"/>
            <a:ext cx="1051560" cy="274320"/>
          </a:xfrm>
          <a:prstGeom prst="rect">
            <a:avLst/>
          </a:prstGeom>
          <a:noFill/>
          <a:ln/>
        </p:spPr>
        <p:txBody>
          <a:bodyPr wrap="square" lIns="0" tIns="0" rIns="0" bIns="0" rtlCol="0" anchor="t"/>
          <a:lstStyle/>
          <a:p>
            <a:pPr marL="0" indent="0" algn="l">
              <a:lnSpc>
                <a:spcPct val="106000"/>
              </a:lnSpc>
              <a:buNone/>
            </a:pPr>
            <a:r>
              <a:rPr lang="en-US" sz="1300" b="1" dirty="0">
                <a:solidFill>
                  <a:srgbClr val="D0524E"/>
                </a:solidFill>
                <a:latin typeface="Calibri" pitchFamily="34" charset="0"/>
                <a:ea typeface="Calibri" pitchFamily="34" charset="-122"/>
                <a:cs typeface="Calibri" pitchFamily="34" charset="-120"/>
              </a:rPr>
              <a:t>One catch:</a:t>
            </a:r>
            <a:endParaRPr lang="en-US" sz="1300" dirty="0"/>
          </a:p>
        </p:txBody>
      </p:sp>
      <p:sp>
        <p:nvSpPr>
          <p:cNvPr id="25" name="Text 23"/>
          <p:cNvSpPr/>
          <p:nvPr/>
        </p:nvSpPr>
        <p:spPr>
          <a:xfrm>
            <a:off x="2029968" y="5614416"/>
            <a:ext cx="9229039" cy="329184"/>
          </a:xfrm>
          <a:prstGeom prst="rect">
            <a:avLst/>
          </a:prstGeom>
          <a:noFill/>
          <a:ln/>
        </p:spPr>
        <p:txBody>
          <a:bodyPr wrap="square" lIns="0" tIns="0" rIns="0" bIns="0" rtlCol="0" anchor="t"/>
          <a:lstStyle/>
          <a:p>
            <a:pPr marL="0" indent="0" algn="l">
              <a:lnSpc>
                <a:spcPct val="106000"/>
              </a:lnSpc>
              <a:buNone/>
            </a:pPr>
            <a:r>
              <a:rPr lang="en-US" sz="1300" dirty="0">
                <a:solidFill>
                  <a:srgbClr val="3D4C5A"/>
                </a:solidFill>
                <a:latin typeface="Calibri" pitchFamily="34" charset="0"/>
                <a:ea typeface="Calibri" pitchFamily="34" charset="-122"/>
                <a:cs typeface="Calibri" pitchFamily="34" charset="-120"/>
              </a:rPr>
              <a:t>HKDF is fast on purpose. That is exactly right for a random vault secret — and exactly wrong for a human-chosen password. Next slide.</a:t>
            </a:r>
            <a:endParaRPr lang="en-US" sz="1300" dirty="0"/>
          </a:p>
        </p:txBody>
      </p:sp>
      <p:sp>
        <p:nvSpPr>
          <p:cNvPr id="26" name="Text 24"/>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2 · The implementation</a:t>
            </a:r>
            <a:endParaRPr lang="en-US" sz="950" dirty="0"/>
          </a:p>
        </p:txBody>
      </p:sp>
      <p:sp>
        <p:nvSpPr>
          <p:cNvPr id="27" name="Text 25"/>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CHOOSING A KDF</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HKDF vs PBKDF2 vs Argon2id</a:t>
            </a:r>
            <a:endParaRPr lang="en-US" sz="3100" dirty="0"/>
          </a:p>
        </p:txBody>
      </p:sp>
      <p:sp>
        <p:nvSpPr>
          <p:cNvPr id="4" name="Shape 2"/>
          <p:cNvSpPr/>
          <p:nvPr/>
        </p:nvSpPr>
        <p:spPr>
          <a:xfrm>
            <a:off x="566928" y="1554480"/>
            <a:ext cx="3502152" cy="2999232"/>
          </a:xfrm>
          <a:prstGeom prst="roundRect">
            <a:avLst>
              <a:gd name="adj" fmla="val 1829"/>
            </a:avLst>
          </a:prstGeom>
          <a:solidFill>
            <a:srgbClr val="FBEEDA"/>
          </a:solidFill>
          <a:ln w="6350">
            <a:solidFill>
              <a:srgbClr val="FBEEDA"/>
            </a:solidFill>
            <a:prstDash val="solid"/>
          </a:ln>
          <a:effectLst>
            <a:outerShdw blurRad="114300" dist="25400" dir="5400000" algn="bl" rotWithShape="0">
              <a:srgbClr val="9FB0BF">
                <a:alpha val="25000"/>
              </a:srgbClr>
            </a:outerShdw>
          </a:effectLst>
        </p:spPr>
        <p:txBody>
          <a:bodyPr/>
          <a:lstStyle/>
          <a:p>
            <a:endParaRPr lang="en-US"/>
          </a:p>
        </p:txBody>
      </p:sp>
      <p:sp>
        <p:nvSpPr>
          <p:cNvPr id="5" name="Text 3"/>
          <p:cNvSpPr/>
          <p:nvPr/>
        </p:nvSpPr>
        <p:spPr>
          <a:xfrm>
            <a:off x="841248" y="1755648"/>
            <a:ext cx="2953512" cy="347472"/>
          </a:xfrm>
          <a:prstGeom prst="rect">
            <a:avLst/>
          </a:prstGeom>
          <a:noFill/>
          <a:ln/>
        </p:spPr>
        <p:txBody>
          <a:bodyPr wrap="square" lIns="0" tIns="0" rIns="0" bIns="0" rtlCol="0" anchor="t"/>
          <a:lstStyle/>
          <a:p>
            <a:pPr marL="0" indent="0" algn="l">
              <a:lnSpc>
                <a:spcPct val="106000"/>
              </a:lnSpc>
              <a:buNone/>
            </a:pPr>
            <a:r>
              <a:rPr lang="en-US" sz="1900" b="1" dirty="0">
                <a:solidFill>
                  <a:srgbClr val="16212E"/>
                </a:solidFill>
                <a:latin typeface="Calibri" pitchFamily="34" charset="0"/>
                <a:ea typeface="Calibri" pitchFamily="34" charset="-122"/>
                <a:cs typeface="Calibri" pitchFamily="34" charset="-120"/>
              </a:rPr>
              <a:t>HKDF-SHA384</a:t>
            </a:r>
            <a:endParaRPr lang="en-US" sz="1900" dirty="0"/>
          </a:p>
        </p:txBody>
      </p:sp>
      <p:sp>
        <p:nvSpPr>
          <p:cNvPr id="6" name="Shape 4"/>
          <p:cNvSpPr/>
          <p:nvPr/>
        </p:nvSpPr>
        <p:spPr>
          <a:xfrm>
            <a:off x="841248" y="2157984"/>
            <a:ext cx="1600200" cy="292608"/>
          </a:xfrm>
          <a:prstGeom prst="roundRect">
            <a:avLst>
              <a:gd name="adj" fmla="val 156250"/>
            </a:avLst>
          </a:prstGeom>
          <a:solidFill>
            <a:srgbClr val="E8A033"/>
          </a:solidFill>
          <a:ln w="6350">
            <a:solidFill>
              <a:srgbClr val="E8A033"/>
            </a:solidFill>
            <a:prstDash val="solid"/>
          </a:ln>
        </p:spPr>
        <p:txBody>
          <a:bodyPr/>
          <a:lstStyle/>
          <a:p>
            <a:endParaRPr lang="en-US"/>
          </a:p>
        </p:txBody>
      </p:sp>
      <p:sp>
        <p:nvSpPr>
          <p:cNvPr id="7" name="Text 5"/>
          <p:cNvSpPr/>
          <p:nvPr/>
        </p:nvSpPr>
        <p:spPr>
          <a:xfrm>
            <a:off x="841248" y="2157984"/>
            <a:ext cx="1600200" cy="292608"/>
          </a:xfrm>
          <a:prstGeom prst="rect">
            <a:avLst/>
          </a:prstGeom>
          <a:noFill/>
          <a:ln/>
        </p:spPr>
        <p:txBody>
          <a:bodyPr wrap="square" lIns="0" tIns="0" rIns="0" bIns="0" rtlCol="0" anchor="ctr"/>
          <a:lstStyle/>
          <a:p>
            <a:pPr marL="0" indent="0" algn="ctr">
              <a:buNone/>
            </a:pPr>
            <a:r>
              <a:rPr lang="en-US" sz="1050" b="1" kern="0" spc="60" dirty="0">
                <a:solidFill>
                  <a:srgbClr val="0F1721"/>
                </a:solidFill>
                <a:latin typeface="Calibri" pitchFamily="34" charset="0"/>
                <a:ea typeface="Calibri" pitchFamily="34" charset="-122"/>
                <a:cs typeface="Calibri" pitchFamily="34" charset="-120"/>
              </a:rPr>
              <a:t>OUR CASE</a:t>
            </a:r>
            <a:endParaRPr lang="en-US" sz="1050" dirty="0"/>
          </a:p>
        </p:txBody>
      </p:sp>
      <p:sp>
        <p:nvSpPr>
          <p:cNvPr id="8" name="Text 6"/>
          <p:cNvSpPr/>
          <p:nvPr/>
        </p:nvSpPr>
        <p:spPr>
          <a:xfrm>
            <a:off x="841248" y="2615184"/>
            <a:ext cx="2953512" cy="219456"/>
          </a:xfrm>
          <a:prstGeom prst="rect">
            <a:avLst/>
          </a:prstGeom>
          <a:noFill/>
          <a:ln/>
        </p:spPr>
        <p:txBody>
          <a:bodyPr wrap="square" lIns="0" tIns="0" rIns="0" bIns="0" rtlCol="0" anchor="t"/>
          <a:lstStyle/>
          <a:p>
            <a:pPr marL="0" indent="0" algn="l">
              <a:lnSpc>
                <a:spcPct val="106000"/>
              </a:lnSpc>
              <a:buNone/>
            </a:pPr>
            <a:r>
              <a:rPr lang="en-US" sz="1000" b="1" dirty="0">
                <a:solidFill>
                  <a:srgbClr val="7A8894"/>
                </a:solidFill>
                <a:latin typeface="Calibri" pitchFamily="34" charset="0"/>
                <a:ea typeface="Calibri" pitchFamily="34" charset="-122"/>
                <a:cs typeface="Calibri" pitchFamily="34" charset="-120"/>
              </a:rPr>
              <a:t>Input it expects</a:t>
            </a:r>
            <a:endParaRPr lang="en-US" sz="1000" dirty="0"/>
          </a:p>
        </p:txBody>
      </p:sp>
      <p:sp>
        <p:nvSpPr>
          <p:cNvPr id="9" name="Text 7"/>
          <p:cNvSpPr/>
          <p:nvPr/>
        </p:nvSpPr>
        <p:spPr>
          <a:xfrm>
            <a:off x="841248" y="2834640"/>
            <a:ext cx="2953512" cy="420624"/>
          </a:xfrm>
          <a:prstGeom prst="rect">
            <a:avLst/>
          </a:prstGeom>
          <a:noFill/>
          <a:ln/>
        </p:spPr>
        <p:txBody>
          <a:bodyPr wrap="square" lIns="0" tIns="0" rIns="0" bIns="0" rtlCol="0" anchor="t"/>
          <a:lstStyle/>
          <a:p>
            <a:pPr marL="0" indent="0" algn="l">
              <a:lnSpc>
                <a:spcPct val="110000"/>
              </a:lnSpc>
              <a:buNone/>
            </a:pPr>
            <a:r>
              <a:rPr lang="en-US" sz="1200" dirty="0">
                <a:solidFill>
                  <a:srgbClr val="3D4C5A"/>
                </a:solidFill>
                <a:latin typeface="Calibri" pitchFamily="34" charset="0"/>
                <a:ea typeface="Calibri" pitchFamily="34" charset="-122"/>
                <a:cs typeface="Calibri" pitchFamily="34" charset="-120"/>
              </a:rPr>
              <a:t>High-entropy random bytes — a machine-generated vault secret</a:t>
            </a:r>
            <a:endParaRPr lang="en-US" sz="1200" dirty="0"/>
          </a:p>
        </p:txBody>
      </p:sp>
      <p:sp>
        <p:nvSpPr>
          <p:cNvPr id="10" name="Text 8"/>
          <p:cNvSpPr/>
          <p:nvPr/>
        </p:nvSpPr>
        <p:spPr>
          <a:xfrm>
            <a:off x="841248" y="3273552"/>
            <a:ext cx="2953512" cy="219456"/>
          </a:xfrm>
          <a:prstGeom prst="rect">
            <a:avLst/>
          </a:prstGeom>
          <a:noFill/>
          <a:ln/>
        </p:spPr>
        <p:txBody>
          <a:bodyPr wrap="square" lIns="0" tIns="0" rIns="0" bIns="0" rtlCol="0" anchor="t"/>
          <a:lstStyle/>
          <a:p>
            <a:pPr marL="0" indent="0" algn="l">
              <a:lnSpc>
                <a:spcPct val="106000"/>
              </a:lnSpc>
              <a:buNone/>
            </a:pPr>
            <a:r>
              <a:rPr lang="en-US" sz="1000" b="1" dirty="0">
                <a:solidFill>
                  <a:srgbClr val="7A8894"/>
                </a:solidFill>
                <a:latin typeface="Calibri" pitchFamily="34" charset="0"/>
                <a:ea typeface="Calibri" pitchFamily="34" charset="-122"/>
                <a:cs typeface="Calibri" pitchFamily="34" charset="-120"/>
              </a:rPr>
              <a:t>Speed</a:t>
            </a:r>
            <a:endParaRPr lang="en-US" sz="1000" dirty="0"/>
          </a:p>
        </p:txBody>
      </p:sp>
      <p:sp>
        <p:nvSpPr>
          <p:cNvPr id="11" name="Text 9"/>
          <p:cNvSpPr/>
          <p:nvPr/>
        </p:nvSpPr>
        <p:spPr>
          <a:xfrm>
            <a:off x="841248" y="3493008"/>
            <a:ext cx="2953512" cy="420624"/>
          </a:xfrm>
          <a:prstGeom prst="rect">
            <a:avLst/>
          </a:prstGeom>
          <a:noFill/>
          <a:ln/>
        </p:spPr>
        <p:txBody>
          <a:bodyPr wrap="square" lIns="0" tIns="0" rIns="0" bIns="0" rtlCol="0" anchor="t"/>
          <a:lstStyle/>
          <a:p>
            <a:pPr marL="0" indent="0" algn="l">
              <a:lnSpc>
                <a:spcPct val="110000"/>
              </a:lnSpc>
              <a:buNone/>
            </a:pPr>
            <a:r>
              <a:rPr lang="en-US" sz="1200" dirty="0">
                <a:solidFill>
                  <a:srgbClr val="3D4C5A"/>
                </a:solidFill>
                <a:latin typeface="Calibri" pitchFamily="34" charset="0"/>
                <a:ea typeface="Calibri" pitchFamily="34" charset="-122"/>
                <a:cs typeface="Calibri" pitchFamily="34" charset="-120"/>
              </a:rPr>
              <a:t>Microseconds. Fast on purpose.</a:t>
            </a:r>
            <a:endParaRPr lang="en-US" sz="1200" dirty="0"/>
          </a:p>
        </p:txBody>
      </p:sp>
      <p:sp>
        <p:nvSpPr>
          <p:cNvPr id="12" name="Text 10"/>
          <p:cNvSpPr/>
          <p:nvPr/>
        </p:nvSpPr>
        <p:spPr>
          <a:xfrm>
            <a:off x="841248" y="3931920"/>
            <a:ext cx="2953512" cy="219456"/>
          </a:xfrm>
          <a:prstGeom prst="rect">
            <a:avLst/>
          </a:prstGeom>
          <a:noFill/>
          <a:ln/>
        </p:spPr>
        <p:txBody>
          <a:bodyPr wrap="square" lIns="0" tIns="0" rIns="0" bIns="0" rtlCol="0" anchor="t"/>
          <a:lstStyle/>
          <a:p>
            <a:pPr marL="0" indent="0" algn="l">
              <a:lnSpc>
                <a:spcPct val="106000"/>
              </a:lnSpc>
              <a:buNone/>
            </a:pPr>
            <a:r>
              <a:rPr lang="en-US" sz="1000" b="1" dirty="0">
                <a:solidFill>
                  <a:srgbClr val="7A8894"/>
                </a:solidFill>
                <a:latin typeface="Calibri" pitchFamily="34" charset="0"/>
                <a:ea typeface="Calibri" pitchFamily="34" charset="-122"/>
                <a:cs typeface="Calibri" pitchFamily="34" charset="-120"/>
              </a:rPr>
              <a:t>Use it for</a:t>
            </a:r>
            <a:endParaRPr lang="en-US" sz="1000" dirty="0"/>
          </a:p>
        </p:txBody>
      </p:sp>
      <p:sp>
        <p:nvSpPr>
          <p:cNvPr id="13" name="Text 11"/>
          <p:cNvSpPr/>
          <p:nvPr/>
        </p:nvSpPr>
        <p:spPr>
          <a:xfrm>
            <a:off x="841248" y="4151376"/>
            <a:ext cx="2953512" cy="420624"/>
          </a:xfrm>
          <a:prstGeom prst="rect">
            <a:avLst/>
          </a:prstGeom>
          <a:noFill/>
          <a:ln/>
        </p:spPr>
        <p:txBody>
          <a:bodyPr wrap="square" lIns="0" tIns="0" rIns="0" bIns="0" rtlCol="0" anchor="t"/>
          <a:lstStyle/>
          <a:p>
            <a:pPr marL="0" indent="0" algn="l">
              <a:lnSpc>
                <a:spcPct val="110000"/>
              </a:lnSpc>
              <a:buNone/>
            </a:pPr>
            <a:r>
              <a:rPr lang="en-US" sz="1200" dirty="0">
                <a:solidFill>
                  <a:srgbClr val="3D4C5A"/>
                </a:solidFill>
                <a:latin typeface="Calibri" pitchFamily="34" charset="0"/>
                <a:ea typeface="Calibri" pitchFamily="34" charset="-122"/>
                <a:cs typeface="Calibri" pitchFamily="34" charset="-120"/>
              </a:rPr>
              <a:t>Service-to-service secrets. This is our aes-gcm-hkdf mode.</a:t>
            </a:r>
            <a:endParaRPr lang="en-US" sz="1200" dirty="0"/>
          </a:p>
        </p:txBody>
      </p:sp>
      <p:sp>
        <p:nvSpPr>
          <p:cNvPr id="14" name="Shape 12"/>
          <p:cNvSpPr/>
          <p:nvPr/>
        </p:nvSpPr>
        <p:spPr>
          <a:xfrm>
            <a:off x="4361688" y="1554480"/>
            <a:ext cx="3502152" cy="2999232"/>
          </a:xfrm>
          <a:prstGeom prst="roundRect">
            <a:avLst>
              <a:gd name="adj" fmla="val 1829"/>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5" name="Text 13"/>
          <p:cNvSpPr/>
          <p:nvPr/>
        </p:nvSpPr>
        <p:spPr>
          <a:xfrm>
            <a:off x="4636008" y="1755648"/>
            <a:ext cx="2953512" cy="347472"/>
          </a:xfrm>
          <a:prstGeom prst="rect">
            <a:avLst/>
          </a:prstGeom>
          <a:noFill/>
          <a:ln/>
        </p:spPr>
        <p:txBody>
          <a:bodyPr wrap="square" lIns="0" tIns="0" rIns="0" bIns="0" rtlCol="0" anchor="t"/>
          <a:lstStyle/>
          <a:p>
            <a:pPr marL="0" indent="0" algn="l">
              <a:lnSpc>
                <a:spcPct val="106000"/>
              </a:lnSpc>
              <a:buNone/>
            </a:pPr>
            <a:r>
              <a:rPr lang="en-US" sz="1900" b="1" dirty="0">
                <a:solidFill>
                  <a:srgbClr val="16212E"/>
                </a:solidFill>
                <a:latin typeface="Calibri" pitchFamily="34" charset="0"/>
                <a:ea typeface="Calibri" pitchFamily="34" charset="-122"/>
                <a:cs typeface="Calibri" pitchFamily="34" charset="-120"/>
              </a:rPr>
              <a:t>PBKDF2</a:t>
            </a:r>
            <a:endParaRPr lang="en-US" sz="1900" dirty="0"/>
          </a:p>
        </p:txBody>
      </p:sp>
      <p:sp>
        <p:nvSpPr>
          <p:cNvPr id="16" name="Shape 14"/>
          <p:cNvSpPr/>
          <p:nvPr/>
        </p:nvSpPr>
        <p:spPr>
          <a:xfrm>
            <a:off x="4636008" y="2157984"/>
            <a:ext cx="1600200" cy="292608"/>
          </a:xfrm>
          <a:prstGeom prst="roundRect">
            <a:avLst>
              <a:gd name="adj" fmla="val 156250"/>
            </a:avLst>
          </a:prstGeom>
          <a:solidFill>
            <a:srgbClr val="2C3E50"/>
          </a:solidFill>
          <a:ln w="6350">
            <a:solidFill>
              <a:srgbClr val="2C3E50"/>
            </a:solidFill>
            <a:prstDash val="solid"/>
          </a:ln>
        </p:spPr>
        <p:txBody>
          <a:bodyPr/>
          <a:lstStyle/>
          <a:p>
            <a:endParaRPr lang="en-US"/>
          </a:p>
        </p:txBody>
      </p:sp>
      <p:sp>
        <p:nvSpPr>
          <p:cNvPr id="17" name="Text 15"/>
          <p:cNvSpPr/>
          <p:nvPr/>
        </p:nvSpPr>
        <p:spPr>
          <a:xfrm>
            <a:off x="4636008" y="2157984"/>
            <a:ext cx="1600200" cy="292608"/>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FALLBACK</a:t>
            </a:r>
            <a:endParaRPr lang="en-US" sz="1050" dirty="0"/>
          </a:p>
        </p:txBody>
      </p:sp>
      <p:sp>
        <p:nvSpPr>
          <p:cNvPr id="18" name="Text 16"/>
          <p:cNvSpPr/>
          <p:nvPr/>
        </p:nvSpPr>
        <p:spPr>
          <a:xfrm>
            <a:off x="4636008" y="2615184"/>
            <a:ext cx="2953512" cy="219456"/>
          </a:xfrm>
          <a:prstGeom prst="rect">
            <a:avLst/>
          </a:prstGeom>
          <a:noFill/>
          <a:ln/>
        </p:spPr>
        <p:txBody>
          <a:bodyPr wrap="square" lIns="0" tIns="0" rIns="0" bIns="0" rtlCol="0" anchor="t"/>
          <a:lstStyle/>
          <a:p>
            <a:pPr marL="0" indent="0" algn="l">
              <a:lnSpc>
                <a:spcPct val="106000"/>
              </a:lnSpc>
              <a:buNone/>
            </a:pPr>
            <a:r>
              <a:rPr lang="en-US" sz="1000" b="1" dirty="0">
                <a:solidFill>
                  <a:srgbClr val="7A8894"/>
                </a:solidFill>
                <a:latin typeface="Calibri" pitchFamily="34" charset="0"/>
                <a:ea typeface="Calibri" pitchFamily="34" charset="-122"/>
                <a:cs typeface="Calibri" pitchFamily="34" charset="-120"/>
              </a:rPr>
              <a:t>Input it expects</a:t>
            </a:r>
            <a:endParaRPr lang="en-US" sz="1000" dirty="0"/>
          </a:p>
        </p:txBody>
      </p:sp>
      <p:sp>
        <p:nvSpPr>
          <p:cNvPr id="19" name="Text 17"/>
          <p:cNvSpPr/>
          <p:nvPr/>
        </p:nvSpPr>
        <p:spPr>
          <a:xfrm>
            <a:off x="4636008" y="2834640"/>
            <a:ext cx="2953512" cy="420624"/>
          </a:xfrm>
          <a:prstGeom prst="rect">
            <a:avLst/>
          </a:prstGeom>
          <a:noFill/>
          <a:ln/>
        </p:spPr>
        <p:txBody>
          <a:bodyPr wrap="square" lIns="0" tIns="0" rIns="0" bIns="0" rtlCol="0" anchor="t"/>
          <a:lstStyle/>
          <a:p>
            <a:pPr marL="0" indent="0" algn="l">
              <a:lnSpc>
                <a:spcPct val="110000"/>
              </a:lnSpc>
              <a:buNone/>
            </a:pPr>
            <a:r>
              <a:rPr lang="en-US" sz="1200" dirty="0">
                <a:solidFill>
                  <a:srgbClr val="3D4C5A"/>
                </a:solidFill>
                <a:latin typeface="Calibri" pitchFamily="34" charset="0"/>
                <a:ea typeface="Calibri" pitchFamily="34" charset="-122"/>
                <a:cs typeface="Calibri" pitchFamily="34" charset="-120"/>
              </a:rPr>
              <a:t>A human-chosen password or a low-entropy secret</a:t>
            </a:r>
            <a:endParaRPr lang="en-US" sz="1200" dirty="0"/>
          </a:p>
        </p:txBody>
      </p:sp>
      <p:sp>
        <p:nvSpPr>
          <p:cNvPr id="20" name="Text 18"/>
          <p:cNvSpPr/>
          <p:nvPr/>
        </p:nvSpPr>
        <p:spPr>
          <a:xfrm>
            <a:off x="4636008" y="3273552"/>
            <a:ext cx="2953512" cy="219456"/>
          </a:xfrm>
          <a:prstGeom prst="rect">
            <a:avLst/>
          </a:prstGeom>
          <a:noFill/>
          <a:ln/>
        </p:spPr>
        <p:txBody>
          <a:bodyPr wrap="square" lIns="0" tIns="0" rIns="0" bIns="0" rtlCol="0" anchor="t"/>
          <a:lstStyle/>
          <a:p>
            <a:pPr marL="0" indent="0" algn="l">
              <a:lnSpc>
                <a:spcPct val="106000"/>
              </a:lnSpc>
              <a:buNone/>
            </a:pPr>
            <a:r>
              <a:rPr lang="en-US" sz="1000" b="1" dirty="0">
                <a:solidFill>
                  <a:srgbClr val="7A8894"/>
                </a:solidFill>
                <a:latin typeface="Calibri" pitchFamily="34" charset="0"/>
                <a:ea typeface="Calibri" pitchFamily="34" charset="-122"/>
                <a:cs typeface="Calibri" pitchFamily="34" charset="-120"/>
              </a:rPr>
              <a:t>Speed</a:t>
            </a:r>
            <a:endParaRPr lang="en-US" sz="1000" dirty="0"/>
          </a:p>
        </p:txBody>
      </p:sp>
      <p:sp>
        <p:nvSpPr>
          <p:cNvPr id="21" name="Text 19"/>
          <p:cNvSpPr/>
          <p:nvPr/>
        </p:nvSpPr>
        <p:spPr>
          <a:xfrm>
            <a:off x="4636008" y="3493008"/>
            <a:ext cx="2953512" cy="420624"/>
          </a:xfrm>
          <a:prstGeom prst="rect">
            <a:avLst/>
          </a:prstGeom>
          <a:noFill/>
          <a:ln/>
        </p:spPr>
        <p:txBody>
          <a:bodyPr wrap="square" lIns="0" tIns="0" rIns="0" bIns="0" rtlCol="0" anchor="t"/>
          <a:lstStyle/>
          <a:p>
            <a:pPr marL="0" indent="0" algn="l">
              <a:lnSpc>
                <a:spcPct val="110000"/>
              </a:lnSpc>
              <a:buNone/>
            </a:pPr>
            <a:r>
              <a:rPr lang="en-US" sz="1200" dirty="0">
                <a:solidFill>
                  <a:srgbClr val="3D4C5A"/>
                </a:solidFill>
                <a:latin typeface="Calibri" pitchFamily="34" charset="0"/>
                <a:ea typeface="Calibri" pitchFamily="34" charset="-122"/>
                <a:cs typeface="Calibri" pitchFamily="34" charset="-120"/>
              </a:rPr>
              <a:t>Deliberately slow — 600,000+ iterations</a:t>
            </a:r>
            <a:endParaRPr lang="en-US" sz="1200" dirty="0"/>
          </a:p>
        </p:txBody>
      </p:sp>
      <p:sp>
        <p:nvSpPr>
          <p:cNvPr id="22" name="Text 20"/>
          <p:cNvSpPr/>
          <p:nvPr/>
        </p:nvSpPr>
        <p:spPr>
          <a:xfrm>
            <a:off x="4636008" y="3931920"/>
            <a:ext cx="2953512" cy="219456"/>
          </a:xfrm>
          <a:prstGeom prst="rect">
            <a:avLst/>
          </a:prstGeom>
          <a:noFill/>
          <a:ln/>
        </p:spPr>
        <p:txBody>
          <a:bodyPr wrap="square" lIns="0" tIns="0" rIns="0" bIns="0" rtlCol="0" anchor="t"/>
          <a:lstStyle/>
          <a:p>
            <a:pPr marL="0" indent="0" algn="l">
              <a:lnSpc>
                <a:spcPct val="106000"/>
              </a:lnSpc>
              <a:buNone/>
            </a:pPr>
            <a:r>
              <a:rPr lang="en-US" sz="1000" b="1" dirty="0">
                <a:solidFill>
                  <a:srgbClr val="7A8894"/>
                </a:solidFill>
                <a:latin typeface="Calibri" pitchFamily="34" charset="0"/>
                <a:ea typeface="Calibri" pitchFamily="34" charset="-122"/>
                <a:cs typeface="Calibri" pitchFamily="34" charset="-120"/>
              </a:rPr>
              <a:t>Use it for</a:t>
            </a:r>
            <a:endParaRPr lang="en-US" sz="1000" dirty="0"/>
          </a:p>
        </p:txBody>
      </p:sp>
      <p:sp>
        <p:nvSpPr>
          <p:cNvPr id="23" name="Text 21"/>
          <p:cNvSpPr/>
          <p:nvPr/>
        </p:nvSpPr>
        <p:spPr>
          <a:xfrm>
            <a:off x="4636008" y="4151376"/>
            <a:ext cx="2953512" cy="420624"/>
          </a:xfrm>
          <a:prstGeom prst="rect">
            <a:avLst/>
          </a:prstGeom>
          <a:noFill/>
          <a:ln/>
        </p:spPr>
        <p:txBody>
          <a:bodyPr wrap="square" lIns="0" tIns="0" rIns="0" bIns="0" rtlCol="0" anchor="t"/>
          <a:lstStyle/>
          <a:p>
            <a:pPr marL="0" indent="0" algn="l">
              <a:lnSpc>
                <a:spcPct val="110000"/>
              </a:lnSpc>
              <a:buNone/>
            </a:pPr>
            <a:r>
              <a:rPr lang="en-US" sz="1200" dirty="0">
                <a:solidFill>
                  <a:srgbClr val="3D4C5A"/>
                </a:solidFill>
                <a:latin typeface="Calibri" pitchFamily="34" charset="0"/>
                <a:ea typeface="Calibri" pitchFamily="34" charset="-122"/>
                <a:cs typeface="Calibri" pitchFamily="34" charset="-120"/>
              </a:rPr>
              <a:t>Our aes-gcm default mode, when the configured value is a passphrase.</a:t>
            </a:r>
            <a:endParaRPr lang="en-US" sz="1200" dirty="0"/>
          </a:p>
        </p:txBody>
      </p:sp>
      <p:sp>
        <p:nvSpPr>
          <p:cNvPr id="24" name="Shape 22"/>
          <p:cNvSpPr/>
          <p:nvPr/>
        </p:nvSpPr>
        <p:spPr>
          <a:xfrm>
            <a:off x="8156448" y="1554480"/>
            <a:ext cx="3502152" cy="2999232"/>
          </a:xfrm>
          <a:prstGeom prst="roundRect">
            <a:avLst>
              <a:gd name="adj" fmla="val 1829"/>
            </a:avLst>
          </a:prstGeom>
          <a:solidFill>
            <a:srgbClr val="E2F4EF"/>
          </a:solidFill>
          <a:ln w="6350">
            <a:solidFill>
              <a:srgbClr val="E2F4EF"/>
            </a:solidFill>
            <a:prstDash val="solid"/>
          </a:ln>
          <a:effectLst>
            <a:outerShdw blurRad="114300" dist="25400" dir="5400000" algn="bl" rotWithShape="0">
              <a:srgbClr val="9FB0BF">
                <a:alpha val="25000"/>
              </a:srgbClr>
            </a:outerShdw>
          </a:effectLst>
        </p:spPr>
        <p:txBody>
          <a:bodyPr/>
          <a:lstStyle/>
          <a:p>
            <a:endParaRPr lang="en-US"/>
          </a:p>
        </p:txBody>
      </p:sp>
      <p:sp>
        <p:nvSpPr>
          <p:cNvPr id="25" name="Text 23"/>
          <p:cNvSpPr/>
          <p:nvPr/>
        </p:nvSpPr>
        <p:spPr>
          <a:xfrm>
            <a:off x="8430768" y="1755648"/>
            <a:ext cx="2953512" cy="347472"/>
          </a:xfrm>
          <a:prstGeom prst="rect">
            <a:avLst/>
          </a:prstGeom>
          <a:noFill/>
          <a:ln/>
        </p:spPr>
        <p:txBody>
          <a:bodyPr wrap="square" lIns="0" tIns="0" rIns="0" bIns="0" rtlCol="0" anchor="t"/>
          <a:lstStyle/>
          <a:p>
            <a:pPr marL="0" indent="0" algn="l">
              <a:lnSpc>
                <a:spcPct val="106000"/>
              </a:lnSpc>
              <a:buNone/>
            </a:pPr>
            <a:r>
              <a:rPr lang="en-US" sz="1900" b="1" dirty="0">
                <a:solidFill>
                  <a:srgbClr val="16212E"/>
                </a:solidFill>
                <a:latin typeface="Calibri" pitchFamily="34" charset="0"/>
                <a:ea typeface="Calibri" pitchFamily="34" charset="-122"/>
                <a:cs typeface="Calibri" pitchFamily="34" charset="-120"/>
              </a:rPr>
              <a:t>Argon2id</a:t>
            </a:r>
            <a:endParaRPr lang="en-US" sz="1900" dirty="0"/>
          </a:p>
        </p:txBody>
      </p:sp>
      <p:sp>
        <p:nvSpPr>
          <p:cNvPr id="26" name="Shape 24"/>
          <p:cNvSpPr/>
          <p:nvPr/>
        </p:nvSpPr>
        <p:spPr>
          <a:xfrm>
            <a:off x="8430768" y="2157984"/>
            <a:ext cx="1600200" cy="292608"/>
          </a:xfrm>
          <a:prstGeom prst="roundRect">
            <a:avLst>
              <a:gd name="adj" fmla="val 156250"/>
            </a:avLst>
          </a:prstGeom>
          <a:solidFill>
            <a:srgbClr val="2BA88C"/>
          </a:solidFill>
          <a:ln w="6350">
            <a:solidFill>
              <a:srgbClr val="2BA88C"/>
            </a:solidFill>
            <a:prstDash val="solid"/>
          </a:ln>
        </p:spPr>
        <p:txBody>
          <a:bodyPr/>
          <a:lstStyle/>
          <a:p>
            <a:endParaRPr lang="en-US"/>
          </a:p>
        </p:txBody>
      </p:sp>
      <p:sp>
        <p:nvSpPr>
          <p:cNvPr id="27" name="Text 25"/>
          <p:cNvSpPr/>
          <p:nvPr/>
        </p:nvSpPr>
        <p:spPr>
          <a:xfrm>
            <a:off x="8430768" y="2157984"/>
            <a:ext cx="1600200" cy="292608"/>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NOT USED HERE</a:t>
            </a:r>
            <a:endParaRPr lang="en-US" sz="1050" dirty="0"/>
          </a:p>
        </p:txBody>
      </p:sp>
      <p:sp>
        <p:nvSpPr>
          <p:cNvPr id="28" name="Text 26"/>
          <p:cNvSpPr/>
          <p:nvPr/>
        </p:nvSpPr>
        <p:spPr>
          <a:xfrm>
            <a:off x="8430768" y="2615184"/>
            <a:ext cx="2953512" cy="219456"/>
          </a:xfrm>
          <a:prstGeom prst="rect">
            <a:avLst/>
          </a:prstGeom>
          <a:noFill/>
          <a:ln/>
        </p:spPr>
        <p:txBody>
          <a:bodyPr wrap="square" lIns="0" tIns="0" rIns="0" bIns="0" rtlCol="0" anchor="t"/>
          <a:lstStyle/>
          <a:p>
            <a:pPr marL="0" indent="0" algn="l">
              <a:lnSpc>
                <a:spcPct val="106000"/>
              </a:lnSpc>
              <a:buNone/>
            </a:pPr>
            <a:r>
              <a:rPr lang="en-US" sz="1000" b="1" dirty="0">
                <a:solidFill>
                  <a:srgbClr val="7A8894"/>
                </a:solidFill>
                <a:latin typeface="Calibri" pitchFamily="34" charset="0"/>
                <a:ea typeface="Calibri" pitchFamily="34" charset="-122"/>
                <a:cs typeface="Calibri" pitchFamily="34" charset="-120"/>
              </a:rPr>
              <a:t>Input it expects</a:t>
            </a:r>
            <a:endParaRPr lang="en-US" sz="1000" dirty="0"/>
          </a:p>
        </p:txBody>
      </p:sp>
      <p:sp>
        <p:nvSpPr>
          <p:cNvPr id="29" name="Text 27"/>
          <p:cNvSpPr/>
          <p:nvPr/>
        </p:nvSpPr>
        <p:spPr>
          <a:xfrm>
            <a:off x="8430768" y="2834640"/>
            <a:ext cx="2953512" cy="420624"/>
          </a:xfrm>
          <a:prstGeom prst="rect">
            <a:avLst/>
          </a:prstGeom>
          <a:noFill/>
          <a:ln/>
        </p:spPr>
        <p:txBody>
          <a:bodyPr wrap="square" lIns="0" tIns="0" rIns="0" bIns="0" rtlCol="0" anchor="t"/>
          <a:lstStyle/>
          <a:p>
            <a:pPr marL="0" indent="0" algn="l">
              <a:lnSpc>
                <a:spcPct val="110000"/>
              </a:lnSpc>
              <a:buNone/>
            </a:pPr>
            <a:r>
              <a:rPr lang="en-US" sz="1200" dirty="0">
                <a:solidFill>
                  <a:srgbClr val="3D4C5A"/>
                </a:solidFill>
                <a:latin typeface="Calibri" pitchFamily="34" charset="0"/>
                <a:ea typeface="Calibri" pitchFamily="34" charset="-122"/>
                <a:cs typeface="Calibri" pitchFamily="34" charset="-120"/>
              </a:rPr>
              <a:t>A human-chosen password</a:t>
            </a:r>
            <a:endParaRPr lang="en-US" sz="1200" dirty="0"/>
          </a:p>
        </p:txBody>
      </p:sp>
      <p:sp>
        <p:nvSpPr>
          <p:cNvPr id="30" name="Text 28"/>
          <p:cNvSpPr/>
          <p:nvPr/>
        </p:nvSpPr>
        <p:spPr>
          <a:xfrm>
            <a:off x="8430768" y="3273552"/>
            <a:ext cx="2953512" cy="219456"/>
          </a:xfrm>
          <a:prstGeom prst="rect">
            <a:avLst/>
          </a:prstGeom>
          <a:noFill/>
          <a:ln/>
        </p:spPr>
        <p:txBody>
          <a:bodyPr wrap="square" lIns="0" tIns="0" rIns="0" bIns="0" rtlCol="0" anchor="t"/>
          <a:lstStyle/>
          <a:p>
            <a:pPr marL="0" indent="0" algn="l">
              <a:lnSpc>
                <a:spcPct val="106000"/>
              </a:lnSpc>
              <a:buNone/>
            </a:pPr>
            <a:r>
              <a:rPr lang="en-US" sz="1000" b="1" dirty="0">
                <a:solidFill>
                  <a:srgbClr val="7A8894"/>
                </a:solidFill>
                <a:latin typeface="Calibri" pitchFamily="34" charset="0"/>
                <a:ea typeface="Calibri" pitchFamily="34" charset="-122"/>
                <a:cs typeface="Calibri" pitchFamily="34" charset="-120"/>
              </a:rPr>
              <a:t>Speed</a:t>
            </a:r>
            <a:endParaRPr lang="en-US" sz="1000" dirty="0"/>
          </a:p>
        </p:txBody>
      </p:sp>
      <p:sp>
        <p:nvSpPr>
          <p:cNvPr id="31" name="Text 29"/>
          <p:cNvSpPr/>
          <p:nvPr/>
        </p:nvSpPr>
        <p:spPr>
          <a:xfrm>
            <a:off x="8430768" y="3493008"/>
            <a:ext cx="2953512" cy="420624"/>
          </a:xfrm>
          <a:prstGeom prst="rect">
            <a:avLst/>
          </a:prstGeom>
          <a:noFill/>
          <a:ln/>
        </p:spPr>
        <p:txBody>
          <a:bodyPr wrap="square" lIns="0" tIns="0" rIns="0" bIns="0" rtlCol="0" anchor="t"/>
          <a:lstStyle/>
          <a:p>
            <a:pPr marL="0" indent="0" algn="l">
              <a:lnSpc>
                <a:spcPct val="110000"/>
              </a:lnSpc>
              <a:buNone/>
            </a:pPr>
            <a:r>
              <a:rPr lang="en-US" sz="1200" dirty="0">
                <a:solidFill>
                  <a:srgbClr val="3D4C5A"/>
                </a:solidFill>
                <a:latin typeface="Calibri" pitchFamily="34" charset="0"/>
                <a:ea typeface="Calibri" pitchFamily="34" charset="-122"/>
                <a:cs typeface="Calibri" pitchFamily="34" charset="-120"/>
              </a:rPr>
              <a:t>Slow and memory-hard — resists GPU cracking</a:t>
            </a:r>
            <a:endParaRPr lang="en-US" sz="1200" dirty="0"/>
          </a:p>
        </p:txBody>
      </p:sp>
      <p:sp>
        <p:nvSpPr>
          <p:cNvPr id="32" name="Text 30"/>
          <p:cNvSpPr/>
          <p:nvPr/>
        </p:nvSpPr>
        <p:spPr>
          <a:xfrm>
            <a:off x="8430768" y="3931920"/>
            <a:ext cx="2953512" cy="219456"/>
          </a:xfrm>
          <a:prstGeom prst="rect">
            <a:avLst/>
          </a:prstGeom>
          <a:noFill/>
          <a:ln/>
        </p:spPr>
        <p:txBody>
          <a:bodyPr wrap="square" lIns="0" tIns="0" rIns="0" bIns="0" rtlCol="0" anchor="t"/>
          <a:lstStyle/>
          <a:p>
            <a:pPr marL="0" indent="0" algn="l">
              <a:lnSpc>
                <a:spcPct val="106000"/>
              </a:lnSpc>
              <a:buNone/>
            </a:pPr>
            <a:r>
              <a:rPr lang="en-US" sz="1000" b="1" dirty="0">
                <a:solidFill>
                  <a:srgbClr val="7A8894"/>
                </a:solidFill>
                <a:latin typeface="Calibri" pitchFamily="34" charset="0"/>
                <a:ea typeface="Calibri" pitchFamily="34" charset="-122"/>
                <a:cs typeface="Calibri" pitchFamily="34" charset="-120"/>
              </a:rPr>
              <a:t>Use it for</a:t>
            </a:r>
            <a:endParaRPr lang="en-US" sz="1000" dirty="0"/>
          </a:p>
        </p:txBody>
      </p:sp>
      <p:sp>
        <p:nvSpPr>
          <p:cNvPr id="33" name="Text 31"/>
          <p:cNvSpPr/>
          <p:nvPr/>
        </p:nvSpPr>
        <p:spPr>
          <a:xfrm>
            <a:off x="8430768" y="4151376"/>
            <a:ext cx="2953512" cy="420624"/>
          </a:xfrm>
          <a:prstGeom prst="rect">
            <a:avLst/>
          </a:prstGeom>
          <a:noFill/>
          <a:ln/>
        </p:spPr>
        <p:txBody>
          <a:bodyPr wrap="square" lIns="0" tIns="0" rIns="0" bIns="0" rtlCol="0" anchor="t"/>
          <a:lstStyle/>
          <a:p>
            <a:pPr marL="0" indent="0" algn="l">
              <a:lnSpc>
                <a:spcPct val="110000"/>
              </a:lnSpc>
              <a:buNone/>
            </a:pPr>
            <a:r>
              <a:rPr lang="en-US" sz="1200" dirty="0">
                <a:solidFill>
                  <a:srgbClr val="3D4C5A"/>
                </a:solidFill>
                <a:latin typeface="Calibri" pitchFamily="34" charset="0"/>
                <a:ea typeface="Calibri" pitchFamily="34" charset="-122"/>
                <a:cs typeface="Calibri" pitchFamily="34" charset="-120"/>
              </a:rPr>
              <a:t>The current recommendation for any new password work.</a:t>
            </a:r>
            <a:endParaRPr lang="en-US" sz="1200" dirty="0"/>
          </a:p>
        </p:txBody>
      </p:sp>
      <p:sp>
        <p:nvSpPr>
          <p:cNvPr id="34" name="Shape 32"/>
          <p:cNvSpPr/>
          <p:nvPr/>
        </p:nvSpPr>
        <p:spPr>
          <a:xfrm>
            <a:off x="566928" y="4754880"/>
            <a:ext cx="11057839" cy="1170432"/>
          </a:xfrm>
          <a:prstGeom prst="roundRect">
            <a:avLst>
              <a:gd name="adj" fmla="val 4688"/>
            </a:avLst>
          </a:prstGeom>
          <a:solidFill>
            <a:srgbClr val="0F1721"/>
          </a:solidFill>
          <a:ln w="6350">
            <a:solidFill>
              <a:srgbClr val="0F1721"/>
            </a:solidFill>
            <a:prstDash val="solid"/>
          </a:ln>
        </p:spPr>
        <p:txBody>
          <a:bodyPr/>
          <a:lstStyle/>
          <a:p>
            <a:endParaRPr lang="en-US"/>
          </a:p>
        </p:txBody>
      </p:sp>
      <p:sp>
        <p:nvSpPr>
          <p:cNvPr id="35" name="Text 33"/>
          <p:cNvSpPr/>
          <p:nvPr/>
        </p:nvSpPr>
        <p:spPr>
          <a:xfrm>
            <a:off x="950976" y="4956048"/>
            <a:ext cx="3657600" cy="292608"/>
          </a:xfrm>
          <a:prstGeom prst="rect">
            <a:avLst/>
          </a:prstGeom>
          <a:noFill/>
          <a:ln/>
        </p:spPr>
        <p:txBody>
          <a:bodyPr wrap="square" lIns="0" tIns="0" rIns="0" bIns="0" rtlCol="0" anchor="t"/>
          <a:lstStyle/>
          <a:p>
            <a:pPr marL="0" indent="0" algn="l">
              <a:lnSpc>
                <a:spcPct val="106000"/>
              </a:lnSpc>
              <a:buNone/>
            </a:pPr>
            <a:r>
              <a:rPr lang="en-US" sz="1500" b="1" dirty="0">
                <a:solidFill>
                  <a:srgbClr val="E8A033"/>
                </a:solidFill>
                <a:latin typeface="Calibri" pitchFamily="34" charset="0"/>
                <a:ea typeface="Calibri" pitchFamily="34" charset="-122"/>
                <a:cs typeface="Calibri" pitchFamily="34" charset="-120"/>
              </a:rPr>
              <a:t>The rule that decides it</a:t>
            </a:r>
            <a:endParaRPr lang="en-US" sz="1500" dirty="0"/>
          </a:p>
        </p:txBody>
      </p:sp>
      <p:sp>
        <p:nvSpPr>
          <p:cNvPr id="36" name="Text 34"/>
          <p:cNvSpPr/>
          <p:nvPr/>
        </p:nvSpPr>
        <p:spPr>
          <a:xfrm>
            <a:off x="950976" y="5285232"/>
            <a:ext cx="10234879" cy="310896"/>
          </a:xfrm>
          <a:prstGeom prst="rect">
            <a:avLst/>
          </a:prstGeom>
          <a:noFill/>
          <a:ln/>
        </p:spPr>
        <p:txBody>
          <a:bodyPr wrap="square" lIns="0" tIns="0" rIns="0" bIns="0" rtlCol="0" anchor="t"/>
          <a:lstStyle/>
          <a:p>
            <a:pPr marL="0" indent="0" algn="l">
              <a:lnSpc>
                <a:spcPct val="106000"/>
              </a:lnSpc>
              <a:buNone/>
            </a:pPr>
            <a:r>
              <a:rPr lang="en-US" sz="1350" b="1" dirty="0">
                <a:solidFill>
                  <a:srgbClr val="FFFFFF"/>
                </a:solidFill>
                <a:latin typeface="Calibri" pitchFamily="34" charset="0"/>
                <a:ea typeface="Calibri" pitchFamily="34" charset="-122"/>
                <a:cs typeface="Calibri" pitchFamily="34" charset="-120"/>
              </a:rPr>
              <a:t>Did a machine generate this secret from randomness?  →  HKDF.        Did a human choose or memorise it?  →  PBKDF2 or Argon2id.</a:t>
            </a:r>
            <a:endParaRPr lang="en-US" sz="1350" dirty="0"/>
          </a:p>
        </p:txBody>
      </p:sp>
      <p:sp>
        <p:nvSpPr>
          <p:cNvPr id="37" name="Text 35"/>
          <p:cNvSpPr/>
          <p:nvPr/>
        </p:nvSpPr>
        <p:spPr>
          <a:xfrm>
            <a:off x="950976" y="5596128"/>
            <a:ext cx="10234879" cy="274320"/>
          </a:xfrm>
          <a:prstGeom prst="rect">
            <a:avLst/>
          </a:prstGeom>
          <a:noFill/>
          <a:ln/>
        </p:spPr>
        <p:txBody>
          <a:bodyPr wrap="square" lIns="0" tIns="0" rIns="0" bIns="0" rtlCol="0" anchor="t"/>
          <a:lstStyle/>
          <a:p>
            <a:pPr marL="0" indent="0" algn="l">
              <a:lnSpc>
                <a:spcPct val="106000"/>
              </a:lnSpc>
              <a:buNone/>
            </a:pPr>
            <a:r>
              <a:rPr lang="en-US" sz="1200" dirty="0">
                <a:solidFill>
                  <a:srgbClr val="8FA3B5"/>
                </a:solidFill>
                <a:latin typeface="Calibri" pitchFamily="34" charset="0"/>
                <a:ea typeface="Calibri" pitchFamily="34" charset="-122"/>
                <a:cs typeface="Calibri" pitchFamily="34" charset="-120"/>
              </a:rPr>
              <a:t>Getting this backwards is the single most common crypto integration bug — and it fails silently, because both directions still encrypt and decrypt perfectly.</a:t>
            </a:r>
            <a:endParaRPr lang="en-US" sz="1200" dirty="0"/>
          </a:p>
        </p:txBody>
      </p:sp>
      <p:sp>
        <p:nvSpPr>
          <p:cNvPr id="38" name="Text 36"/>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2 · The implementation</a:t>
            </a:r>
            <a:endParaRPr lang="en-US" sz="950" dirty="0"/>
          </a:p>
        </p:txBody>
      </p:sp>
      <p:sp>
        <p:nvSpPr>
          <p:cNvPr id="39" name="Text 37"/>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THE CONTRACT</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The wire format, byte by byte</a:t>
            </a:r>
            <a:endParaRPr lang="en-US" sz="3100" dirty="0"/>
          </a:p>
        </p:txBody>
      </p:sp>
      <p:sp>
        <p:nvSpPr>
          <p:cNvPr id="4" name="Shape 2"/>
          <p:cNvSpPr/>
          <p:nvPr/>
        </p:nvSpPr>
        <p:spPr>
          <a:xfrm>
            <a:off x="566928" y="1627632"/>
            <a:ext cx="829338" cy="841248"/>
          </a:xfrm>
          <a:prstGeom prst="rect">
            <a:avLst/>
          </a:prstGeom>
          <a:solidFill>
            <a:srgbClr val="2C3E50"/>
          </a:solidFill>
          <a:ln w="19050">
            <a:solidFill>
              <a:srgbClr val="FFFFFF"/>
            </a:solidFill>
            <a:prstDash val="solid"/>
          </a:ln>
        </p:spPr>
        <p:txBody>
          <a:bodyPr/>
          <a:lstStyle/>
          <a:p>
            <a:endParaRPr lang="en-US"/>
          </a:p>
        </p:txBody>
      </p:sp>
      <p:sp>
        <p:nvSpPr>
          <p:cNvPr id="5" name="Text 3"/>
          <p:cNvSpPr/>
          <p:nvPr/>
        </p:nvSpPr>
        <p:spPr>
          <a:xfrm>
            <a:off x="566928" y="1810512"/>
            <a:ext cx="829338" cy="23774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header</a:t>
            </a:r>
            <a:endParaRPr lang="en-US" sz="1150" dirty="0"/>
          </a:p>
        </p:txBody>
      </p:sp>
      <p:sp>
        <p:nvSpPr>
          <p:cNvPr id="6" name="Text 4"/>
          <p:cNvSpPr/>
          <p:nvPr/>
        </p:nvSpPr>
        <p:spPr>
          <a:xfrm>
            <a:off x="566928" y="2048256"/>
            <a:ext cx="829338" cy="219456"/>
          </a:xfrm>
          <a:prstGeom prst="rect">
            <a:avLst/>
          </a:prstGeom>
          <a:noFill/>
          <a:ln/>
        </p:spPr>
        <p:txBody>
          <a:bodyPr wrap="square" lIns="0" tIns="0" rIns="0" bIns="0" rtlCol="0" anchor="ctr"/>
          <a:lstStyle/>
          <a:p>
            <a:pPr marL="0" indent="0" algn="ctr">
              <a:buNone/>
            </a:pPr>
            <a:r>
              <a:rPr lang="en-US" sz="950" dirty="0">
                <a:solidFill>
                  <a:srgbClr val="FFFFFF"/>
                </a:solidFill>
                <a:latin typeface="Courier New" pitchFamily="34" charset="0"/>
                <a:ea typeface="Courier New" pitchFamily="34" charset="-122"/>
                <a:cs typeface="Courier New" pitchFamily="34" charset="-120"/>
              </a:rPr>
              <a:t>4 B</a:t>
            </a:r>
            <a:endParaRPr lang="en-US" sz="950" dirty="0"/>
          </a:p>
        </p:txBody>
      </p:sp>
      <p:sp>
        <p:nvSpPr>
          <p:cNvPr id="7" name="Shape 5"/>
          <p:cNvSpPr/>
          <p:nvPr/>
        </p:nvSpPr>
        <p:spPr>
          <a:xfrm>
            <a:off x="1396266" y="1627632"/>
            <a:ext cx="1658676" cy="841248"/>
          </a:xfrm>
          <a:prstGeom prst="rect">
            <a:avLst/>
          </a:prstGeom>
          <a:solidFill>
            <a:srgbClr val="E8A033"/>
          </a:solidFill>
          <a:ln w="19050">
            <a:solidFill>
              <a:srgbClr val="FFFFFF"/>
            </a:solidFill>
            <a:prstDash val="solid"/>
          </a:ln>
        </p:spPr>
        <p:txBody>
          <a:bodyPr/>
          <a:lstStyle/>
          <a:p>
            <a:endParaRPr lang="en-US"/>
          </a:p>
        </p:txBody>
      </p:sp>
      <p:sp>
        <p:nvSpPr>
          <p:cNvPr id="8" name="Text 6"/>
          <p:cNvSpPr/>
          <p:nvPr/>
        </p:nvSpPr>
        <p:spPr>
          <a:xfrm>
            <a:off x="1396266" y="1810512"/>
            <a:ext cx="1658676" cy="237744"/>
          </a:xfrm>
          <a:prstGeom prst="rect">
            <a:avLst/>
          </a:prstGeom>
          <a:noFill/>
          <a:ln/>
        </p:spPr>
        <p:txBody>
          <a:bodyPr wrap="square" lIns="0" tIns="0" rIns="0" bIns="0" rtlCol="0" anchor="ctr"/>
          <a:lstStyle/>
          <a:p>
            <a:pPr marL="0" indent="0" algn="ctr">
              <a:buNone/>
            </a:pPr>
            <a:r>
              <a:rPr lang="en-US" sz="1150" b="1" dirty="0">
                <a:solidFill>
                  <a:srgbClr val="0F1721"/>
                </a:solidFill>
                <a:latin typeface="Calibri" pitchFamily="34" charset="0"/>
                <a:ea typeface="Calibri" pitchFamily="34" charset="-122"/>
                <a:cs typeface="Calibri" pitchFamily="34" charset="-120"/>
              </a:rPr>
              <a:t>salt</a:t>
            </a:r>
            <a:endParaRPr lang="en-US" sz="1150" dirty="0"/>
          </a:p>
        </p:txBody>
      </p:sp>
      <p:sp>
        <p:nvSpPr>
          <p:cNvPr id="9" name="Text 7"/>
          <p:cNvSpPr/>
          <p:nvPr/>
        </p:nvSpPr>
        <p:spPr>
          <a:xfrm>
            <a:off x="1396266" y="2048256"/>
            <a:ext cx="1658676" cy="219456"/>
          </a:xfrm>
          <a:prstGeom prst="rect">
            <a:avLst/>
          </a:prstGeom>
          <a:noFill/>
          <a:ln/>
        </p:spPr>
        <p:txBody>
          <a:bodyPr wrap="square" lIns="0" tIns="0" rIns="0" bIns="0" rtlCol="0" anchor="ctr"/>
          <a:lstStyle/>
          <a:p>
            <a:pPr marL="0" indent="0" algn="ctr">
              <a:buNone/>
            </a:pPr>
            <a:r>
              <a:rPr lang="en-US" sz="950" dirty="0">
                <a:solidFill>
                  <a:srgbClr val="0F1721"/>
                </a:solidFill>
                <a:latin typeface="Courier New" pitchFamily="34" charset="0"/>
                <a:ea typeface="Courier New" pitchFamily="34" charset="-122"/>
                <a:cs typeface="Courier New" pitchFamily="34" charset="-120"/>
              </a:rPr>
              <a:t>16 B</a:t>
            </a:r>
            <a:endParaRPr lang="en-US" sz="950" dirty="0"/>
          </a:p>
        </p:txBody>
      </p:sp>
      <p:sp>
        <p:nvSpPr>
          <p:cNvPr id="10" name="Shape 8"/>
          <p:cNvSpPr/>
          <p:nvPr/>
        </p:nvSpPr>
        <p:spPr>
          <a:xfrm>
            <a:off x="3054942" y="1627632"/>
            <a:ext cx="1326941" cy="841248"/>
          </a:xfrm>
          <a:prstGeom prst="rect">
            <a:avLst/>
          </a:prstGeom>
          <a:solidFill>
            <a:srgbClr val="C98F2E"/>
          </a:solidFill>
          <a:ln w="19050">
            <a:solidFill>
              <a:srgbClr val="FFFFFF"/>
            </a:solidFill>
            <a:prstDash val="solid"/>
          </a:ln>
        </p:spPr>
        <p:txBody>
          <a:bodyPr/>
          <a:lstStyle/>
          <a:p>
            <a:endParaRPr lang="en-US"/>
          </a:p>
        </p:txBody>
      </p:sp>
      <p:sp>
        <p:nvSpPr>
          <p:cNvPr id="11" name="Text 9"/>
          <p:cNvSpPr/>
          <p:nvPr/>
        </p:nvSpPr>
        <p:spPr>
          <a:xfrm>
            <a:off x="3054942" y="1810512"/>
            <a:ext cx="1326941" cy="23774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nonce</a:t>
            </a:r>
            <a:endParaRPr lang="en-US" sz="1150" dirty="0"/>
          </a:p>
        </p:txBody>
      </p:sp>
      <p:sp>
        <p:nvSpPr>
          <p:cNvPr id="12" name="Text 10"/>
          <p:cNvSpPr/>
          <p:nvPr/>
        </p:nvSpPr>
        <p:spPr>
          <a:xfrm>
            <a:off x="3054942" y="2048256"/>
            <a:ext cx="1326941" cy="219456"/>
          </a:xfrm>
          <a:prstGeom prst="rect">
            <a:avLst/>
          </a:prstGeom>
          <a:noFill/>
          <a:ln/>
        </p:spPr>
        <p:txBody>
          <a:bodyPr wrap="square" lIns="0" tIns="0" rIns="0" bIns="0" rtlCol="0" anchor="ctr"/>
          <a:lstStyle/>
          <a:p>
            <a:pPr marL="0" indent="0" algn="ctr">
              <a:buNone/>
            </a:pPr>
            <a:r>
              <a:rPr lang="en-US" sz="950" dirty="0">
                <a:solidFill>
                  <a:srgbClr val="FFFFFF"/>
                </a:solidFill>
                <a:latin typeface="Courier New" pitchFamily="34" charset="0"/>
                <a:ea typeface="Courier New" pitchFamily="34" charset="-122"/>
                <a:cs typeface="Courier New" pitchFamily="34" charset="-120"/>
              </a:rPr>
              <a:t>12 B</a:t>
            </a:r>
            <a:endParaRPr lang="en-US" sz="950" dirty="0"/>
          </a:p>
        </p:txBody>
      </p:sp>
      <p:sp>
        <p:nvSpPr>
          <p:cNvPr id="13" name="Shape 11"/>
          <p:cNvSpPr/>
          <p:nvPr/>
        </p:nvSpPr>
        <p:spPr>
          <a:xfrm>
            <a:off x="4381883" y="1627632"/>
            <a:ext cx="5584209" cy="841248"/>
          </a:xfrm>
          <a:prstGeom prst="rect">
            <a:avLst/>
          </a:prstGeom>
          <a:solidFill>
            <a:srgbClr val="1B2735"/>
          </a:solidFill>
          <a:ln w="19050">
            <a:solidFill>
              <a:srgbClr val="FFFFFF"/>
            </a:solidFill>
            <a:prstDash val="solid"/>
          </a:ln>
        </p:spPr>
        <p:txBody>
          <a:bodyPr/>
          <a:lstStyle/>
          <a:p>
            <a:endParaRPr lang="en-US"/>
          </a:p>
        </p:txBody>
      </p:sp>
      <p:sp>
        <p:nvSpPr>
          <p:cNvPr id="14" name="Text 12"/>
          <p:cNvSpPr/>
          <p:nvPr/>
        </p:nvSpPr>
        <p:spPr>
          <a:xfrm>
            <a:off x="4381883" y="1810512"/>
            <a:ext cx="5584209" cy="23774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ciphertext</a:t>
            </a:r>
            <a:endParaRPr lang="en-US" sz="1150" dirty="0"/>
          </a:p>
        </p:txBody>
      </p:sp>
      <p:sp>
        <p:nvSpPr>
          <p:cNvPr id="15" name="Text 13"/>
          <p:cNvSpPr/>
          <p:nvPr/>
        </p:nvSpPr>
        <p:spPr>
          <a:xfrm>
            <a:off x="4381883" y="2048256"/>
            <a:ext cx="5584209" cy="219456"/>
          </a:xfrm>
          <a:prstGeom prst="rect">
            <a:avLst/>
          </a:prstGeom>
          <a:noFill/>
          <a:ln/>
        </p:spPr>
        <p:txBody>
          <a:bodyPr wrap="square" lIns="0" tIns="0" rIns="0" bIns="0" rtlCol="0" anchor="ctr"/>
          <a:lstStyle/>
          <a:p>
            <a:pPr marL="0" indent="0" algn="ctr">
              <a:buNone/>
            </a:pPr>
            <a:r>
              <a:rPr lang="en-US" sz="950" dirty="0">
                <a:solidFill>
                  <a:srgbClr val="FFFFFF"/>
                </a:solidFill>
                <a:latin typeface="Courier New" pitchFamily="34" charset="0"/>
                <a:ea typeface="Courier New" pitchFamily="34" charset="-122"/>
                <a:cs typeface="Courier New" pitchFamily="34" charset="-120"/>
              </a:rPr>
              <a:t>N bytes</a:t>
            </a:r>
            <a:endParaRPr lang="en-US" sz="950" dirty="0"/>
          </a:p>
        </p:txBody>
      </p:sp>
      <p:sp>
        <p:nvSpPr>
          <p:cNvPr id="16" name="Shape 14"/>
          <p:cNvSpPr/>
          <p:nvPr/>
        </p:nvSpPr>
        <p:spPr>
          <a:xfrm>
            <a:off x="9966091" y="1627632"/>
            <a:ext cx="1658676" cy="841248"/>
          </a:xfrm>
          <a:prstGeom prst="rect">
            <a:avLst/>
          </a:prstGeom>
          <a:solidFill>
            <a:srgbClr val="2BA88C"/>
          </a:solidFill>
          <a:ln w="19050">
            <a:solidFill>
              <a:srgbClr val="FFFFFF"/>
            </a:solidFill>
            <a:prstDash val="solid"/>
          </a:ln>
        </p:spPr>
        <p:txBody>
          <a:bodyPr/>
          <a:lstStyle/>
          <a:p>
            <a:endParaRPr lang="en-US"/>
          </a:p>
        </p:txBody>
      </p:sp>
      <p:sp>
        <p:nvSpPr>
          <p:cNvPr id="17" name="Text 15"/>
          <p:cNvSpPr/>
          <p:nvPr/>
        </p:nvSpPr>
        <p:spPr>
          <a:xfrm>
            <a:off x="9966091" y="1810512"/>
            <a:ext cx="1658676" cy="23774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tag</a:t>
            </a:r>
            <a:endParaRPr lang="en-US" sz="1150" dirty="0"/>
          </a:p>
        </p:txBody>
      </p:sp>
      <p:sp>
        <p:nvSpPr>
          <p:cNvPr id="18" name="Text 16"/>
          <p:cNvSpPr/>
          <p:nvPr/>
        </p:nvSpPr>
        <p:spPr>
          <a:xfrm>
            <a:off x="9966091" y="2048256"/>
            <a:ext cx="1658676" cy="219456"/>
          </a:xfrm>
          <a:prstGeom prst="rect">
            <a:avLst/>
          </a:prstGeom>
          <a:noFill/>
          <a:ln/>
        </p:spPr>
        <p:txBody>
          <a:bodyPr wrap="square" lIns="0" tIns="0" rIns="0" bIns="0" rtlCol="0" anchor="ctr"/>
          <a:lstStyle/>
          <a:p>
            <a:pPr marL="0" indent="0" algn="ctr">
              <a:buNone/>
            </a:pPr>
            <a:r>
              <a:rPr lang="en-US" sz="950" dirty="0">
                <a:solidFill>
                  <a:srgbClr val="FFFFFF"/>
                </a:solidFill>
                <a:latin typeface="Courier New" pitchFamily="34" charset="0"/>
                <a:ea typeface="Courier New" pitchFamily="34" charset="-122"/>
                <a:cs typeface="Courier New" pitchFamily="34" charset="-120"/>
              </a:rPr>
              <a:t>16 B</a:t>
            </a:r>
            <a:endParaRPr lang="en-US" sz="950" dirty="0"/>
          </a:p>
        </p:txBody>
      </p:sp>
      <p:sp>
        <p:nvSpPr>
          <p:cNvPr id="19" name="Text 17"/>
          <p:cNvSpPr/>
          <p:nvPr/>
        </p:nvSpPr>
        <p:spPr>
          <a:xfrm>
            <a:off x="566928" y="2523744"/>
            <a:ext cx="829338" cy="237744"/>
          </a:xfrm>
          <a:prstGeom prst="rect">
            <a:avLst/>
          </a:prstGeom>
          <a:noFill/>
          <a:ln/>
        </p:spPr>
        <p:txBody>
          <a:bodyPr wrap="square" lIns="0" tIns="0" rIns="0" bIns="0" rtlCol="0" anchor="t"/>
          <a:lstStyle/>
          <a:p>
            <a:pPr marL="0" indent="0" algn="ctr">
              <a:lnSpc>
                <a:spcPct val="106000"/>
              </a:lnSpc>
              <a:buNone/>
            </a:pPr>
            <a:r>
              <a:rPr lang="en-US" sz="1050" dirty="0">
                <a:solidFill>
                  <a:srgbClr val="7A8894"/>
                </a:solidFill>
                <a:latin typeface="Courier New" pitchFamily="34" charset="0"/>
                <a:ea typeface="Courier New" pitchFamily="34" charset="-122"/>
                <a:cs typeface="Courier New" pitchFamily="34" charset="-120"/>
              </a:rPr>
              <a:t>[0:4]</a:t>
            </a:r>
            <a:endParaRPr lang="en-US" sz="1050" dirty="0"/>
          </a:p>
        </p:txBody>
      </p:sp>
      <p:sp>
        <p:nvSpPr>
          <p:cNvPr id="20" name="Text 18"/>
          <p:cNvSpPr/>
          <p:nvPr/>
        </p:nvSpPr>
        <p:spPr>
          <a:xfrm>
            <a:off x="1396266" y="2523744"/>
            <a:ext cx="1658676" cy="237744"/>
          </a:xfrm>
          <a:prstGeom prst="rect">
            <a:avLst/>
          </a:prstGeom>
          <a:noFill/>
          <a:ln/>
        </p:spPr>
        <p:txBody>
          <a:bodyPr wrap="square" lIns="0" tIns="0" rIns="0" bIns="0" rtlCol="0" anchor="t"/>
          <a:lstStyle/>
          <a:p>
            <a:pPr marL="0" indent="0" algn="ctr">
              <a:lnSpc>
                <a:spcPct val="106000"/>
              </a:lnSpc>
              <a:buNone/>
            </a:pPr>
            <a:r>
              <a:rPr lang="en-US" sz="1050" dirty="0">
                <a:solidFill>
                  <a:srgbClr val="7A8894"/>
                </a:solidFill>
                <a:latin typeface="Courier New" pitchFamily="34" charset="0"/>
                <a:ea typeface="Courier New" pitchFamily="34" charset="-122"/>
                <a:cs typeface="Courier New" pitchFamily="34" charset="-120"/>
              </a:rPr>
              <a:t>[4:20]</a:t>
            </a:r>
            <a:endParaRPr lang="en-US" sz="1050" dirty="0"/>
          </a:p>
        </p:txBody>
      </p:sp>
      <p:sp>
        <p:nvSpPr>
          <p:cNvPr id="21" name="Text 19"/>
          <p:cNvSpPr/>
          <p:nvPr/>
        </p:nvSpPr>
        <p:spPr>
          <a:xfrm>
            <a:off x="3054942" y="2523744"/>
            <a:ext cx="1326941" cy="237744"/>
          </a:xfrm>
          <a:prstGeom prst="rect">
            <a:avLst/>
          </a:prstGeom>
          <a:noFill/>
          <a:ln/>
        </p:spPr>
        <p:txBody>
          <a:bodyPr wrap="square" lIns="0" tIns="0" rIns="0" bIns="0" rtlCol="0" anchor="t"/>
          <a:lstStyle/>
          <a:p>
            <a:pPr marL="0" indent="0" algn="ctr">
              <a:lnSpc>
                <a:spcPct val="106000"/>
              </a:lnSpc>
              <a:buNone/>
            </a:pPr>
            <a:r>
              <a:rPr lang="en-US" sz="1050" dirty="0">
                <a:solidFill>
                  <a:srgbClr val="7A8894"/>
                </a:solidFill>
                <a:latin typeface="Courier New" pitchFamily="34" charset="0"/>
                <a:ea typeface="Courier New" pitchFamily="34" charset="-122"/>
                <a:cs typeface="Courier New" pitchFamily="34" charset="-120"/>
              </a:rPr>
              <a:t>[20:32]</a:t>
            </a:r>
            <a:endParaRPr lang="en-US" sz="1050" dirty="0"/>
          </a:p>
        </p:txBody>
      </p:sp>
      <p:sp>
        <p:nvSpPr>
          <p:cNvPr id="22" name="Text 20"/>
          <p:cNvSpPr/>
          <p:nvPr/>
        </p:nvSpPr>
        <p:spPr>
          <a:xfrm>
            <a:off x="4381883" y="2523744"/>
            <a:ext cx="5584209" cy="237744"/>
          </a:xfrm>
          <a:prstGeom prst="rect">
            <a:avLst/>
          </a:prstGeom>
          <a:noFill/>
          <a:ln/>
        </p:spPr>
        <p:txBody>
          <a:bodyPr wrap="square" lIns="0" tIns="0" rIns="0" bIns="0" rtlCol="0" anchor="t"/>
          <a:lstStyle/>
          <a:p>
            <a:pPr marL="0" indent="0" algn="ctr">
              <a:lnSpc>
                <a:spcPct val="106000"/>
              </a:lnSpc>
              <a:buNone/>
            </a:pPr>
            <a:r>
              <a:rPr lang="en-US" sz="1050" dirty="0">
                <a:solidFill>
                  <a:srgbClr val="7A8894"/>
                </a:solidFill>
                <a:latin typeface="Courier New" pitchFamily="34" charset="0"/>
                <a:ea typeface="Courier New" pitchFamily="34" charset="-122"/>
                <a:cs typeface="Courier New" pitchFamily="34" charset="-120"/>
              </a:rPr>
              <a:t>[32 : len-16]</a:t>
            </a:r>
            <a:endParaRPr lang="en-US" sz="1050" dirty="0"/>
          </a:p>
        </p:txBody>
      </p:sp>
      <p:sp>
        <p:nvSpPr>
          <p:cNvPr id="23" name="Text 21"/>
          <p:cNvSpPr/>
          <p:nvPr/>
        </p:nvSpPr>
        <p:spPr>
          <a:xfrm>
            <a:off x="9966091" y="2523744"/>
            <a:ext cx="1658676" cy="237744"/>
          </a:xfrm>
          <a:prstGeom prst="rect">
            <a:avLst/>
          </a:prstGeom>
          <a:noFill/>
          <a:ln/>
        </p:spPr>
        <p:txBody>
          <a:bodyPr wrap="square" lIns="0" tIns="0" rIns="0" bIns="0" rtlCol="0" anchor="t"/>
          <a:lstStyle/>
          <a:p>
            <a:pPr marL="0" indent="0" algn="ctr">
              <a:lnSpc>
                <a:spcPct val="106000"/>
              </a:lnSpc>
              <a:buNone/>
            </a:pPr>
            <a:r>
              <a:rPr lang="en-US" sz="1050" dirty="0">
                <a:solidFill>
                  <a:srgbClr val="7A8894"/>
                </a:solidFill>
                <a:latin typeface="Courier New" pitchFamily="34" charset="0"/>
                <a:ea typeface="Courier New" pitchFamily="34" charset="-122"/>
                <a:cs typeface="Courier New" pitchFamily="34" charset="-120"/>
              </a:rPr>
              <a:t>[len-16 :]</a:t>
            </a:r>
            <a:endParaRPr lang="en-US" sz="1050" dirty="0"/>
          </a:p>
        </p:txBody>
      </p:sp>
      <p:sp>
        <p:nvSpPr>
          <p:cNvPr id="24" name="Shape 22"/>
          <p:cNvSpPr/>
          <p:nvPr/>
        </p:nvSpPr>
        <p:spPr>
          <a:xfrm>
            <a:off x="566928" y="2962656"/>
            <a:ext cx="2624328" cy="1371600"/>
          </a:xfrm>
          <a:prstGeom prst="roundRect">
            <a:avLst>
              <a:gd name="adj" fmla="val 4000"/>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25" name="Text 23"/>
          <p:cNvSpPr/>
          <p:nvPr/>
        </p:nvSpPr>
        <p:spPr>
          <a:xfrm>
            <a:off x="804672" y="3127248"/>
            <a:ext cx="2148840" cy="384048"/>
          </a:xfrm>
          <a:prstGeom prst="rect">
            <a:avLst/>
          </a:prstGeom>
          <a:noFill/>
          <a:ln/>
        </p:spPr>
        <p:txBody>
          <a:bodyPr wrap="square" lIns="0" tIns="0" rIns="0" bIns="0" rtlCol="0" anchor="t"/>
          <a:lstStyle/>
          <a:p>
            <a:pPr marL="0" indent="0" algn="l">
              <a:lnSpc>
                <a:spcPct val="106000"/>
              </a:lnSpc>
              <a:buNone/>
            </a:pPr>
            <a:r>
              <a:rPr lang="en-US" sz="2000" b="1" dirty="0">
                <a:solidFill>
                  <a:srgbClr val="16212E"/>
                </a:solidFill>
                <a:latin typeface="Calibri" pitchFamily="34" charset="0"/>
                <a:ea typeface="Calibri" pitchFamily="34" charset="-122"/>
                <a:cs typeface="Calibri" pitchFamily="34" charset="-120"/>
              </a:rPr>
              <a:t>48 bytes</a:t>
            </a:r>
            <a:endParaRPr lang="en-US" sz="2000" dirty="0"/>
          </a:p>
        </p:txBody>
      </p:sp>
      <p:sp>
        <p:nvSpPr>
          <p:cNvPr id="26" name="Text 24"/>
          <p:cNvSpPr/>
          <p:nvPr/>
        </p:nvSpPr>
        <p:spPr>
          <a:xfrm>
            <a:off x="804672" y="3547872"/>
            <a:ext cx="2148840" cy="713232"/>
          </a:xfrm>
          <a:prstGeom prst="rect">
            <a:avLst/>
          </a:prstGeom>
          <a:noFill/>
          <a:ln/>
        </p:spPr>
        <p:txBody>
          <a:bodyPr wrap="square" lIns="0" tIns="0" rIns="0" bIns="0" rtlCol="0" anchor="t"/>
          <a:lstStyle/>
          <a:p>
            <a:pPr marL="0" indent="0" algn="l">
              <a:lnSpc>
                <a:spcPct val="114000"/>
              </a:lnSpc>
              <a:buNone/>
            </a:pPr>
            <a:r>
              <a:rPr lang="en-US" sz="1150" dirty="0">
                <a:solidFill>
                  <a:srgbClr val="3D4C5A"/>
                </a:solidFill>
                <a:latin typeface="Calibri" pitchFamily="34" charset="0"/>
                <a:ea typeface="Calibri" pitchFamily="34" charset="-122"/>
                <a:cs typeface="Calibri" pitchFamily="34" charset="-120"/>
              </a:rPr>
              <a:t>Minimum valid length: 4 + 16 + 12 + 16. Anything shorter is rejected before any crypto runs.</a:t>
            </a:r>
            <a:endParaRPr lang="en-US" sz="1150" dirty="0"/>
          </a:p>
        </p:txBody>
      </p:sp>
      <p:sp>
        <p:nvSpPr>
          <p:cNvPr id="27" name="Shape 25"/>
          <p:cNvSpPr/>
          <p:nvPr/>
        </p:nvSpPr>
        <p:spPr>
          <a:xfrm>
            <a:off x="3392424" y="2962656"/>
            <a:ext cx="2624328" cy="1371600"/>
          </a:xfrm>
          <a:prstGeom prst="roundRect">
            <a:avLst>
              <a:gd name="adj" fmla="val 4000"/>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28" name="Text 26"/>
          <p:cNvSpPr/>
          <p:nvPr/>
        </p:nvSpPr>
        <p:spPr>
          <a:xfrm>
            <a:off x="3630168" y="3127248"/>
            <a:ext cx="2148840" cy="384048"/>
          </a:xfrm>
          <a:prstGeom prst="rect">
            <a:avLst/>
          </a:prstGeom>
          <a:noFill/>
          <a:ln/>
        </p:spPr>
        <p:txBody>
          <a:bodyPr wrap="square" lIns="0" tIns="0" rIns="0" bIns="0" rtlCol="0" anchor="t"/>
          <a:lstStyle/>
          <a:p>
            <a:pPr marL="0" indent="0" algn="l">
              <a:lnSpc>
                <a:spcPct val="106000"/>
              </a:lnSpc>
              <a:buNone/>
            </a:pPr>
            <a:r>
              <a:rPr lang="en-US" sz="2000" b="1" dirty="0">
                <a:solidFill>
                  <a:srgbClr val="16212E"/>
                </a:solidFill>
                <a:latin typeface="Calibri" pitchFamily="34" charset="0"/>
                <a:ea typeface="Calibri" pitchFamily="34" charset="-122"/>
                <a:cs typeface="Calibri" pitchFamily="34" charset="-120"/>
              </a:rPr>
              <a:t>+33%</a:t>
            </a:r>
            <a:endParaRPr lang="en-US" sz="2000" dirty="0"/>
          </a:p>
        </p:txBody>
      </p:sp>
      <p:sp>
        <p:nvSpPr>
          <p:cNvPr id="29" name="Text 27"/>
          <p:cNvSpPr/>
          <p:nvPr/>
        </p:nvSpPr>
        <p:spPr>
          <a:xfrm>
            <a:off x="3630168" y="3547872"/>
            <a:ext cx="2148840" cy="713232"/>
          </a:xfrm>
          <a:prstGeom prst="rect">
            <a:avLst/>
          </a:prstGeom>
          <a:noFill/>
          <a:ln/>
        </p:spPr>
        <p:txBody>
          <a:bodyPr wrap="square" lIns="0" tIns="0" rIns="0" bIns="0" rtlCol="0" anchor="t"/>
          <a:lstStyle/>
          <a:p>
            <a:pPr marL="0" indent="0" algn="l">
              <a:lnSpc>
                <a:spcPct val="114000"/>
              </a:lnSpc>
              <a:buNone/>
            </a:pPr>
            <a:r>
              <a:rPr lang="en-US" sz="1150" dirty="0">
                <a:solidFill>
                  <a:srgbClr val="3D4C5A"/>
                </a:solidFill>
                <a:latin typeface="Calibri" pitchFamily="34" charset="0"/>
                <a:ea typeface="Calibri" pitchFamily="34" charset="-122"/>
                <a:cs typeface="Calibri" pitchFamily="34" charset="-120"/>
              </a:rPr>
              <a:t>base64 overhead. A 100-byte JSON body leaves as roughly 200 characters on the wire.</a:t>
            </a:r>
            <a:endParaRPr lang="en-US" sz="1150" dirty="0"/>
          </a:p>
        </p:txBody>
      </p:sp>
      <p:sp>
        <p:nvSpPr>
          <p:cNvPr id="30" name="Shape 28"/>
          <p:cNvSpPr/>
          <p:nvPr/>
        </p:nvSpPr>
        <p:spPr>
          <a:xfrm>
            <a:off x="6217920" y="2962656"/>
            <a:ext cx="2624328" cy="1371600"/>
          </a:xfrm>
          <a:prstGeom prst="roundRect">
            <a:avLst>
              <a:gd name="adj" fmla="val 4000"/>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31" name="Text 29"/>
          <p:cNvSpPr/>
          <p:nvPr/>
        </p:nvSpPr>
        <p:spPr>
          <a:xfrm>
            <a:off x="6455664" y="3127248"/>
            <a:ext cx="2148840" cy="384048"/>
          </a:xfrm>
          <a:prstGeom prst="rect">
            <a:avLst/>
          </a:prstGeom>
          <a:noFill/>
          <a:ln/>
        </p:spPr>
        <p:txBody>
          <a:bodyPr wrap="square" lIns="0" tIns="0" rIns="0" bIns="0" rtlCol="0" anchor="t"/>
          <a:lstStyle/>
          <a:p>
            <a:pPr marL="0" indent="0" algn="l">
              <a:lnSpc>
                <a:spcPct val="106000"/>
              </a:lnSpc>
              <a:buNone/>
            </a:pPr>
            <a:r>
              <a:rPr lang="en-US" sz="2000" b="1" dirty="0">
                <a:solidFill>
                  <a:srgbClr val="16212E"/>
                </a:solidFill>
                <a:latin typeface="Calibri" pitchFamily="34" charset="0"/>
                <a:ea typeface="Calibri" pitchFamily="34" charset="-122"/>
                <a:cs typeface="Calibri" pitchFamily="34" charset="-120"/>
              </a:rPr>
              <a:t>3 of 5 public</a:t>
            </a:r>
            <a:endParaRPr lang="en-US" sz="2000" dirty="0"/>
          </a:p>
        </p:txBody>
      </p:sp>
      <p:sp>
        <p:nvSpPr>
          <p:cNvPr id="32" name="Text 30"/>
          <p:cNvSpPr/>
          <p:nvPr/>
        </p:nvSpPr>
        <p:spPr>
          <a:xfrm>
            <a:off x="6455664" y="3547872"/>
            <a:ext cx="2148840" cy="713232"/>
          </a:xfrm>
          <a:prstGeom prst="rect">
            <a:avLst/>
          </a:prstGeom>
          <a:noFill/>
          <a:ln/>
        </p:spPr>
        <p:txBody>
          <a:bodyPr wrap="square" lIns="0" tIns="0" rIns="0" bIns="0" rtlCol="0" anchor="t"/>
          <a:lstStyle/>
          <a:p>
            <a:pPr marL="0" indent="0" algn="l">
              <a:lnSpc>
                <a:spcPct val="114000"/>
              </a:lnSpc>
              <a:buNone/>
            </a:pPr>
            <a:r>
              <a:rPr lang="en-US" sz="1150" dirty="0">
                <a:solidFill>
                  <a:srgbClr val="3D4C5A"/>
                </a:solidFill>
                <a:latin typeface="Calibri" pitchFamily="34" charset="0"/>
                <a:ea typeface="Calibri" pitchFamily="34" charset="-122"/>
                <a:cs typeface="Calibri" pitchFamily="34" charset="-120"/>
              </a:rPr>
              <a:t>Header, salt and nonce are not secrets. The receiver cannot rebuild the key without them.</a:t>
            </a:r>
            <a:endParaRPr lang="en-US" sz="1150" dirty="0"/>
          </a:p>
        </p:txBody>
      </p:sp>
      <p:sp>
        <p:nvSpPr>
          <p:cNvPr id="33" name="Shape 31"/>
          <p:cNvSpPr/>
          <p:nvPr/>
        </p:nvSpPr>
        <p:spPr>
          <a:xfrm>
            <a:off x="9043416" y="2962656"/>
            <a:ext cx="2624328" cy="1371600"/>
          </a:xfrm>
          <a:prstGeom prst="roundRect">
            <a:avLst>
              <a:gd name="adj" fmla="val 4000"/>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34" name="Text 32"/>
          <p:cNvSpPr/>
          <p:nvPr/>
        </p:nvSpPr>
        <p:spPr>
          <a:xfrm>
            <a:off x="9281160" y="3127248"/>
            <a:ext cx="2148840" cy="384048"/>
          </a:xfrm>
          <a:prstGeom prst="rect">
            <a:avLst/>
          </a:prstGeom>
          <a:noFill/>
          <a:ln/>
        </p:spPr>
        <p:txBody>
          <a:bodyPr wrap="square" lIns="0" tIns="0" rIns="0" bIns="0" rtlCol="0" anchor="t"/>
          <a:lstStyle/>
          <a:p>
            <a:pPr marL="0" indent="0" algn="l">
              <a:lnSpc>
                <a:spcPct val="106000"/>
              </a:lnSpc>
              <a:buNone/>
            </a:pPr>
            <a:r>
              <a:rPr lang="en-US" sz="2000" b="1" dirty="0">
                <a:solidFill>
                  <a:srgbClr val="16212E"/>
                </a:solidFill>
                <a:latin typeface="Calibri" pitchFamily="34" charset="0"/>
                <a:ea typeface="Calibri" pitchFamily="34" charset="-122"/>
                <a:cs typeface="Calibri" pitchFamily="34" charset="-120"/>
              </a:rPr>
              <a:t>~64 GiB</a:t>
            </a:r>
            <a:endParaRPr lang="en-US" sz="2000" dirty="0"/>
          </a:p>
        </p:txBody>
      </p:sp>
      <p:sp>
        <p:nvSpPr>
          <p:cNvPr id="35" name="Text 33"/>
          <p:cNvSpPr/>
          <p:nvPr/>
        </p:nvSpPr>
        <p:spPr>
          <a:xfrm>
            <a:off x="9281160" y="3547872"/>
            <a:ext cx="2148840" cy="713232"/>
          </a:xfrm>
          <a:prstGeom prst="rect">
            <a:avLst/>
          </a:prstGeom>
          <a:noFill/>
          <a:ln/>
        </p:spPr>
        <p:txBody>
          <a:bodyPr wrap="square" lIns="0" tIns="0" rIns="0" bIns="0" rtlCol="0" anchor="t"/>
          <a:lstStyle/>
          <a:p>
            <a:pPr marL="0" indent="0" algn="l">
              <a:lnSpc>
                <a:spcPct val="114000"/>
              </a:lnSpc>
              <a:buNone/>
            </a:pPr>
            <a:r>
              <a:rPr lang="en-US" sz="1150" dirty="0">
                <a:solidFill>
                  <a:srgbClr val="3D4C5A"/>
                </a:solidFill>
                <a:latin typeface="Calibri" pitchFamily="34" charset="0"/>
                <a:ea typeface="Calibri" pitchFamily="34" charset="-122"/>
                <a:cs typeface="Calibri" pitchFamily="34" charset="-120"/>
              </a:rPr>
              <a:t>GCM’s hard limit per key/nonce pair. Far above our payloads — but a reason not to stream video through this.</a:t>
            </a:r>
            <a:endParaRPr lang="en-US" sz="1150" dirty="0"/>
          </a:p>
        </p:txBody>
      </p:sp>
      <p:sp>
        <p:nvSpPr>
          <p:cNvPr id="38" name="Text 36"/>
          <p:cNvSpPr/>
          <p:nvPr/>
        </p:nvSpPr>
        <p:spPr>
          <a:xfrm>
            <a:off x="877824" y="4754880"/>
            <a:ext cx="1737360" cy="329184"/>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OPEN DECISION</a:t>
            </a:r>
            <a:endParaRPr lang="en-US" sz="1050" dirty="0"/>
          </a:p>
        </p:txBody>
      </p:sp>
      <p:sp>
        <p:nvSpPr>
          <p:cNvPr id="41" name="Text 39"/>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2 · The implementation</a:t>
            </a:r>
            <a:endParaRPr lang="en-US" sz="950" dirty="0"/>
          </a:p>
        </p:txBody>
      </p:sp>
      <p:sp>
        <p:nvSpPr>
          <p:cNvPr id="42" name="Text 40"/>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OUR CALL PATH</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Mars / GetPage, end to end</a:t>
            </a:r>
            <a:endParaRPr lang="en-US" sz="3100" dirty="0"/>
          </a:p>
        </p:txBody>
      </p:sp>
      <p:sp>
        <p:nvSpPr>
          <p:cNvPr id="4" name="Shape 2"/>
          <p:cNvSpPr/>
          <p:nvPr/>
        </p:nvSpPr>
        <p:spPr>
          <a:xfrm>
            <a:off x="566928" y="1591056"/>
            <a:ext cx="5230368" cy="3054096"/>
          </a:xfrm>
          <a:prstGeom prst="roundRect">
            <a:avLst>
              <a:gd name="adj" fmla="val 1796"/>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5" name="Shape 3"/>
          <p:cNvSpPr/>
          <p:nvPr/>
        </p:nvSpPr>
        <p:spPr>
          <a:xfrm>
            <a:off x="877824" y="1792224"/>
            <a:ext cx="1234440" cy="310896"/>
          </a:xfrm>
          <a:prstGeom prst="roundRect">
            <a:avLst>
              <a:gd name="adj" fmla="val 147059"/>
            </a:avLst>
          </a:prstGeom>
          <a:solidFill>
            <a:srgbClr val="2C3E50"/>
          </a:solidFill>
          <a:ln w="6350">
            <a:solidFill>
              <a:srgbClr val="2C3E50"/>
            </a:solidFill>
            <a:prstDash val="solid"/>
          </a:ln>
        </p:spPr>
        <p:txBody>
          <a:bodyPr/>
          <a:lstStyle/>
          <a:p>
            <a:endParaRPr lang="en-US"/>
          </a:p>
        </p:txBody>
      </p:sp>
      <p:sp>
        <p:nvSpPr>
          <p:cNvPr id="6" name="Text 4"/>
          <p:cNvSpPr/>
          <p:nvPr/>
        </p:nvSpPr>
        <p:spPr>
          <a:xfrm>
            <a:off x="877824" y="1792224"/>
            <a:ext cx="1234440" cy="310896"/>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CLIENT</a:t>
            </a:r>
            <a:endParaRPr lang="en-US" sz="1050" dirty="0"/>
          </a:p>
        </p:txBody>
      </p:sp>
      <p:sp>
        <p:nvSpPr>
          <p:cNvPr id="7" name="Text 5"/>
          <p:cNvSpPr/>
          <p:nvPr/>
        </p:nvSpPr>
        <p:spPr>
          <a:xfrm>
            <a:off x="877824" y="2249424"/>
            <a:ext cx="4608576" cy="1691640"/>
          </a:xfrm>
          <a:prstGeom prst="rect">
            <a:avLst/>
          </a:prstGeom>
          <a:noFill/>
          <a:ln/>
        </p:spPr>
        <p:txBody>
          <a:bodyPr wrap="square" lIns="0" tIns="0" rIns="0" bIns="0" rtlCol="0" anchor="t"/>
          <a:lstStyle/>
          <a:p>
            <a:pPr marL="0" indent="0" algn="l">
              <a:lnSpc>
                <a:spcPct val="122000"/>
              </a:lnSpc>
              <a:buNone/>
            </a:pPr>
            <a:r>
              <a:rPr lang="en-US" sz="1200" dirty="0">
                <a:solidFill>
                  <a:srgbClr val="16212E"/>
                </a:solidFill>
                <a:latin typeface="Courier New" pitchFamily="34" charset="0"/>
                <a:ea typeface="Courier New" pitchFamily="34" charset="-122"/>
                <a:cs typeface="Courier New" pitchFamily="34" charset="-120"/>
              </a:rPr>
              <a:t>key := vault.Get("SERVICE_ENC_KEY")</a:t>
            </a:r>
            <a:endParaRPr lang="en-US" sz="1200" dirty="0"/>
          </a:p>
          <a:p>
            <a:pPr marL="0" indent="0" algn="l">
              <a:lnSpc>
                <a:spcPct val="122000"/>
              </a:lnSpc>
              <a:buNone/>
            </a:pPr>
            <a:r>
              <a:rPr lang="en-US" sz="1200" dirty="0">
                <a:solidFill>
                  <a:srgbClr val="16212E"/>
                </a:solidFill>
                <a:latin typeface="Courier New" pitchFamily="34" charset="0"/>
                <a:ea typeface="Courier New" pitchFamily="34" charset="-122"/>
                <a:cs typeface="Courier New" pitchFamily="34" charset="-120"/>
              </a:rPr>
              <a:t>plain := `{"userId":42}`</a:t>
            </a:r>
            <a:endParaRPr lang="en-US" sz="1200" dirty="0"/>
          </a:p>
          <a:p>
            <a:pPr marL="0" indent="0" algn="l">
              <a:lnSpc>
                <a:spcPct val="122000"/>
              </a:lnSpc>
              <a:buNone/>
            </a:pPr>
            <a:endParaRPr lang="en-US" sz="1200" dirty="0"/>
          </a:p>
          <a:p>
            <a:pPr marL="0" indent="0" algn="l">
              <a:lnSpc>
                <a:spcPct val="122000"/>
              </a:lnSpc>
              <a:buNone/>
            </a:pPr>
            <a:r>
              <a:rPr lang="en-US" sz="1200" dirty="0">
                <a:solidFill>
                  <a:srgbClr val="16212E"/>
                </a:solidFill>
                <a:latin typeface="Courier New" pitchFamily="34" charset="0"/>
                <a:ea typeface="Courier New" pitchFamily="34" charset="-122"/>
                <a:cs typeface="Courier New" pitchFamily="34" charset="-120"/>
              </a:rPr>
              <a:t>enc, err := crypto.EncryptGCMWithHKDF(</a:t>
            </a:r>
            <a:endParaRPr lang="en-US" sz="1200" dirty="0"/>
          </a:p>
          <a:p>
            <a:pPr marL="0" indent="0" algn="l">
              <a:lnSpc>
                <a:spcPct val="122000"/>
              </a:lnSpc>
              <a:buNone/>
            </a:pPr>
            <a:r>
              <a:rPr lang="en-US" sz="1200" dirty="0">
                <a:solidFill>
                  <a:srgbClr val="16212E"/>
                </a:solidFill>
                <a:latin typeface="Courier New" pitchFamily="34" charset="0"/>
                <a:ea typeface="Courier New" pitchFamily="34" charset="-122"/>
                <a:cs typeface="Courier New" pitchFamily="34" charset="-120"/>
              </a:rPr>
              <a:t>        key, plain)</a:t>
            </a:r>
            <a:endParaRPr lang="en-US" sz="1200" dirty="0"/>
          </a:p>
          <a:p>
            <a:pPr marL="0" indent="0" algn="l">
              <a:lnSpc>
                <a:spcPct val="122000"/>
              </a:lnSpc>
              <a:buNone/>
            </a:pPr>
            <a:endParaRPr lang="en-US" sz="1200" dirty="0"/>
          </a:p>
          <a:p>
            <a:pPr marL="0" indent="0" algn="l">
              <a:lnSpc>
                <a:spcPct val="122000"/>
              </a:lnSpc>
              <a:buNone/>
            </a:pPr>
            <a:r>
              <a:rPr lang="en-US" sz="1200" dirty="0">
                <a:solidFill>
                  <a:srgbClr val="16212E"/>
                </a:solidFill>
                <a:latin typeface="Courier New" pitchFamily="34" charset="0"/>
                <a:ea typeface="Courier New" pitchFamily="34" charset="-122"/>
                <a:cs typeface="Courier New" pitchFamily="34" charset="-120"/>
              </a:rPr>
              <a:t>// POST /Mars/GetPage</a:t>
            </a:r>
            <a:endParaRPr lang="en-US" sz="1200" dirty="0"/>
          </a:p>
          <a:p>
            <a:pPr marL="0" indent="0" algn="l">
              <a:lnSpc>
                <a:spcPct val="122000"/>
              </a:lnSpc>
              <a:buNone/>
            </a:pPr>
            <a:r>
              <a:rPr lang="en-US" sz="1200" dirty="0">
                <a:solidFill>
                  <a:srgbClr val="16212E"/>
                </a:solidFill>
                <a:latin typeface="Courier New" pitchFamily="34" charset="0"/>
                <a:ea typeface="Courier New" pitchFamily="34" charset="-122"/>
                <a:cs typeface="Courier New" pitchFamily="34" charset="-120"/>
              </a:rPr>
              <a:t>// {"payload": enc}</a:t>
            </a:r>
            <a:endParaRPr lang="en-US" sz="1200" dirty="0"/>
          </a:p>
        </p:txBody>
      </p:sp>
      <p:sp>
        <p:nvSpPr>
          <p:cNvPr id="8" name="Text 6"/>
          <p:cNvSpPr/>
          <p:nvPr/>
        </p:nvSpPr>
        <p:spPr>
          <a:xfrm>
            <a:off x="877824" y="3968496"/>
            <a:ext cx="4608576" cy="603504"/>
          </a:xfrm>
          <a:prstGeom prst="rect">
            <a:avLst/>
          </a:prstGeom>
          <a:noFill/>
          <a:ln/>
        </p:spPr>
        <p:txBody>
          <a:bodyPr wrap="square" lIns="0" tIns="0" rIns="0" bIns="0" rtlCol="0" anchor="ctr"/>
          <a:lstStyle/>
          <a:p>
            <a:pPr marL="342900" indent="-342900">
              <a:lnSpc>
                <a:spcPct val="102000"/>
              </a:lnSpc>
              <a:spcAft>
                <a:spcPts val="400"/>
              </a:spcAft>
              <a:buSzPct val="100000"/>
              <a:buChar char="•"/>
            </a:pPr>
            <a:r>
              <a:rPr lang="en-US" sz="1150" dirty="0">
                <a:solidFill>
                  <a:srgbClr val="7A8894"/>
                </a:solidFill>
                <a:latin typeface="Calibri" pitchFamily="34" charset="0"/>
                <a:ea typeface="Calibri" pitchFamily="34" charset="-122"/>
                <a:cs typeface="Calibri" pitchFamily="34" charset="-120"/>
              </a:rPr>
              <a:t>Vault fetched once at startup, not per request</a:t>
            </a:r>
            <a:endParaRPr lang="en-US" sz="1150" dirty="0"/>
          </a:p>
          <a:p>
            <a:pPr marL="342900" indent="-342900">
              <a:lnSpc>
                <a:spcPct val="102000"/>
              </a:lnSpc>
              <a:spcAft>
                <a:spcPts val="400"/>
              </a:spcAft>
              <a:buSzPct val="100000"/>
              <a:buChar char="•"/>
            </a:pPr>
            <a:r>
              <a:rPr lang="en-US" sz="1150" dirty="0">
                <a:solidFill>
                  <a:srgbClr val="7A8894"/>
                </a:solidFill>
                <a:latin typeface="Calibri" pitchFamily="34" charset="0"/>
                <a:ea typeface="Calibri" pitchFamily="34" charset="-122"/>
                <a:cs typeface="Calibri" pitchFamily="34" charset="-120"/>
              </a:rPr>
              <a:t>Salt, nonce and derived key are all created inside the library</a:t>
            </a:r>
            <a:endParaRPr lang="en-US" sz="1150" dirty="0"/>
          </a:p>
        </p:txBody>
      </p:sp>
      <p:sp>
        <p:nvSpPr>
          <p:cNvPr id="9" name="Shape 7"/>
          <p:cNvSpPr/>
          <p:nvPr/>
        </p:nvSpPr>
        <p:spPr>
          <a:xfrm>
            <a:off x="6126480" y="1591056"/>
            <a:ext cx="5230368" cy="3054096"/>
          </a:xfrm>
          <a:prstGeom prst="roundRect">
            <a:avLst>
              <a:gd name="adj" fmla="val 1796"/>
            </a:avLst>
          </a:prstGeom>
          <a:solidFill>
            <a:srgbClr val="E2F4EF"/>
          </a:solidFill>
          <a:ln w="6350">
            <a:solidFill>
              <a:srgbClr val="E2F4EF"/>
            </a:solidFill>
            <a:prstDash val="solid"/>
          </a:ln>
          <a:effectLst>
            <a:outerShdw blurRad="114300" dist="25400" dir="5400000" algn="bl" rotWithShape="0">
              <a:srgbClr val="9FB0BF">
                <a:alpha val="25000"/>
              </a:srgbClr>
            </a:outerShdw>
          </a:effectLst>
        </p:spPr>
        <p:txBody>
          <a:bodyPr/>
          <a:lstStyle/>
          <a:p>
            <a:endParaRPr lang="en-US"/>
          </a:p>
        </p:txBody>
      </p:sp>
      <p:sp>
        <p:nvSpPr>
          <p:cNvPr id="10" name="Shape 8"/>
          <p:cNvSpPr/>
          <p:nvPr/>
        </p:nvSpPr>
        <p:spPr>
          <a:xfrm>
            <a:off x="6437376" y="1792224"/>
            <a:ext cx="1280160" cy="310896"/>
          </a:xfrm>
          <a:prstGeom prst="roundRect">
            <a:avLst>
              <a:gd name="adj" fmla="val 147059"/>
            </a:avLst>
          </a:prstGeom>
          <a:solidFill>
            <a:srgbClr val="2BA88C"/>
          </a:solidFill>
          <a:ln w="6350">
            <a:solidFill>
              <a:srgbClr val="2BA88C"/>
            </a:solidFill>
            <a:prstDash val="solid"/>
          </a:ln>
        </p:spPr>
        <p:txBody>
          <a:bodyPr/>
          <a:lstStyle/>
          <a:p>
            <a:endParaRPr lang="en-US"/>
          </a:p>
        </p:txBody>
      </p:sp>
      <p:sp>
        <p:nvSpPr>
          <p:cNvPr id="11" name="Text 9"/>
          <p:cNvSpPr/>
          <p:nvPr/>
        </p:nvSpPr>
        <p:spPr>
          <a:xfrm>
            <a:off x="6437376" y="1792224"/>
            <a:ext cx="1280160" cy="310896"/>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SERVER</a:t>
            </a:r>
            <a:endParaRPr lang="en-US" sz="1050" dirty="0"/>
          </a:p>
        </p:txBody>
      </p:sp>
      <p:sp>
        <p:nvSpPr>
          <p:cNvPr id="12" name="Text 10"/>
          <p:cNvSpPr/>
          <p:nvPr/>
        </p:nvSpPr>
        <p:spPr>
          <a:xfrm>
            <a:off x="6437376" y="2249424"/>
            <a:ext cx="4608576" cy="1691640"/>
          </a:xfrm>
          <a:prstGeom prst="rect">
            <a:avLst/>
          </a:prstGeom>
          <a:noFill/>
          <a:ln/>
        </p:spPr>
        <p:txBody>
          <a:bodyPr wrap="square" lIns="0" tIns="0" rIns="0" bIns="0" rtlCol="0" anchor="t"/>
          <a:lstStyle/>
          <a:p>
            <a:pPr marL="0" indent="0" algn="l">
              <a:lnSpc>
                <a:spcPct val="122000"/>
              </a:lnSpc>
              <a:buNone/>
            </a:pPr>
            <a:r>
              <a:rPr lang="en-US" sz="1200" dirty="0">
                <a:solidFill>
                  <a:srgbClr val="16212E"/>
                </a:solidFill>
                <a:latin typeface="Courier New" pitchFamily="34" charset="0"/>
                <a:ea typeface="Courier New" pitchFamily="34" charset="-122"/>
                <a:cs typeface="Courier New" pitchFamily="34" charset="-120"/>
              </a:rPr>
              <a:t>key := vault.Get("SERVICE_ENC_KEY")</a:t>
            </a:r>
            <a:endParaRPr lang="en-US" sz="1200" dirty="0"/>
          </a:p>
          <a:p>
            <a:pPr marL="0" indent="0" algn="l">
              <a:lnSpc>
                <a:spcPct val="122000"/>
              </a:lnSpc>
              <a:buNone/>
            </a:pPr>
            <a:r>
              <a:rPr lang="en-US" sz="1200" dirty="0">
                <a:solidFill>
                  <a:srgbClr val="16212E"/>
                </a:solidFill>
                <a:latin typeface="Courier New" pitchFamily="34" charset="0"/>
                <a:ea typeface="Courier New" pitchFamily="34" charset="-122"/>
                <a:cs typeface="Courier New" pitchFamily="34" charset="-120"/>
              </a:rPr>
              <a:t>enc := req.Body.payload</a:t>
            </a:r>
            <a:endParaRPr lang="en-US" sz="1200" dirty="0"/>
          </a:p>
          <a:p>
            <a:pPr marL="0" indent="0" algn="l">
              <a:lnSpc>
                <a:spcPct val="122000"/>
              </a:lnSpc>
              <a:buNone/>
            </a:pPr>
            <a:endParaRPr lang="en-US" sz="1200" dirty="0"/>
          </a:p>
          <a:p>
            <a:pPr marL="0" indent="0" algn="l">
              <a:lnSpc>
                <a:spcPct val="122000"/>
              </a:lnSpc>
              <a:buNone/>
            </a:pPr>
            <a:r>
              <a:rPr lang="en-US" sz="1200" dirty="0">
                <a:solidFill>
                  <a:srgbClr val="16212E"/>
                </a:solidFill>
                <a:latin typeface="Courier New" pitchFamily="34" charset="0"/>
                <a:ea typeface="Courier New" pitchFamily="34" charset="-122"/>
                <a:cs typeface="Courier New" pitchFamily="34" charset="-120"/>
              </a:rPr>
              <a:t>plain, mode, err := crypto.AutoDecrypt(</a:t>
            </a:r>
            <a:endParaRPr lang="en-US" sz="1200" dirty="0"/>
          </a:p>
          <a:p>
            <a:pPr marL="0" indent="0" algn="l">
              <a:lnSpc>
                <a:spcPct val="122000"/>
              </a:lnSpc>
              <a:buNone/>
            </a:pPr>
            <a:r>
              <a:rPr lang="en-US" sz="1200" dirty="0">
                <a:solidFill>
                  <a:srgbClr val="16212E"/>
                </a:solidFill>
                <a:latin typeface="Courier New" pitchFamily="34" charset="0"/>
                <a:ea typeface="Courier New" pitchFamily="34" charset="-122"/>
                <a:cs typeface="Courier New" pitchFamily="34" charset="-120"/>
              </a:rPr>
              <a:t>        key, enc)</a:t>
            </a:r>
            <a:endParaRPr lang="en-US" sz="1200" dirty="0"/>
          </a:p>
          <a:p>
            <a:pPr marL="0" indent="0" algn="l">
              <a:lnSpc>
                <a:spcPct val="122000"/>
              </a:lnSpc>
              <a:buNone/>
            </a:pPr>
            <a:r>
              <a:rPr lang="en-US" sz="1200" dirty="0">
                <a:solidFill>
                  <a:srgbClr val="16212E"/>
                </a:solidFill>
                <a:latin typeface="Courier New" pitchFamily="34" charset="0"/>
                <a:ea typeface="Courier New" pitchFamily="34" charset="-122"/>
                <a:cs typeface="Courier New" pitchFamily="34" charset="-120"/>
              </a:rPr>
              <a:t>if err != nil {</a:t>
            </a:r>
            <a:endParaRPr lang="en-US" sz="1200" dirty="0"/>
          </a:p>
          <a:p>
            <a:pPr marL="0" indent="0" algn="l">
              <a:lnSpc>
                <a:spcPct val="122000"/>
              </a:lnSpc>
              <a:buNone/>
            </a:pPr>
            <a:r>
              <a:rPr lang="en-US" sz="1200" dirty="0">
                <a:solidFill>
                  <a:srgbClr val="16212E"/>
                </a:solidFill>
                <a:latin typeface="Courier New" pitchFamily="34" charset="0"/>
                <a:ea typeface="Courier New" pitchFamily="34" charset="-122"/>
                <a:cs typeface="Courier New" pitchFamily="34" charset="-120"/>
              </a:rPr>
              <a:t>        // 400 or 401 — log the event,</a:t>
            </a:r>
            <a:endParaRPr lang="en-US" sz="1200" dirty="0"/>
          </a:p>
          <a:p>
            <a:pPr marL="0" indent="0" algn="l">
              <a:lnSpc>
                <a:spcPct val="122000"/>
              </a:lnSpc>
              <a:buNone/>
            </a:pPr>
            <a:r>
              <a:rPr lang="en-US" sz="1200" dirty="0">
                <a:solidFill>
                  <a:srgbClr val="16212E"/>
                </a:solidFill>
                <a:latin typeface="Courier New" pitchFamily="34" charset="0"/>
                <a:ea typeface="Courier New" pitchFamily="34" charset="-122"/>
                <a:cs typeface="Courier New" pitchFamily="34" charset="-120"/>
              </a:rPr>
              <a:t>        // never the payload</a:t>
            </a:r>
            <a:endParaRPr lang="en-US" sz="1200" dirty="0"/>
          </a:p>
          <a:p>
            <a:pPr marL="0" indent="0" algn="l">
              <a:lnSpc>
                <a:spcPct val="122000"/>
              </a:lnSpc>
              <a:buNone/>
            </a:pPr>
            <a:r>
              <a:rPr lang="en-US" sz="1200" dirty="0">
                <a:solidFill>
                  <a:srgbClr val="16212E"/>
                </a:solidFill>
                <a:latin typeface="Courier New" pitchFamily="34" charset="0"/>
                <a:ea typeface="Courier New" pitchFamily="34" charset="-122"/>
                <a:cs typeface="Courier New" pitchFamily="34" charset="-120"/>
              </a:rPr>
              <a:t>}</a:t>
            </a:r>
            <a:endParaRPr lang="en-US" sz="1200" dirty="0"/>
          </a:p>
        </p:txBody>
      </p:sp>
      <p:sp>
        <p:nvSpPr>
          <p:cNvPr id="13" name="Text 11"/>
          <p:cNvSpPr/>
          <p:nvPr/>
        </p:nvSpPr>
        <p:spPr>
          <a:xfrm>
            <a:off x="6437376" y="3968496"/>
            <a:ext cx="4608576" cy="603504"/>
          </a:xfrm>
          <a:prstGeom prst="rect">
            <a:avLst/>
          </a:prstGeom>
          <a:noFill/>
          <a:ln/>
        </p:spPr>
        <p:txBody>
          <a:bodyPr wrap="square" lIns="0" tIns="0" rIns="0" bIns="0" rtlCol="0" anchor="ctr"/>
          <a:lstStyle/>
          <a:p>
            <a:pPr marL="342900" indent="-342900">
              <a:lnSpc>
                <a:spcPct val="102000"/>
              </a:lnSpc>
              <a:spcAft>
                <a:spcPts val="400"/>
              </a:spcAft>
              <a:buSzPct val="100000"/>
              <a:buChar char="•"/>
            </a:pPr>
            <a:r>
              <a:rPr lang="en-US" sz="1150" dirty="0">
                <a:solidFill>
                  <a:srgbClr val="7A8894"/>
                </a:solidFill>
                <a:latin typeface="Calibri" pitchFamily="34" charset="0"/>
                <a:ea typeface="Calibri" pitchFamily="34" charset="-122"/>
                <a:cs typeface="Calibri" pitchFamily="34" charset="-120"/>
              </a:rPr>
              <a:t>AutoDecrypt reports which mode it used — export that as a metric</a:t>
            </a:r>
            <a:endParaRPr lang="en-US" sz="1150" dirty="0"/>
          </a:p>
          <a:p>
            <a:pPr marL="342900" indent="-342900">
              <a:lnSpc>
                <a:spcPct val="102000"/>
              </a:lnSpc>
              <a:spcAft>
                <a:spcPts val="400"/>
              </a:spcAft>
              <a:buSzPct val="100000"/>
              <a:buChar char="•"/>
            </a:pPr>
            <a:r>
              <a:rPr lang="en-US" sz="1150" dirty="0">
                <a:solidFill>
                  <a:srgbClr val="7A8894"/>
                </a:solidFill>
                <a:latin typeface="Calibri" pitchFamily="34" charset="0"/>
                <a:ea typeface="Calibri" pitchFamily="34" charset="-122"/>
                <a:cs typeface="Calibri" pitchFamily="34" charset="-120"/>
              </a:rPr>
              <a:t>Errors must not tell the caller why verification failed</a:t>
            </a:r>
            <a:endParaRPr lang="en-US" sz="1150" dirty="0"/>
          </a:p>
        </p:txBody>
      </p:sp>
      <p:sp>
        <p:nvSpPr>
          <p:cNvPr id="14" name="Shape 12"/>
          <p:cNvSpPr/>
          <p:nvPr/>
        </p:nvSpPr>
        <p:spPr>
          <a:xfrm>
            <a:off x="566928" y="4809744"/>
            <a:ext cx="11057839" cy="1188720"/>
          </a:xfrm>
          <a:prstGeom prst="roundRect">
            <a:avLst>
              <a:gd name="adj" fmla="val 4615"/>
            </a:avLst>
          </a:prstGeom>
          <a:solidFill>
            <a:srgbClr val="0F1721"/>
          </a:solidFill>
          <a:ln w="6350">
            <a:solidFill>
              <a:srgbClr val="0F1721"/>
            </a:solidFill>
            <a:prstDash val="solid"/>
          </a:ln>
        </p:spPr>
        <p:txBody>
          <a:bodyPr/>
          <a:lstStyle/>
          <a:p>
            <a:endParaRPr lang="en-US"/>
          </a:p>
        </p:txBody>
      </p:sp>
      <p:sp>
        <p:nvSpPr>
          <p:cNvPr id="15" name="Text 13"/>
          <p:cNvSpPr/>
          <p:nvPr/>
        </p:nvSpPr>
        <p:spPr>
          <a:xfrm>
            <a:off x="950976" y="5029200"/>
            <a:ext cx="2743200" cy="292608"/>
          </a:xfrm>
          <a:prstGeom prst="rect">
            <a:avLst/>
          </a:prstGeom>
          <a:noFill/>
          <a:ln/>
        </p:spPr>
        <p:txBody>
          <a:bodyPr wrap="square" lIns="0" tIns="0" rIns="0" bIns="0" rtlCol="0" anchor="t"/>
          <a:lstStyle/>
          <a:p>
            <a:pPr marL="0" indent="0" algn="l">
              <a:lnSpc>
                <a:spcPct val="106000"/>
              </a:lnSpc>
              <a:buNone/>
            </a:pPr>
            <a:r>
              <a:rPr lang="en-US" sz="1500" b="1" dirty="0">
                <a:solidFill>
                  <a:srgbClr val="E8A033"/>
                </a:solidFill>
                <a:latin typeface="Calibri" pitchFamily="34" charset="0"/>
                <a:ea typeface="Calibri" pitchFamily="34" charset="-122"/>
                <a:cs typeface="Calibri" pitchFamily="34" charset="-120"/>
              </a:rPr>
              <a:t>During migration</a:t>
            </a:r>
            <a:endParaRPr lang="en-US" sz="1500" dirty="0"/>
          </a:p>
        </p:txBody>
      </p:sp>
      <p:sp>
        <p:nvSpPr>
          <p:cNvPr id="16" name="Text 14"/>
          <p:cNvSpPr/>
          <p:nvPr/>
        </p:nvSpPr>
        <p:spPr>
          <a:xfrm>
            <a:off x="950976" y="5358384"/>
            <a:ext cx="10234879" cy="512064"/>
          </a:xfrm>
          <a:prstGeom prst="rect">
            <a:avLst/>
          </a:prstGeom>
          <a:noFill/>
          <a:ln/>
        </p:spPr>
        <p:txBody>
          <a:bodyPr wrap="square" lIns="0" tIns="0" rIns="0" bIns="0" rtlCol="0" anchor="t"/>
          <a:lstStyle/>
          <a:p>
            <a:pPr marL="0" indent="0" algn="l">
              <a:lnSpc>
                <a:spcPct val="115000"/>
              </a:lnSpc>
              <a:buNone/>
            </a:pPr>
            <a:r>
              <a:rPr lang="en-US" sz="1300" dirty="0">
                <a:solidFill>
                  <a:srgbClr val="C6D3DE"/>
                </a:solidFill>
                <a:latin typeface="Calibri" pitchFamily="34" charset="0"/>
                <a:ea typeface="Calibri" pitchFamily="34" charset="-122"/>
                <a:cs typeface="Calibri" pitchFamily="34" charset="-120"/>
              </a:rPr>
              <a:t>With CRYPTO_AUTO_DETECT=true the server accepts both the legacy Salted__ payloads and the new format, and re-encrypts on read. That flag is what lets clients migrate one at a time instead of in a single coordinated release.</a:t>
            </a:r>
            <a:endParaRPr lang="en-US" sz="1300" dirty="0"/>
          </a:p>
        </p:txBody>
      </p:sp>
      <p:sp>
        <p:nvSpPr>
          <p:cNvPr id="17" name="Text 15"/>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2 · The implementation</a:t>
            </a:r>
            <a:endParaRPr lang="en-US" sz="950" dirty="0"/>
          </a:p>
        </p:txBody>
      </p:sp>
      <p:sp>
        <p:nvSpPr>
          <p:cNvPr id="18" name="Text 16"/>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D0524E"/>
                </a:solidFill>
                <a:latin typeface="Calibri" pitchFamily="34" charset="0"/>
                <a:ea typeface="Calibri" pitchFamily="34" charset="-122"/>
                <a:cs typeface="Calibri" pitchFamily="34" charset="-120"/>
              </a:rPr>
              <a:t>LIVE</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Demo: three things you have to see once</a:t>
            </a:r>
            <a:endParaRPr lang="en-US" sz="3100" dirty="0"/>
          </a:p>
        </p:txBody>
      </p:sp>
      <p:sp>
        <p:nvSpPr>
          <p:cNvPr id="4" name="Shape 2"/>
          <p:cNvSpPr/>
          <p:nvPr/>
        </p:nvSpPr>
        <p:spPr>
          <a:xfrm>
            <a:off x="566928" y="1664208"/>
            <a:ext cx="3502152" cy="3017520"/>
          </a:xfrm>
          <a:prstGeom prst="roundRect">
            <a:avLst>
              <a:gd name="adj" fmla="val 1818"/>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5" name="Shape 3"/>
          <p:cNvSpPr/>
          <p:nvPr/>
        </p:nvSpPr>
        <p:spPr>
          <a:xfrm>
            <a:off x="841248" y="1865376"/>
            <a:ext cx="457200" cy="457200"/>
          </a:xfrm>
          <a:prstGeom prst="ellipse">
            <a:avLst/>
          </a:prstGeom>
          <a:solidFill>
            <a:srgbClr val="2C3E50"/>
          </a:solidFill>
          <a:ln w="6350">
            <a:solidFill>
              <a:srgbClr val="2C3E50"/>
            </a:solidFill>
            <a:prstDash val="solid"/>
          </a:ln>
        </p:spPr>
        <p:txBody>
          <a:bodyPr/>
          <a:lstStyle/>
          <a:p>
            <a:endParaRPr lang="en-US"/>
          </a:p>
        </p:txBody>
      </p:sp>
      <p:sp>
        <p:nvSpPr>
          <p:cNvPr id="6" name="Text 4"/>
          <p:cNvSpPr/>
          <p:nvPr/>
        </p:nvSpPr>
        <p:spPr>
          <a:xfrm>
            <a:off x="841248" y="186537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841248" y="2432304"/>
            <a:ext cx="2953512" cy="640080"/>
          </a:xfrm>
          <a:prstGeom prst="rect">
            <a:avLst/>
          </a:prstGeom>
          <a:noFill/>
          <a:ln/>
        </p:spPr>
        <p:txBody>
          <a:bodyPr wrap="square" lIns="0" tIns="0" rIns="0" bIns="0" rtlCol="0" anchor="t"/>
          <a:lstStyle/>
          <a:p>
            <a:pPr marL="0" indent="0" algn="l">
              <a:lnSpc>
                <a:spcPct val="108000"/>
              </a:lnSpc>
              <a:buNone/>
            </a:pPr>
            <a:r>
              <a:rPr lang="en-US" sz="1550" b="1" dirty="0">
                <a:solidFill>
                  <a:srgbClr val="16212E"/>
                </a:solidFill>
                <a:latin typeface="Calibri" pitchFamily="34" charset="0"/>
                <a:ea typeface="Calibri" pitchFamily="34" charset="-122"/>
                <a:cs typeface="Calibri" pitchFamily="34" charset="-120"/>
              </a:rPr>
              <a:t>Encrypt the same JSON twice</a:t>
            </a:r>
            <a:endParaRPr lang="en-US" sz="1550" dirty="0"/>
          </a:p>
        </p:txBody>
      </p:sp>
      <p:sp>
        <p:nvSpPr>
          <p:cNvPr id="8" name="Text 6"/>
          <p:cNvSpPr/>
          <p:nvPr/>
        </p:nvSpPr>
        <p:spPr>
          <a:xfrm>
            <a:off x="841248" y="3090672"/>
            <a:ext cx="2953512" cy="658368"/>
          </a:xfrm>
          <a:prstGeom prst="rect">
            <a:avLst/>
          </a:prstGeom>
          <a:noFill/>
          <a:ln/>
        </p:spPr>
        <p:txBody>
          <a:bodyPr wrap="square" lIns="0" tIns="0" rIns="0" bIns="0" rtlCol="0" anchor="t"/>
          <a:lstStyle/>
          <a:p>
            <a:pPr marL="0" indent="0" algn="l">
              <a:lnSpc>
                <a:spcPct val="112000"/>
              </a:lnSpc>
              <a:buNone/>
            </a:pPr>
            <a:r>
              <a:rPr lang="en-US" sz="1250" b="1" dirty="0">
                <a:solidFill>
                  <a:srgbClr val="2C3E50"/>
                </a:solidFill>
                <a:latin typeface="Calibri" pitchFamily="34" charset="0"/>
                <a:ea typeface="Calibri" pitchFamily="34" charset="-122"/>
                <a:cs typeface="Calibri" pitchFamily="34" charset="-120"/>
              </a:rPr>
              <a:t>Two completely different ciphertexts come out.</a:t>
            </a:r>
            <a:endParaRPr lang="en-US" sz="1250" dirty="0"/>
          </a:p>
        </p:txBody>
      </p:sp>
      <p:sp>
        <p:nvSpPr>
          <p:cNvPr id="9" name="Text 7"/>
          <p:cNvSpPr/>
          <p:nvPr/>
        </p:nvSpPr>
        <p:spPr>
          <a:xfrm>
            <a:off x="841248" y="3785616"/>
            <a:ext cx="2953512" cy="822960"/>
          </a:xfrm>
          <a:prstGeom prst="rect">
            <a:avLst/>
          </a:prstGeom>
          <a:noFill/>
          <a:ln/>
        </p:spPr>
        <p:txBody>
          <a:bodyPr wrap="square" lIns="0" tIns="0" rIns="0" bIns="0" rtlCol="0" anchor="t"/>
          <a:lstStyle/>
          <a:p>
            <a:pPr marL="0" indent="0" algn="l">
              <a:lnSpc>
                <a:spcPct val="114000"/>
              </a:lnSpc>
              <a:buNone/>
            </a:pPr>
            <a:r>
              <a:rPr lang="en-US" sz="1150" dirty="0">
                <a:solidFill>
                  <a:srgbClr val="7A8894"/>
                </a:solidFill>
                <a:latin typeface="Calibri" pitchFamily="34" charset="0"/>
                <a:ea typeface="Calibri" pitchFamily="34" charset="-122"/>
                <a:cs typeface="Calibri" pitchFamily="34" charset="-120"/>
              </a:rPr>
              <a:t>Fresh salt and fresh nonce every time. Identical input never produces identical output — so nobody can spot repeated requests on the wire.</a:t>
            </a:r>
            <a:endParaRPr lang="en-US" sz="1150" dirty="0"/>
          </a:p>
        </p:txBody>
      </p:sp>
      <p:sp>
        <p:nvSpPr>
          <p:cNvPr id="10" name="Shape 8"/>
          <p:cNvSpPr/>
          <p:nvPr/>
        </p:nvSpPr>
        <p:spPr>
          <a:xfrm>
            <a:off x="4361688" y="1664208"/>
            <a:ext cx="3502152" cy="3017520"/>
          </a:xfrm>
          <a:prstGeom prst="roundRect">
            <a:avLst>
              <a:gd name="adj" fmla="val 1818"/>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1" name="Shape 9"/>
          <p:cNvSpPr/>
          <p:nvPr/>
        </p:nvSpPr>
        <p:spPr>
          <a:xfrm>
            <a:off x="4636008" y="1865376"/>
            <a:ext cx="457200" cy="457200"/>
          </a:xfrm>
          <a:prstGeom prst="ellipse">
            <a:avLst/>
          </a:prstGeom>
          <a:solidFill>
            <a:srgbClr val="2C3E50"/>
          </a:solidFill>
          <a:ln w="6350">
            <a:solidFill>
              <a:srgbClr val="2C3E50"/>
            </a:solidFill>
            <a:prstDash val="solid"/>
          </a:ln>
        </p:spPr>
        <p:txBody>
          <a:bodyPr/>
          <a:lstStyle/>
          <a:p>
            <a:endParaRPr lang="en-US"/>
          </a:p>
        </p:txBody>
      </p:sp>
      <p:sp>
        <p:nvSpPr>
          <p:cNvPr id="12" name="Text 10"/>
          <p:cNvSpPr/>
          <p:nvPr/>
        </p:nvSpPr>
        <p:spPr>
          <a:xfrm>
            <a:off x="4636008" y="186537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4636008" y="2432304"/>
            <a:ext cx="2953512" cy="640080"/>
          </a:xfrm>
          <a:prstGeom prst="rect">
            <a:avLst/>
          </a:prstGeom>
          <a:noFill/>
          <a:ln/>
        </p:spPr>
        <p:txBody>
          <a:bodyPr wrap="square" lIns="0" tIns="0" rIns="0" bIns="0" rtlCol="0" anchor="t"/>
          <a:lstStyle/>
          <a:p>
            <a:pPr marL="0" indent="0" algn="l">
              <a:lnSpc>
                <a:spcPct val="108000"/>
              </a:lnSpc>
              <a:buNone/>
            </a:pPr>
            <a:r>
              <a:rPr lang="en-US" sz="1550" b="1" dirty="0">
                <a:solidFill>
                  <a:srgbClr val="16212E"/>
                </a:solidFill>
                <a:latin typeface="Calibri" pitchFamily="34" charset="0"/>
                <a:ea typeface="Calibri" pitchFamily="34" charset="-122"/>
                <a:cs typeface="Calibri" pitchFamily="34" charset="-120"/>
              </a:rPr>
              <a:t>Open the envelope</a:t>
            </a:r>
            <a:endParaRPr lang="en-US" sz="1550" dirty="0"/>
          </a:p>
        </p:txBody>
      </p:sp>
      <p:sp>
        <p:nvSpPr>
          <p:cNvPr id="14" name="Text 12"/>
          <p:cNvSpPr/>
          <p:nvPr/>
        </p:nvSpPr>
        <p:spPr>
          <a:xfrm>
            <a:off x="4636008" y="3090672"/>
            <a:ext cx="2953512" cy="658368"/>
          </a:xfrm>
          <a:prstGeom prst="rect">
            <a:avLst/>
          </a:prstGeom>
          <a:noFill/>
          <a:ln/>
        </p:spPr>
        <p:txBody>
          <a:bodyPr wrap="square" lIns="0" tIns="0" rIns="0" bIns="0" rtlCol="0" anchor="t"/>
          <a:lstStyle/>
          <a:p>
            <a:pPr marL="0" indent="0" algn="l">
              <a:lnSpc>
                <a:spcPct val="112000"/>
              </a:lnSpc>
              <a:buNone/>
            </a:pPr>
            <a:r>
              <a:rPr lang="en-US" sz="1250" b="1" dirty="0">
                <a:solidFill>
                  <a:srgbClr val="2C3E50"/>
                </a:solidFill>
                <a:latin typeface="Calibri" pitchFamily="34" charset="0"/>
                <a:ea typeface="Calibri" pitchFamily="34" charset="-122"/>
                <a:cs typeface="Calibri" pitchFamily="34" charset="-120"/>
              </a:rPr>
              <a:t>Six lines of Python pull the header, salt, nonce and tag straight out of the base64.</a:t>
            </a:r>
            <a:endParaRPr lang="en-US" sz="1250" dirty="0"/>
          </a:p>
        </p:txBody>
      </p:sp>
      <p:sp>
        <p:nvSpPr>
          <p:cNvPr id="15" name="Text 13"/>
          <p:cNvSpPr/>
          <p:nvPr/>
        </p:nvSpPr>
        <p:spPr>
          <a:xfrm>
            <a:off x="4636008" y="3785616"/>
            <a:ext cx="2953512" cy="822960"/>
          </a:xfrm>
          <a:prstGeom prst="rect">
            <a:avLst/>
          </a:prstGeom>
          <a:noFill/>
          <a:ln/>
        </p:spPr>
        <p:txBody>
          <a:bodyPr wrap="square" lIns="0" tIns="0" rIns="0" bIns="0" rtlCol="0" anchor="t"/>
          <a:lstStyle/>
          <a:p>
            <a:pPr marL="0" indent="0" algn="l">
              <a:lnSpc>
                <a:spcPct val="114000"/>
              </a:lnSpc>
              <a:buNone/>
            </a:pPr>
            <a:r>
              <a:rPr lang="en-US" sz="1150" dirty="0">
                <a:solidFill>
                  <a:srgbClr val="7A8894"/>
                </a:solidFill>
                <a:latin typeface="Calibri" pitchFamily="34" charset="0"/>
                <a:ea typeface="Calibri" pitchFamily="34" charset="-122"/>
                <a:cs typeface="Calibri" pitchFamily="34" charset="-120"/>
              </a:rPr>
              <a:t>Proof that these are not secrets. The payload is the only part that needs the key.</a:t>
            </a:r>
            <a:endParaRPr lang="en-US" sz="1150" dirty="0"/>
          </a:p>
        </p:txBody>
      </p:sp>
      <p:sp>
        <p:nvSpPr>
          <p:cNvPr id="16" name="Shape 14"/>
          <p:cNvSpPr/>
          <p:nvPr/>
        </p:nvSpPr>
        <p:spPr>
          <a:xfrm>
            <a:off x="8156448" y="1664208"/>
            <a:ext cx="3502152" cy="3017520"/>
          </a:xfrm>
          <a:prstGeom prst="roundRect">
            <a:avLst>
              <a:gd name="adj" fmla="val 1818"/>
            </a:avLst>
          </a:prstGeom>
          <a:solidFill>
            <a:srgbClr val="FBEAE9"/>
          </a:solidFill>
          <a:ln w="6350">
            <a:solidFill>
              <a:srgbClr val="FBEAE9"/>
            </a:solidFill>
            <a:prstDash val="solid"/>
          </a:ln>
          <a:effectLst>
            <a:outerShdw blurRad="114300" dist="25400" dir="5400000" algn="bl" rotWithShape="0">
              <a:srgbClr val="9FB0BF">
                <a:alpha val="25000"/>
              </a:srgbClr>
            </a:outerShdw>
          </a:effectLst>
        </p:spPr>
        <p:txBody>
          <a:bodyPr/>
          <a:lstStyle/>
          <a:p>
            <a:endParaRPr lang="en-US"/>
          </a:p>
        </p:txBody>
      </p:sp>
      <p:sp>
        <p:nvSpPr>
          <p:cNvPr id="17" name="Shape 15"/>
          <p:cNvSpPr/>
          <p:nvPr/>
        </p:nvSpPr>
        <p:spPr>
          <a:xfrm>
            <a:off x="8430768" y="1865376"/>
            <a:ext cx="457200" cy="457200"/>
          </a:xfrm>
          <a:prstGeom prst="ellipse">
            <a:avLst/>
          </a:prstGeom>
          <a:solidFill>
            <a:srgbClr val="D0524E"/>
          </a:solidFill>
          <a:ln w="6350">
            <a:solidFill>
              <a:srgbClr val="D0524E"/>
            </a:solidFill>
            <a:prstDash val="solid"/>
          </a:ln>
        </p:spPr>
        <p:txBody>
          <a:bodyPr/>
          <a:lstStyle/>
          <a:p>
            <a:endParaRPr lang="en-US"/>
          </a:p>
        </p:txBody>
      </p:sp>
      <p:sp>
        <p:nvSpPr>
          <p:cNvPr id="18" name="Text 16"/>
          <p:cNvSpPr/>
          <p:nvPr/>
        </p:nvSpPr>
        <p:spPr>
          <a:xfrm>
            <a:off x="8430768" y="186537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p:nvPr/>
        </p:nvSpPr>
        <p:spPr>
          <a:xfrm>
            <a:off x="8430768" y="2432304"/>
            <a:ext cx="2953512" cy="640080"/>
          </a:xfrm>
          <a:prstGeom prst="rect">
            <a:avLst/>
          </a:prstGeom>
          <a:noFill/>
          <a:ln/>
        </p:spPr>
        <p:txBody>
          <a:bodyPr wrap="square" lIns="0" tIns="0" rIns="0" bIns="0" rtlCol="0" anchor="t"/>
          <a:lstStyle/>
          <a:p>
            <a:pPr marL="0" indent="0" algn="l">
              <a:lnSpc>
                <a:spcPct val="108000"/>
              </a:lnSpc>
              <a:buNone/>
            </a:pPr>
            <a:r>
              <a:rPr lang="en-US" sz="1550" b="1" dirty="0">
                <a:solidFill>
                  <a:srgbClr val="16212E"/>
                </a:solidFill>
                <a:latin typeface="Calibri" pitchFamily="34" charset="0"/>
                <a:ea typeface="Calibri" pitchFamily="34" charset="-122"/>
                <a:cs typeface="Calibri" pitchFamily="34" charset="-120"/>
              </a:rPr>
              <a:t>Flip one single bit</a:t>
            </a:r>
            <a:endParaRPr lang="en-US" sz="1550" dirty="0"/>
          </a:p>
        </p:txBody>
      </p:sp>
      <p:sp>
        <p:nvSpPr>
          <p:cNvPr id="20" name="Text 18"/>
          <p:cNvSpPr/>
          <p:nvPr/>
        </p:nvSpPr>
        <p:spPr>
          <a:xfrm>
            <a:off x="8430768" y="3090672"/>
            <a:ext cx="2953512" cy="658368"/>
          </a:xfrm>
          <a:prstGeom prst="rect">
            <a:avLst/>
          </a:prstGeom>
          <a:noFill/>
          <a:ln/>
        </p:spPr>
        <p:txBody>
          <a:bodyPr wrap="square" lIns="0" tIns="0" rIns="0" bIns="0" rtlCol="0" anchor="t"/>
          <a:lstStyle/>
          <a:p>
            <a:pPr marL="0" indent="0" algn="l">
              <a:lnSpc>
                <a:spcPct val="112000"/>
              </a:lnSpc>
              <a:buNone/>
            </a:pPr>
            <a:r>
              <a:rPr lang="en-US" sz="1250" b="1" dirty="0">
                <a:solidFill>
                  <a:srgbClr val="D0524E"/>
                </a:solidFill>
                <a:latin typeface="Calibri" pitchFamily="34" charset="0"/>
                <a:ea typeface="Calibri" pitchFamily="34" charset="-122"/>
                <a:cs typeface="Calibri" pitchFamily="34" charset="-120"/>
              </a:rPr>
              <a:t>Decryption raises. No plaintext. Not even partial output.</a:t>
            </a:r>
            <a:endParaRPr lang="en-US" sz="1250" dirty="0"/>
          </a:p>
        </p:txBody>
      </p:sp>
      <p:sp>
        <p:nvSpPr>
          <p:cNvPr id="21" name="Text 19"/>
          <p:cNvSpPr/>
          <p:nvPr/>
        </p:nvSpPr>
        <p:spPr>
          <a:xfrm>
            <a:off x="8430768" y="3785616"/>
            <a:ext cx="2953512" cy="822960"/>
          </a:xfrm>
          <a:prstGeom prst="rect">
            <a:avLst/>
          </a:prstGeom>
          <a:noFill/>
          <a:ln/>
        </p:spPr>
        <p:txBody>
          <a:bodyPr wrap="square" lIns="0" tIns="0" rIns="0" bIns="0" rtlCol="0" anchor="t"/>
          <a:lstStyle/>
          <a:p>
            <a:pPr marL="0" indent="0" algn="l">
              <a:lnSpc>
                <a:spcPct val="114000"/>
              </a:lnSpc>
              <a:buNone/>
            </a:pPr>
            <a:r>
              <a:rPr lang="en-US" sz="1150" dirty="0">
                <a:solidFill>
                  <a:srgbClr val="7A8894"/>
                </a:solidFill>
                <a:latin typeface="Calibri" pitchFamily="34" charset="0"/>
                <a:ea typeface="Calibri" pitchFamily="34" charset="-122"/>
                <a:cs typeface="Calibri" pitchFamily="34" charset="-120"/>
              </a:rPr>
              <a:t>This is the thing CBC could not do. It is the entire reason compliance asked for an AEAD.</a:t>
            </a:r>
            <a:endParaRPr lang="en-US" sz="1150" dirty="0"/>
          </a:p>
        </p:txBody>
      </p:sp>
      <p:sp>
        <p:nvSpPr>
          <p:cNvPr id="22" name="Shape 20"/>
          <p:cNvSpPr/>
          <p:nvPr/>
        </p:nvSpPr>
        <p:spPr>
          <a:xfrm>
            <a:off x="566928" y="4882896"/>
            <a:ext cx="11057839" cy="1115568"/>
          </a:xfrm>
          <a:prstGeom prst="roundRect">
            <a:avLst>
              <a:gd name="adj" fmla="val 4918"/>
            </a:avLst>
          </a:prstGeom>
          <a:solidFill>
            <a:srgbClr val="0F1721"/>
          </a:solidFill>
          <a:ln w="6350">
            <a:solidFill>
              <a:srgbClr val="0F1721"/>
            </a:solidFill>
            <a:prstDash val="solid"/>
          </a:ln>
        </p:spPr>
        <p:txBody>
          <a:bodyPr/>
          <a:lstStyle/>
          <a:p>
            <a:endParaRPr lang="en-US"/>
          </a:p>
        </p:txBody>
      </p:sp>
      <p:sp>
        <p:nvSpPr>
          <p:cNvPr id="23" name="Text 21"/>
          <p:cNvSpPr/>
          <p:nvPr/>
        </p:nvSpPr>
        <p:spPr>
          <a:xfrm>
            <a:off x="950976" y="5102352"/>
            <a:ext cx="2834640" cy="292608"/>
          </a:xfrm>
          <a:prstGeom prst="rect">
            <a:avLst/>
          </a:prstGeom>
          <a:noFill/>
          <a:ln/>
        </p:spPr>
        <p:txBody>
          <a:bodyPr wrap="square" lIns="0" tIns="0" rIns="0" bIns="0" rtlCol="0" anchor="t"/>
          <a:lstStyle/>
          <a:p>
            <a:pPr marL="0" indent="0" algn="l">
              <a:lnSpc>
                <a:spcPct val="106000"/>
              </a:lnSpc>
              <a:buNone/>
            </a:pPr>
            <a:r>
              <a:rPr lang="en-US" sz="1450" b="1" dirty="0">
                <a:solidFill>
                  <a:srgbClr val="E8A033"/>
                </a:solidFill>
                <a:latin typeface="Calibri" pitchFamily="34" charset="0"/>
                <a:ea typeface="Calibri" pitchFamily="34" charset="-122"/>
                <a:cs typeface="Calibri" pitchFamily="34" charset="-120"/>
              </a:rPr>
              <a:t>Then the interop check:</a:t>
            </a:r>
            <a:endParaRPr lang="en-US" sz="1450" dirty="0"/>
          </a:p>
        </p:txBody>
      </p:sp>
      <p:sp>
        <p:nvSpPr>
          <p:cNvPr id="24" name="Text 22"/>
          <p:cNvSpPr/>
          <p:nvPr/>
        </p:nvSpPr>
        <p:spPr>
          <a:xfrm>
            <a:off x="3858768" y="5102352"/>
            <a:ext cx="7400239" cy="548640"/>
          </a:xfrm>
          <a:prstGeom prst="rect">
            <a:avLst/>
          </a:prstGeom>
          <a:noFill/>
          <a:ln/>
        </p:spPr>
        <p:txBody>
          <a:bodyPr wrap="square" lIns="0" tIns="0" rIns="0" bIns="0" rtlCol="0" anchor="t"/>
          <a:lstStyle/>
          <a:p>
            <a:pPr marL="0" indent="0" algn="l">
              <a:lnSpc>
                <a:spcPct val="115000"/>
              </a:lnSpc>
              <a:buNone/>
            </a:pPr>
            <a:r>
              <a:rPr lang="en-US" sz="1300" dirty="0">
                <a:solidFill>
                  <a:srgbClr val="C6D3DE"/>
                </a:solidFill>
                <a:latin typeface="Calibri" pitchFamily="34" charset="0"/>
                <a:ea typeface="Calibri" pitchFamily="34" charset="-122"/>
                <a:cs typeface="Calibri" pitchFamily="34" charset="-120"/>
              </a:rPr>
              <a:t>the same three acts in Node and Python against a ciphertext produced by Go. If all three runtimes agree byte for byte, the contract holds — and that check belongs in CI, not in a demo.</a:t>
            </a:r>
            <a:endParaRPr lang="en-US" sz="1300" dirty="0"/>
          </a:p>
        </p:txBody>
      </p:sp>
      <p:sp>
        <p:nvSpPr>
          <p:cNvPr id="25" name="Text 23"/>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2 · The implementation</a:t>
            </a:r>
            <a:endParaRPr lang="en-US" sz="950" dirty="0"/>
          </a:p>
        </p:txBody>
      </p:sp>
      <p:sp>
        <p:nvSpPr>
          <p:cNvPr id="26" name="Text 24"/>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0F1721"/>
        </a:solidFill>
        <a:effectLst/>
      </p:bgPr>
    </p:bg>
    <p:spTree>
      <p:nvGrpSpPr>
        <p:cNvPr id="1" name=""/>
        <p:cNvGrpSpPr/>
        <p:nvPr/>
      </p:nvGrpSpPr>
      <p:grpSpPr>
        <a:xfrm>
          <a:off x="0" y="0"/>
          <a:ext cx="0" cy="0"/>
          <a:chOff x="0" y="0"/>
          <a:chExt cx="0" cy="0"/>
        </a:xfrm>
      </p:grpSpPr>
      <p:sp>
        <p:nvSpPr>
          <p:cNvPr id="2" name="Text 0"/>
          <p:cNvSpPr/>
          <p:nvPr/>
        </p:nvSpPr>
        <p:spPr>
          <a:xfrm>
            <a:off x="566928" y="2331720"/>
            <a:ext cx="5486400" cy="310896"/>
          </a:xfrm>
          <a:prstGeom prst="rect">
            <a:avLst/>
          </a:prstGeom>
          <a:noFill/>
          <a:ln/>
        </p:spPr>
        <p:txBody>
          <a:bodyPr wrap="square" lIns="0" tIns="0" rIns="0" bIns="0" rtlCol="0" anchor="ctr"/>
          <a:lstStyle/>
          <a:p>
            <a:pPr marL="0" indent="0">
              <a:buNone/>
            </a:pPr>
            <a:r>
              <a:rPr lang="en-US" sz="1250" b="1" kern="0" spc="300" dirty="0">
                <a:solidFill>
                  <a:srgbClr val="E8A033"/>
                </a:solidFill>
                <a:latin typeface="Calibri" pitchFamily="34" charset="0"/>
                <a:ea typeface="Calibri" pitchFamily="34" charset="-122"/>
                <a:cs typeface="Calibri" pitchFamily="34" charset="-120"/>
              </a:rPr>
              <a:t>PART THREE</a:t>
            </a:r>
            <a:endParaRPr lang="en-US" sz="1250" dirty="0"/>
          </a:p>
        </p:txBody>
      </p:sp>
      <p:sp>
        <p:nvSpPr>
          <p:cNvPr id="3" name="Text 1"/>
          <p:cNvSpPr/>
          <p:nvPr/>
        </p:nvSpPr>
        <p:spPr>
          <a:xfrm>
            <a:off x="566928" y="2724912"/>
            <a:ext cx="8686800" cy="86868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Beyond the defaults</a:t>
            </a:r>
            <a:endParaRPr lang="en-US" sz="4600" dirty="0"/>
          </a:p>
        </p:txBody>
      </p:sp>
      <p:sp>
        <p:nvSpPr>
          <p:cNvPr id="4" name="Text 2"/>
          <p:cNvSpPr/>
          <p:nvPr/>
        </p:nvSpPr>
        <p:spPr>
          <a:xfrm>
            <a:off x="566928" y="3675888"/>
            <a:ext cx="7680960" cy="822960"/>
          </a:xfrm>
          <a:prstGeom prst="rect">
            <a:avLst/>
          </a:prstGeom>
          <a:noFill/>
          <a:ln/>
        </p:spPr>
        <p:txBody>
          <a:bodyPr wrap="square" lIns="0" tIns="0" rIns="0" bIns="0" rtlCol="0" anchor="ctr"/>
          <a:lstStyle/>
          <a:p>
            <a:pPr marL="0" indent="0">
              <a:lnSpc>
                <a:spcPct val="125000"/>
              </a:lnSpc>
              <a:buNone/>
            </a:pPr>
            <a:r>
              <a:rPr lang="en-US" sz="1600" dirty="0">
                <a:solidFill>
                  <a:srgbClr val="A8B8C6"/>
                </a:solidFill>
                <a:latin typeface="Calibri" pitchFamily="34" charset="0"/>
                <a:ea typeface="Calibri" pitchFamily="34" charset="-122"/>
                <a:cs typeface="Calibri" pitchFamily="34" charset="-120"/>
              </a:rPr>
              <a:t>Plain AES-256-GCM is table stakes. This is what turns it into a design —</a:t>
            </a:r>
            <a:endParaRPr lang="en-US" sz="1600" dirty="0"/>
          </a:p>
          <a:p>
            <a:pPr marL="0" indent="0">
              <a:lnSpc>
                <a:spcPct val="125000"/>
              </a:lnSpc>
              <a:buNone/>
            </a:pPr>
            <a:r>
              <a:rPr lang="en-US" sz="1600" dirty="0">
                <a:solidFill>
                  <a:srgbClr val="A8B8C6"/>
                </a:solidFill>
                <a:latin typeface="Calibri" pitchFamily="34" charset="0"/>
                <a:ea typeface="Calibri" pitchFamily="34" charset="-122"/>
                <a:cs typeface="Calibri" pitchFamily="34" charset="-120"/>
              </a:rPr>
              <a:t>plus the alternatives we passed on, and how we get off CBC.</a:t>
            </a:r>
            <a:endParaRPr lang="en-US" sz="1600" dirty="0"/>
          </a:p>
        </p:txBody>
      </p:sp>
      <p:sp>
        <p:nvSpPr>
          <p:cNvPr id="5" name="Shape 3"/>
          <p:cNvSpPr/>
          <p:nvPr/>
        </p:nvSpPr>
        <p:spPr>
          <a:xfrm>
            <a:off x="566928" y="4709160"/>
            <a:ext cx="2514600" cy="402336"/>
          </a:xfrm>
          <a:prstGeom prst="roundRect">
            <a:avLst>
              <a:gd name="adj" fmla="val 113636"/>
            </a:avLst>
          </a:prstGeom>
          <a:solidFill>
            <a:srgbClr val="E8A033"/>
          </a:solidFill>
          <a:ln w="6350">
            <a:solidFill>
              <a:srgbClr val="E8A033"/>
            </a:solidFill>
            <a:prstDash val="solid"/>
          </a:ln>
        </p:spPr>
        <p:txBody>
          <a:bodyPr/>
          <a:lstStyle/>
          <a:p>
            <a:endParaRPr lang="en-US"/>
          </a:p>
        </p:txBody>
      </p:sp>
      <p:sp>
        <p:nvSpPr>
          <p:cNvPr id="6" name="Text 4"/>
          <p:cNvSpPr/>
          <p:nvPr/>
        </p:nvSpPr>
        <p:spPr>
          <a:xfrm>
            <a:off x="566928" y="4709160"/>
            <a:ext cx="2514600" cy="402336"/>
          </a:xfrm>
          <a:prstGeom prst="rect">
            <a:avLst/>
          </a:prstGeom>
          <a:noFill/>
          <a:ln/>
        </p:spPr>
        <p:txBody>
          <a:bodyPr wrap="square" lIns="0" tIns="0" rIns="0" bIns="0" rtlCol="0" anchor="ctr"/>
          <a:lstStyle/>
          <a:p>
            <a:pPr marL="0" indent="0" algn="ctr">
              <a:buNone/>
            </a:pPr>
            <a:r>
              <a:rPr lang="en-US" sz="1050" b="1" kern="0" spc="60" dirty="0">
                <a:solidFill>
                  <a:srgbClr val="0F1721"/>
                </a:solidFill>
                <a:latin typeface="Calibri" pitchFamily="34" charset="0"/>
                <a:ea typeface="Calibri" pitchFamily="34" charset="-122"/>
                <a:cs typeface="Calibri" pitchFamily="34" charset="-120"/>
              </a:rPr>
              <a:t>DECISIONS NEEDED</a:t>
            </a:r>
            <a:endParaRPr lang="en-US" sz="1050" dirty="0"/>
          </a:p>
        </p:txBody>
      </p:sp>
      <p:sp>
        <p:nvSpPr>
          <p:cNvPr id="7" name="Text 5"/>
          <p:cNvSpPr/>
          <p:nvPr/>
        </p:nvSpPr>
        <p:spPr>
          <a:xfrm>
            <a:off x="9692640" y="2926080"/>
            <a:ext cx="2011680" cy="457200"/>
          </a:xfrm>
          <a:prstGeom prst="rect">
            <a:avLst/>
          </a:prstGeom>
          <a:noFill/>
          <a:ln/>
        </p:spPr>
        <p:txBody>
          <a:bodyPr wrap="square" lIns="0" tIns="0" rIns="0" bIns="0" rtlCol="0" anchor="ctr"/>
          <a:lstStyle/>
          <a:p>
            <a:pPr marL="0" indent="0" algn="r">
              <a:buNone/>
            </a:pPr>
            <a:r>
              <a:rPr lang="en-US" sz="2600" b="1" dirty="0">
                <a:solidFill>
                  <a:srgbClr val="2C3E50"/>
                </a:solidFill>
                <a:latin typeface="Cambria" pitchFamily="34" charset="0"/>
                <a:ea typeface="Cambria" pitchFamily="34" charset="-122"/>
                <a:cs typeface="Cambria" pitchFamily="34" charset="-120"/>
              </a:rPr>
              <a:t>10 minutes</a:t>
            </a:r>
            <a:endParaRPr lang="en-US" sz="2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HARDENING 1 OF 3</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Start using the AAD — the cheapest win on this list</a:t>
            </a:r>
            <a:endParaRPr lang="en-US" sz="3100" dirty="0"/>
          </a:p>
        </p:txBody>
      </p:sp>
      <p:sp>
        <p:nvSpPr>
          <p:cNvPr id="4" name="Text 2"/>
          <p:cNvSpPr/>
          <p:nvPr/>
        </p:nvSpPr>
        <p:spPr>
          <a:xfrm>
            <a:off x="566928" y="1298448"/>
            <a:ext cx="11057839" cy="365760"/>
          </a:xfrm>
          <a:prstGeom prst="rect">
            <a:avLst/>
          </a:prstGeom>
          <a:noFill/>
          <a:ln/>
        </p:spPr>
        <p:txBody>
          <a:bodyPr wrap="square" lIns="0" tIns="0" rIns="0" bIns="0" rtlCol="0" anchor="ctr"/>
          <a:lstStyle/>
          <a:p>
            <a:pPr marL="0" indent="0">
              <a:lnSpc>
                <a:spcPct val="105000"/>
              </a:lnSpc>
              <a:buNone/>
            </a:pPr>
            <a:r>
              <a:rPr lang="en-US" sz="1450" dirty="0">
                <a:solidFill>
                  <a:srgbClr val="7A8894"/>
                </a:solidFill>
                <a:latin typeface="Calibri" pitchFamily="34" charset="0"/>
                <a:ea typeface="Calibri" pitchFamily="34" charset="-122"/>
                <a:cs typeface="Calibri" pitchFamily="34" charset="-120"/>
              </a:rPr>
              <a:t>Associated Data: fields that are authenticated but not encrypted. They travel readable, the tag covers them, so they cannot be altered.</a:t>
            </a:r>
            <a:endParaRPr lang="en-US" sz="1450" dirty="0"/>
          </a:p>
        </p:txBody>
      </p:sp>
      <p:sp>
        <p:nvSpPr>
          <p:cNvPr id="5" name="Shape 3"/>
          <p:cNvSpPr/>
          <p:nvPr/>
        </p:nvSpPr>
        <p:spPr>
          <a:xfrm>
            <a:off x="566928" y="1883664"/>
            <a:ext cx="5230368" cy="1060704"/>
          </a:xfrm>
          <a:prstGeom prst="roundRect">
            <a:avLst>
              <a:gd name="adj" fmla="val 5172"/>
            </a:avLst>
          </a:prstGeom>
          <a:solidFill>
            <a:srgbClr val="FBEAE9"/>
          </a:solidFill>
          <a:ln w="6350">
            <a:solidFill>
              <a:srgbClr val="FBEAE9"/>
            </a:solidFill>
            <a:prstDash val="solid"/>
          </a:ln>
          <a:effectLst>
            <a:outerShdw blurRad="114300" dist="25400" dir="5400000" algn="bl" rotWithShape="0">
              <a:srgbClr val="9FB0BF">
                <a:alpha val="25000"/>
              </a:srgbClr>
            </a:outerShdw>
          </a:effectLst>
        </p:spPr>
        <p:txBody>
          <a:bodyPr/>
          <a:lstStyle/>
          <a:p>
            <a:endParaRPr lang="en-US"/>
          </a:p>
        </p:txBody>
      </p:sp>
      <p:sp>
        <p:nvSpPr>
          <p:cNvPr id="6" name="Text 4"/>
          <p:cNvSpPr/>
          <p:nvPr/>
        </p:nvSpPr>
        <p:spPr>
          <a:xfrm>
            <a:off x="877824" y="2048256"/>
            <a:ext cx="1828800" cy="274320"/>
          </a:xfrm>
          <a:prstGeom prst="rect">
            <a:avLst/>
          </a:prstGeom>
          <a:noFill/>
          <a:ln/>
        </p:spPr>
        <p:txBody>
          <a:bodyPr wrap="square" lIns="0" tIns="0" rIns="0" bIns="0" rtlCol="0" anchor="t"/>
          <a:lstStyle/>
          <a:p>
            <a:pPr marL="0" indent="0" algn="l">
              <a:lnSpc>
                <a:spcPct val="106000"/>
              </a:lnSpc>
              <a:buNone/>
            </a:pPr>
            <a:r>
              <a:rPr lang="en-US" sz="1300" b="1" dirty="0">
                <a:solidFill>
                  <a:srgbClr val="D0524E"/>
                </a:solidFill>
                <a:latin typeface="Calibri" pitchFamily="34" charset="0"/>
                <a:ea typeface="Calibri" pitchFamily="34" charset="-122"/>
                <a:cs typeface="Calibri" pitchFamily="34" charset="-120"/>
              </a:rPr>
              <a:t>Today</a:t>
            </a:r>
            <a:endParaRPr lang="en-US" sz="1300" dirty="0"/>
          </a:p>
        </p:txBody>
      </p:sp>
      <p:sp>
        <p:nvSpPr>
          <p:cNvPr id="7" name="Text 5"/>
          <p:cNvSpPr/>
          <p:nvPr/>
        </p:nvSpPr>
        <p:spPr>
          <a:xfrm>
            <a:off x="877824" y="2340864"/>
            <a:ext cx="4608576" cy="310896"/>
          </a:xfrm>
          <a:prstGeom prst="rect">
            <a:avLst/>
          </a:prstGeom>
          <a:noFill/>
          <a:ln/>
        </p:spPr>
        <p:txBody>
          <a:bodyPr wrap="square" lIns="0" tIns="0" rIns="0" bIns="0" rtlCol="0" anchor="t"/>
          <a:lstStyle/>
          <a:p>
            <a:pPr marL="0" indent="0" algn="l">
              <a:lnSpc>
                <a:spcPct val="106000"/>
              </a:lnSpc>
              <a:buNone/>
            </a:pPr>
            <a:r>
              <a:rPr lang="en-US" sz="1300" dirty="0">
                <a:solidFill>
                  <a:srgbClr val="16212E"/>
                </a:solidFill>
                <a:latin typeface="Courier New" pitchFamily="34" charset="0"/>
                <a:ea typeface="Courier New" pitchFamily="34" charset="-122"/>
                <a:cs typeface="Courier New" pitchFamily="34" charset="-120"/>
              </a:rPr>
              <a:t>aesgcm.encrypt(nonce, plaintext, None)</a:t>
            </a:r>
            <a:endParaRPr lang="en-US" sz="1300" dirty="0"/>
          </a:p>
        </p:txBody>
      </p:sp>
      <p:sp>
        <p:nvSpPr>
          <p:cNvPr id="8" name="Text 6"/>
          <p:cNvSpPr/>
          <p:nvPr/>
        </p:nvSpPr>
        <p:spPr>
          <a:xfrm>
            <a:off x="877824" y="2651760"/>
            <a:ext cx="4608576" cy="237744"/>
          </a:xfrm>
          <a:prstGeom prst="rect">
            <a:avLst/>
          </a:prstGeom>
          <a:noFill/>
          <a:ln/>
        </p:spPr>
        <p:txBody>
          <a:bodyPr wrap="square" lIns="0" tIns="0" rIns="0" bIns="0" rtlCol="0" anchor="t"/>
          <a:lstStyle/>
          <a:p>
            <a:pPr marL="0" indent="0" algn="l">
              <a:lnSpc>
                <a:spcPct val="106000"/>
              </a:lnSpc>
              <a:buNone/>
            </a:pPr>
            <a:r>
              <a:rPr lang="en-US" sz="1100" i="1" dirty="0">
                <a:solidFill>
                  <a:srgbClr val="7A8894"/>
                </a:solidFill>
                <a:latin typeface="Calibri" pitchFamily="34" charset="0"/>
                <a:ea typeface="Calibri" pitchFamily="34" charset="-122"/>
                <a:cs typeface="Calibri" pitchFamily="34" charset="-120"/>
              </a:rPr>
              <a:t>Both our reference implementations pass nothing.</a:t>
            </a:r>
            <a:endParaRPr lang="en-US" sz="1100" dirty="0"/>
          </a:p>
        </p:txBody>
      </p:sp>
      <p:sp>
        <p:nvSpPr>
          <p:cNvPr id="9" name="Shape 7"/>
          <p:cNvSpPr/>
          <p:nvPr/>
        </p:nvSpPr>
        <p:spPr>
          <a:xfrm>
            <a:off x="6126480" y="1883664"/>
            <a:ext cx="5230368" cy="1060704"/>
          </a:xfrm>
          <a:prstGeom prst="roundRect">
            <a:avLst>
              <a:gd name="adj" fmla="val 5172"/>
            </a:avLst>
          </a:prstGeom>
          <a:solidFill>
            <a:srgbClr val="E2F4EF"/>
          </a:solidFill>
          <a:ln w="6350">
            <a:solidFill>
              <a:srgbClr val="E2F4EF"/>
            </a:solidFill>
            <a:prstDash val="solid"/>
          </a:ln>
          <a:effectLst>
            <a:outerShdw blurRad="114300" dist="25400" dir="5400000" algn="bl" rotWithShape="0">
              <a:srgbClr val="9FB0BF">
                <a:alpha val="25000"/>
              </a:srgbClr>
            </a:outerShdw>
          </a:effectLst>
        </p:spPr>
        <p:txBody>
          <a:bodyPr/>
          <a:lstStyle/>
          <a:p>
            <a:endParaRPr lang="en-US"/>
          </a:p>
        </p:txBody>
      </p:sp>
      <p:sp>
        <p:nvSpPr>
          <p:cNvPr id="10" name="Text 8"/>
          <p:cNvSpPr/>
          <p:nvPr/>
        </p:nvSpPr>
        <p:spPr>
          <a:xfrm>
            <a:off x="6437376" y="2048256"/>
            <a:ext cx="1828800" cy="274320"/>
          </a:xfrm>
          <a:prstGeom prst="rect">
            <a:avLst/>
          </a:prstGeom>
          <a:noFill/>
          <a:ln/>
        </p:spPr>
        <p:txBody>
          <a:bodyPr wrap="square" lIns="0" tIns="0" rIns="0" bIns="0" rtlCol="0" anchor="t"/>
          <a:lstStyle/>
          <a:p>
            <a:pPr marL="0" indent="0" algn="l">
              <a:lnSpc>
                <a:spcPct val="106000"/>
              </a:lnSpc>
              <a:buNone/>
            </a:pPr>
            <a:r>
              <a:rPr lang="en-US" sz="1300" b="1" dirty="0">
                <a:solidFill>
                  <a:srgbClr val="2BA88C"/>
                </a:solidFill>
                <a:latin typeface="Calibri" pitchFamily="34" charset="0"/>
                <a:ea typeface="Calibri" pitchFamily="34" charset="-122"/>
                <a:cs typeface="Calibri" pitchFamily="34" charset="-120"/>
              </a:rPr>
              <a:t>Proposed</a:t>
            </a:r>
            <a:endParaRPr lang="en-US" sz="1300" dirty="0"/>
          </a:p>
        </p:txBody>
      </p:sp>
      <p:sp>
        <p:nvSpPr>
          <p:cNvPr id="11" name="Text 9"/>
          <p:cNvSpPr/>
          <p:nvPr/>
        </p:nvSpPr>
        <p:spPr>
          <a:xfrm>
            <a:off x="6437376" y="2340864"/>
            <a:ext cx="4608576" cy="310896"/>
          </a:xfrm>
          <a:prstGeom prst="rect">
            <a:avLst/>
          </a:prstGeom>
          <a:noFill/>
          <a:ln/>
        </p:spPr>
        <p:txBody>
          <a:bodyPr wrap="square" lIns="0" tIns="0" rIns="0" bIns="0" rtlCol="0" anchor="t"/>
          <a:lstStyle/>
          <a:p>
            <a:pPr marL="0" indent="0" algn="l">
              <a:lnSpc>
                <a:spcPct val="106000"/>
              </a:lnSpc>
              <a:buNone/>
            </a:pPr>
            <a:r>
              <a:rPr lang="en-US" sz="1300" dirty="0">
                <a:solidFill>
                  <a:srgbClr val="16212E"/>
                </a:solidFill>
                <a:latin typeface="Courier New" pitchFamily="34" charset="0"/>
                <a:ea typeface="Courier New" pitchFamily="34" charset="-122"/>
                <a:cs typeface="Courier New" pitchFamily="34" charset="-120"/>
              </a:rPr>
              <a:t>aad = b"v1|/Mars/GetPage|tenant=42"</a:t>
            </a:r>
            <a:endParaRPr lang="en-US" sz="1300" dirty="0"/>
          </a:p>
        </p:txBody>
      </p:sp>
      <p:sp>
        <p:nvSpPr>
          <p:cNvPr id="12" name="Text 10"/>
          <p:cNvSpPr/>
          <p:nvPr/>
        </p:nvSpPr>
        <p:spPr>
          <a:xfrm>
            <a:off x="6437376" y="2651760"/>
            <a:ext cx="4608576" cy="237744"/>
          </a:xfrm>
          <a:prstGeom prst="rect">
            <a:avLst/>
          </a:prstGeom>
          <a:noFill/>
          <a:ln/>
        </p:spPr>
        <p:txBody>
          <a:bodyPr wrap="square" lIns="0" tIns="0" rIns="0" bIns="0" rtlCol="0" anchor="t"/>
          <a:lstStyle/>
          <a:p>
            <a:pPr marL="0" indent="0" algn="l">
              <a:lnSpc>
                <a:spcPct val="106000"/>
              </a:lnSpc>
              <a:buNone/>
            </a:pPr>
            <a:r>
              <a:rPr lang="en-US" sz="1100" i="1" dirty="0">
                <a:solidFill>
                  <a:srgbClr val="7A8894"/>
                </a:solidFill>
                <a:latin typeface="Calibri" pitchFamily="34" charset="0"/>
                <a:ea typeface="Calibri" pitchFamily="34" charset="-122"/>
                <a:cs typeface="Calibri" pitchFamily="34" charset="-120"/>
              </a:rPr>
              <a:t>Bind the context the message is only valid in.</a:t>
            </a:r>
            <a:endParaRPr lang="en-US" sz="1100" dirty="0"/>
          </a:p>
        </p:txBody>
      </p:sp>
      <p:sp>
        <p:nvSpPr>
          <p:cNvPr id="13" name="Shape 11"/>
          <p:cNvSpPr/>
          <p:nvPr/>
        </p:nvSpPr>
        <p:spPr>
          <a:xfrm>
            <a:off x="566928" y="3127248"/>
            <a:ext cx="3502152" cy="1517904"/>
          </a:xfrm>
          <a:prstGeom prst="roundRect">
            <a:avLst>
              <a:gd name="adj" fmla="val 3614"/>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4" name="Text 12"/>
          <p:cNvSpPr/>
          <p:nvPr/>
        </p:nvSpPr>
        <p:spPr>
          <a:xfrm>
            <a:off x="841248" y="3310128"/>
            <a:ext cx="2953512" cy="292608"/>
          </a:xfrm>
          <a:prstGeom prst="rect">
            <a:avLst/>
          </a:prstGeom>
          <a:noFill/>
          <a:ln/>
        </p:spPr>
        <p:txBody>
          <a:bodyPr wrap="square" lIns="0" tIns="0" rIns="0" bIns="0" rtlCol="0" anchor="t"/>
          <a:lstStyle/>
          <a:p>
            <a:pPr marL="0" indent="0" algn="l">
              <a:lnSpc>
                <a:spcPct val="106000"/>
              </a:lnSpc>
              <a:buNone/>
            </a:pPr>
            <a:r>
              <a:rPr lang="en-US" sz="1500" b="1" dirty="0">
                <a:solidFill>
                  <a:srgbClr val="16212E"/>
                </a:solidFill>
                <a:latin typeface="Calibri" pitchFamily="34" charset="0"/>
                <a:ea typeface="Calibri" pitchFamily="34" charset="-122"/>
                <a:cs typeface="Calibri" pitchFamily="34" charset="-120"/>
              </a:rPr>
              <a:t>Endpoint binding</a:t>
            </a:r>
            <a:endParaRPr lang="en-US" sz="1500" dirty="0"/>
          </a:p>
        </p:txBody>
      </p:sp>
      <p:sp>
        <p:nvSpPr>
          <p:cNvPr id="15" name="Text 13"/>
          <p:cNvSpPr/>
          <p:nvPr/>
        </p:nvSpPr>
        <p:spPr>
          <a:xfrm>
            <a:off x="841248" y="3657600"/>
            <a:ext cx="2953512" cy="841248"/>
          </a:xfrm>
          <a:prstGeom prst="rect">
            <a:avLst/>
          </a:prstGeom>
          <a:noFill/>
          <a:ln/>
        </p:spPr>
        <p:txBody>
          <a:bodyPr wrap="square" lIns="0" tIns="0" rIns="0" bIns="0" rtlCol="0" anchor="t"/>
          <a:lstStyle/>
          <a:p>
            <a:pPr marL="0" indent="0" algn="l">
              <a:lnSpc>
                <a:spcPct val="115000"/>
              </a:lnSpc>
              <a:buNone/>
            </a:pPr>
            <a:r>
              <a:rPr lang="en-US" sz="1200" dirty="0">
                <a:solidFill>
                  <a:srgbClr val="3D4C5A"/>
                </a:solidFill>
                <a:latin typeface="Calibri" pitchFamily="34" charset="0"/>
                <a:ea typeface="Calibri" pitchFamily="34" charset="-122"/>
                <a:cs typeface="Calibri" pitchFamily="34" charset="-120"/>
              </a:rPr>
              <a:t>A ciphertext minted for /Mars/GetPage cannot be replayed into /Mars/UpdateUser. Today it can.</a:t>
            </a:r>
            <a:endParaRPr lang="en-US" sz="1200" dirty="0"/>
          </a:p>
        </p:txBody>
      </p:sp>
      <p:sp>
        <p:nvSpPr>
          <p:cNvPr id="16" name="Shape 14"/>
          <p:cNvSpPr/>
          <p:nvPr/>
        </p:nvSpPr>
        <p:spPr>
          <a:xfrm>
            <a:off x="4361688" y="3127248"/>
            <a:ext cx="3502152" cy="1517904"/>
          </a:xfrm>
          <a:prstGeom prst="roundRect">
            <a:avLst>
              <a:gd name="adj" fmla="val 3614"/>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7" name="Text 15"/>
          <p:cNvSpPr/>
          <p:nvPr/>
        </p:nvSpPr>
        <p:spPr>
          <a:xfrm>
            <a:off x="4636008" y="3310128"/>
            <a:ext cx="2953512" cy="292608"/>
          </a:xfrm>
          <a:prstGeom prst="rect">
            <a:avLst/>
          </a:prstGeom>
          <a:noFill/>
          <a:ln/>
        </p:spPr>
        <p:txBody>
          <a:bodyPr wrap="square" lIns="0" tIns="0" rIns="0" bIns="0" rtlCol="0" anchor="t"/>
          <a:lstStyle/>
          <a:p>
            <a:pPr marL="0" indent="0" algn="l">
              <a:lnSpc>
                <a:spcPct val="106000"/>
              </a:lnSpc>
              <a:buNone/>
            </a:pPr>
            <a:r>
              <a:rPr lang="en-US" sz="1500" b="1" dirty="0">
                <a:solidFill>
                  <a:srgbClr val="16212E"/>
                </a:solidFill>
                <a:latin typeface="Calibri" pitchFamily="34" charset="0"/>
                <a:ea typeface="Calibri" pitchFamily="34" charset="-122"/>
                <a:cs typeface="Calibri" pitchFamily="34" charset="-120"/>
              </a:rPr>
              <a:t>Tenant binding</a:t>
            </a:r>
            <a:endParaRPr lang="en-US" sz="1500" dirty="0"/>
          </a:p>
        </p:txBody>
      </p:sp>
      <p:sp>
        <p:nvSpPr>
          <p:cNvPr id="18" name="Text 16"/>
          <p:cNvSpPr/>
          <p:nvPr/>
        </p:nvSpPr>
        <p:spPr>
          <a:xfrm>
            <a:off x="4636008" y="3657600"/>
            <a:ext cx="2953512" cy="841248"/>
          </a:xfrm>
          <a:prstGeom prst="rect">
            <a:avLst/>
          </a:prstGeom>
          <a:noFill/>
          <a:ln/>
        </p:spPr>
        <p:txBody>
          <a:bodyPr wrap="square" lIns="0" tIns="0" rIns="0" bIns="0" rtlCol="0" anchor="t"/>
          <a:lstStyle/>
          <a:p>
            <a:pPr marL="0" indent="0" algn="l">
              <a:lnSpc>
                <a:spcPct val="115000"/>
              </a:lnSpc>
              <a:buNone/>
            </a:pPr>
            <a:r>
              <a:rPr lang="en-US" sz="1200" dirty="0">
                <a:solidFill>
                  <a:srgbClr val="3D4C5A"/>
                </a:solidFill>
                <a:latin typeface="Calibri" pitchFamily="34" charset="0"/>
                <a:ea typeface="Calibri" pitchFamily="34" charset="-122"/>
                <a:cs typeface="Calibri" pitchFamily="34" charset="-120"/>
              </a:rPr>
              <a:t>A payload built for tenant A stops verifying if it is aimed at tenant B.</a:t>
            </a:r>
            <a:endParaRPr lang="en-US" sz="1200" dirty="0"/>
          </a:p>
        </p:txBody>
      </p:sp>
      <p:sp>
        <p:nvSpPr>
          <p:cNvPr id="19" name="Shape 17"/>
          <p:cNvSpPr/>
          <p:nvPr/>
        </p:nvSpPr>
        <p:spPr>
          <a:xfrm>
            <a:off x="8156448" y="3127248"/>
            <a:ext cx="3502152" cy="1517904"/>
          </a:xfrm>
          <a:prstGeom prst="roundRect">
            <a:avLst>
              <a:gd name="adj" fmla="val 3614"/>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20" name="Text 18"/>
          <p:cNvSpPr/>
          <p:nvPr/>
        </p:nvSpPr>
        <p:spPr>
          <a:xfrm>
            <a:off x="8430768" y="3310128"/>
            <a:ext cx="2953512" cy="292608"/>
          </a:xfrm>
          <a:prstGeom prst="rect">
            <a:avLst/>
          </a:prstGeom>
          <a:noFill/>
          <a:ln/>
        </p:spPr>
        <p:txBody>
          <a:bodyPr wrap="square" lIns="0" tIns="0" rIns="0" bIns="0" rtlCol="0" anchor="t"/>
          <a:lstStyle/>
          <a:p>
            <a:pPr marL="0" indent="0" algn="l">
              <a:lnSpc>
                <a:spcPct val="106000"/>
              </a:lnSpc>
              <a:buNone/>
            </a:pPr>
            <a:r>
              <a:rPr lang="en-US" sz="1500" b="1" dirty="0">
                <a:solidFill>
                  <a:srgbClr val="16212E"/>
                </a:solidFill>
                <a:latin typeface="Calibri" pitchFamily="34" charset="0"/>
                <a:ea typeface="Calibri" pitchFamily="34" charset="-122"/>
                <a:cs typeface="Calibri" pitchFamily="34" charset="-120"/>
              </a:rPr>
              <a:t>Version binding</a:t>
            </a:r>
            <a:endParaRPr lang="en-US" sz="1500" dirty="0"/>
          </a:p>
        </p:txBody>
      </p:sp>
      <p:sp>
        <p:nvSpPr>
          <p:cNvPr id="21" name="Text 19"/>
          <p:cNvSpPr/>
          <p:nvPr/>
        </p:nvSpPr>
        <p:spPr>
          <a:xfrm>
            <a:off x="8430768" y="3657600"/>
            <a:ext cx="2953512" cy="841248"/>
          </a:xfrm>
          <a:prstGeom prst="rect">
            <a:avLst/>
          </a:prstGeom>
          <a:noFill/>
          <a:ln/>
        </p:spPr>
        <p:txBody>
          <a:bodyPr wrap="square" lIns="0" tIns="0" rIns="0" bIns="0" rtlCol="0" anchor="t"/>
          <a:lstStyle/>
          <a:p>
            <a:pPr marL="0" indent="0" algn="l">
              <a:lnSpc>
                <a:spcPct val="115000"/>
              </a:lnSpc>
              <a:buNone/>
            </a:pPr>
            <a:r>
              <a:rPr lang="en-US" sz="1200" dirty="0">
                <a:solidFill>
                  <a:srgbClr val="3D4C5A"/>
                </a:solidFill>
                <a:latin typeface="Calibri" pitchFamily="34" charset="0"/>
                <a:ea typeface="Calibri" pitchFamily="34" charset="-122"/>
                <a:cs typeface="Calibri" pitchFamily="34" charset="-120"/>
              </a:rPr>
              <a:t>A format version inside the AAD means downgrade attempts fail closed rather than being silently accepted.</a:t>
            </a:r>
            <a:endParaRPr lang="en-US" sz="1200" dirty="0"/>
          </a:p>
        </p:txBody>
      </p:sp>
      <p:sp>
        <p:nvSpPr>
          <p:cNvPr id="22" name="Shape 20"/>
          <p:cNvSpPr/>
          <p:nvPr/>
        </p:nvSpPr>
        <p:spPr>
          <a:xfrm>
            <a:off x="566928" y="4828032"/>
            <a:ext cx="11057839" cy="1188720"/>
          </a:xfrm>
          <a:prstGeom prst="roundRect">
            <a:avLst>
              <a:gd name="adj" fmla="val 4615"/>
            </a:avLst>
          </a:prstGeom>
          <a:solidFill>
            <a:srgbClr val="0F1721"/>
          </a:solidFill>
          <a:ln w="6350">
            <a:solidFill>
              <a:srgbClr val="0F1721"/>
            </a:solidFill>
            <a:prstDash val="solid"/>
          </a:ln>
        </p:spPr>
        <p:txBody>
          <a:bodyPr/>
          <a:lstStyle/>
          <a:p>
            <a:endParaRPr lang="en-US"/>
          </a:p>
        </p:txBody>
      </p:sp>
      <p:sp>
        <p:nvSpPr>
          <p:cNvPr id="23" name="Text 21"/>
          <p:cNvSpPr/>
          <p:nvPr/>
        </p:nvSpPr>
        <p:spPr>
          <a:xfrm>
            <a:off x="950976" y="5029200"/>
            <a:ext cx="6400800" cy="310896"/>
          </a:xfrm>
          <a:prstGeom prst="rect">
            <a:avLst/>
          </a:prstGeom>
          <a:noFill/>
          <a:ln/>
        </p:spPr>
        <p:txBody>
          <a:bodyPr wrap="square" lIns="0" tIns="0" rIns="0" bIns="0" rtlCol="0" anchor="t"/>
          <a:lstStyle/>
          <a:p>
            <a:pPr marL="0" indent="0" algn="l">
              <a:lnSpc>
                <a:spcPct val="106000"/>
              </a:lnSpc>
              <a:buNone/>
            </a:pPr>
            <a:r>
              <a:rPr lang="en-US" sz="1500" b="1" dirty="0">
                <a:solidFill>
                  <a:srgbClr val="E8A033"/>
                </a:solidFill>
                <a:latin typeface="Calibri" pitchFamily="34" charset="0"/>
                <a:ea typeface="Calibri" pitchFamily="34" charset="-122"/>
                <a:cs typeface="Calibri" pitchFamily="34" charset="-120"/>
              </a:rPr>
              <a:t>Cost: zero extra bytes of ciphertext and one function argument.</a:t>
            </a:r>
            <a:endParaRPr lang="en-US" sz="1500" dirty="0"/>
          </a:p>
        </p:txBody>
      </p:sp>
      <p:sp>
        <p:nvSpPr>
          <p:cNvPr id="24" name="Text 22"/>
          <p:cNvSpPr/>
          <p:nvPr/>
        </p:nvSpPr>
        <p:spPr>
          <a:xfrm>
            <a:off x="950976" y="5376672"/>
            <a:ext cx="10234879" cy="512064"/>
          </a:xfrm>
          <a:prstGeom prst="rect">
            <a:avLst/>
          </a:prstGeom>
          <a:noFill/>
          <a:ln/>
        </p:spPr>
        <p:txBody>
          <a:bodyPr wrap="square" lIns="0" tIns="0" rIns="0" bIns="0" rtlCol="0" anchor="t"/>
          <a:lstStyle/>
          <a:p>
            <a:pPr marL="0" indent="0" algn="l">
              <a:lnSpc>
                <a:spcPct val="115000"/>
              </a:lnSpc>
              <a:buNone/>
            </a:pPr>
            <a:r>
              <a:rPr lang="en-US" sz="1300" dirty="0">
                <a:solidFill>
                  <a:srgbClr val="C6D3DE"/>
                </a:solidFill>
                <a:latin typeface="Calibri" pitchFamily="34" charset="0"/>
                <a:ea typeface="Calibri" pitchFamily="34" charset="-122"/>
                <a:cs typeface="Calibri" pitchFamily="34" charset="-120"/>
              </a:rPr>
              <a:t>The only real work is agreeing on a canonical string and building it identically on both sides — a mismatched AAD fails exactly like a wrong key, so write the format down before anyone codes it.</a:t>
            </a:r>
            <a:endParaRPr lang="en-US" sz="1300" dirty="0"/>
          </a:p>
        </p:txBody>
      </p:sp>
      <p:sp>
        <p:nvSpPr>
          <p:cNvPr id="25" name="Text 23"/>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3 · Beyond the defaults</a:t>
            </a:r>
            <a:endParaRPr lang="en-US" sz="950" dirty="0"/>
          </a:p>
        </p:txBody>
      </p:sp>
      <p:sp>
        <p:nvSpPr>
          <p:cNvPr id="26" name="Text 24"/>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HARDENING 2 OF 3</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Nonce discipline and a version byte</a:t>
            </a:r>
            <a:endParaRPr lang="en-US" sz="3100" dirty="0"/>
          </a:p>
        </p:txBody>
      </p:sp>
      <p:sp>
        <p:nvSpPr>
          <p:cNvPr id="4" name="Shape 2"/>
          <p:cNvSpPr/>
          <p:nvPr/>
        </p:nvSpPr>
        <p:spPr>
          <a:xfrm>
            <a:off x="566928" y="1609344"/>
            <a:ext cx="5230368" cy="3108960"/>
          </a:xfrm>
          <a:prstGeom prst="roundRect">
            <a:avLst>
              <a:gd name="adj" fmla="val 1765"/>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5" name="Text 3"/>
          <p:cNvSpPr/>
          <p:nvPr/>
        </p:nvSpPr>
        <p:spPr>
          <a:xfrm>
            <a:off x="877824" y="1810512"/>
            <a:ext cx="4608576" cy="329184"/>
          </a:xfrm>
          <a:prstGeom prst="rect">
            <a:avLst/>
          </a:prstGeom>
          <a:noFill/>
          <a:ln/>
        </p:spPr>
        <p:txBody>
          <a:bodyPr wrap="square" lIns="0" tIns="0" rIns="0" bIns="0" rtlCol="0" anchor="t"/>
          <a:lstStyle/>
          <a:p>
            <a:pPr marL="0" indent="0" algn="l">
              <a:lnSpc>
                <a:spcPct val="106000"/>
              </a:lnSpc>
              <a:buNone/>
            </a:pPr>
            <a:r>
              <a:rPr lang="en-US" sz="1700" b="1" dirty="0">
                <a:solidFill>
                  <a:srgbClr val="16212E"/>
                </a:solidFill>
                <a:latin typeface="Calibri" pitchFamily="34" charset="0"/>
                <a:ea typeface="Calibri" pitchFamily="34" charset="-122"/>
                <a:cs typeface="Calibri" pitchFamily="34" charset="-120"/>
              </a:rPr>
              <a:t>Nonce reuse is the one fatal mistake</a:t>
            </a:r>
            <a:endParaRPr lang="en-US" sz="1700" dirty="0"/>
          </a:p>
        </p:txBody>
      </p:sp>
      <p:sp>
        <p:nvSpPr>
          <p:cNvPr id="6" name="Text 4"/>
          <p:cNvSpPr/>
          <p:nvPr/>
        </p:nvSpPr>
        <p:spPr>
          <a:xfrm>
            <a:off x="877824" y="2231136"/>
            <a:ext cx="4608576" cy="2286000"/>
          </a:xfrm>
          <a:prstGeom prst="rect">
            <a:avLst/>
          </a:prstGeom>
          <a:noFill/>
          <a:ln/>
        </p:spPr>
        <p:txBody>
          <a:bodyPr wrap="square" lIns="0" tIns="0" rIns="0" bIns="0" rtlCol="0" anchor="ctr"/>
          <a:lstStyle/>
          <a:p>
            <a:pPr marL="342900" indent="-342900">
              <a:lnSpc>
                <a:spcPct val="102000"/>
              </a:lnSpc>
              <a:spcAft>
                <a:spcPts val="800"/>
              </a:spcAft>
              <a:buSzPct val="100000"/>
              <a:buChar char="•"/>
            </a:pPr>
            <a:r>
              <a:rPr lang="en-US" sz="1250" dirty="0">
                <a:solidFill>
                  <a:srgbClr val="3D4C5A"/>
                </a:solidFill>
                <a:latin typeface="Calibri" pitchFamily="34" charset="0"/>
                <a:ea typeface="Calibri" pitchFamily="34" charset="-122"/>
                <a:cs typeface="Calibri" pitchFamily="34" charset="-120"/>
              </a:rPr>
              <a:t>Random 96-bit nonces start colliding around 2³² messages under one key — roughly 4 billion.</a:t>
            </a:r>
            <a:endParaRPr lang="en-US" sz="1250" dirty="0"/>
          </a:p>
          <a:p>
            <a:pPr marL="342900" indent="-342900">
              <a:lnSpc>
                <a:spcPct val="102000"/>
              </a:lnSpc>
              <a:spcAft>
                <a:spcPts val="800"/>
              </a:spcAft>
              <a:buSzPct val="100000"/>
              <a:buChar char="•"/>
            </a:pPr>
            <a:r>
              <a:rPr lang="en-US" sz="1250" dirty="0">
                <a:solidFill>
                  <a:srgbClr val="3D4C5A"/>
                </a:solidFill>
                <a:latin typeface="Calibri" pitchFamily="34" charset="0"/>
                <a:ea typeface="Calibri" pitchFamily="34" charset="-122"/>
                <a:cs typeface="Calibri" pitchFamily="34" charset="-120"/>
              </a:rPr>
              <a:t>We are nowhere near that, because a fresh HKDF salt means the key changes every message too.</a:t>
            </a:r>
            <a:endParaRPr lang="en-US" sz="1250" dirty="0"/>
          </a:p>
          <a:p>
            <a:pPr marL="342900" indent="-342900">
              <a:lnSpc>
                <a:spcPct val="102000"/>
              </a:lnSpc>
              <a:spcAft>
                <a:spcPts val="800"/>
              </a:spcAft>
              <a:buSzPct val="100000"/>
              <a:buChar char="•"/>
            </a:pPr>
            <a:r>
              <a:rPr lang="en-US" sz="1250" dirty="0">
                <a:solidFill>
                  <a:srgbClr val="3D4C5A"/>
                </a:solidFill>
                <a:latin typeface="Calibri" pitchFamily="34" charset="0"/>
                <a:ea typeface="Calibri" pitchFamily="34" charset="-122"/>
                <a:cs typeface="Calibri" pitchFamily="34" charset="-120"/>
              </a:rPr>
              <a:t>But the safety comes from the salt. If anyone ever "optimises" by caching a derived key, we inherit that 2³² ceiling immediately.</a:t>
            </a:r>
            <a:endParaRPr lang="en-US" sz="1250" dirty="0"/>
          </a:p>
          <a:p>
            <a:pPr marL="342900" indent="-342900">
              <a:lnSpc>
                <a:spcPct val="102000"/>
              </a:lnSpc>
              <a:spcAft>
                <a:spcPts val="800"/>
              </a:spcAft>
              <a:buSzPct val="100000"/>
              <a:buChar char="•"/>
            </a:pPr>
            <a:r>
              <a:rPr lang="en-US" sz="1250" dirty="0">
                <a:solidFill>
                  <a:srgbClr val="3D4C5A"/>
                </a:solidFill>
                <a:latin typeface="Calibri" pitchFamily="34" charset="0"/>
                <a:ea typeface="Calibri" pitchFamily="34" charset="-122"/>
                <a:cs typeface="Calibri" pitchFamily="34" charset="-120"/>
              </a:rPr>
              <a:t>If we ever do need to cache keys: AES-GCM-SIV (RFC 8452) survives nonce reuse by design.</a:t>
            </a:r>
            <a:endParaRPr lang="en-US" sz="1250" dirty="0"/>
          </a:p>
        </p:txBody>
      </p:sp>
      <p:sp>
        <p:nvSpPr>
          <p:cNvPr id="7" name="Shape 5"/>
          <p:cNvSpPr/>
          <p:nvPr/>
        </p:nvSpPr>
        <p:spPr>
          <a:xfrm>
            <a:off x="6126480" y="1609344"/>
            <a:ext cx="5230368" cy="3108960"/>
          </a:xfrm>
          <a:prstGeom prst="roundRect">
            <a:avLst>
              <a:gd name="adj" fmla="val 1765"/>
            </a:avLst>
          </a:prstGeom>
          <a:solidFill>
            <a:srgbClr val="FBEEDA"/>
          </a:solidFill>
          <a:ln w="6350">
            <a:solidFill>
              <a:srgbClr val="FBEEDA"/>
            </a:solidFill>
            <a:prstDash val="solid"/>
          </a:ln>
          <a:effectLst>
            <a:outerShdw blurRad="114300" dist="25400" dir="5400000" algn="bl" rotWithShape="0">
              <a:srgbClr val="9FB0BF">
                <a:alpha val="25000"/>
              </a:srgbClr>
            </a:outerShdw>
          </a:effectLst>
        </p:spPr>
        <p:txBody>
          <a:bodyPr/>
          <a:lstStyle/>
          <a:p>
            <a:endParaRPr lang="en-US"/>
          </a:p>
        </p:txBody>
      </p:sp>
      <p:sp>
        <p:nvSpPr>
          <p:cNvPr id="8" name="Text 6"/>
          <p:cNvSpPr/>
          <p:nvPr/>
        </p:nvSpPr>
        <p:spPr>
          <a:xfrm>
            <a:off x="6437376" y="1810512"/>
            <a:ext cx="4608576" cy="329184"/>
          </a:xfrm>
          <a:prstGeom prst="rect">
            <a:avLst/>
          </a:prstGeom>
          <a:noFill/>
          <a:ln/>
        </p:spPr>
        <p:txBody>
          <a:bodyPr wrap="square" lIns="0" tIns="0" rIns="0" bIns="0" rtlCol="0" anchor="t"/>
          <a:lstStyle/>
          <a:p>
            <a:pPr marL="0" indent="0" algn="l">
              <a:lnSpc>
                <a:spcPct val="106000"/>
              </a:lnSpc>
              <a:buNone/>
            </a:pPr>
            <a:r>
              <a:rPr lang="en-US" sz="1700" b="1" dirty="0">
                <a:solidFill>
                  <a:srgbClr val="16212E"/>
                </a:solidFill>
                <a:latin typeface="Calibri" pitchFamily="34" charset="0"/>
                <a:ea typeface="Calibri" pitchFamily="34" charset="-122"/>
                <a:cs typeface="Calibri" pitchFamily="34" charset="-120"/>
              </a:rPr>
              <a:t>Our header has no version and no key ID</a:t>
            </a:r>
            <a:endParaRPr lang="en-US" sz="1700" dirty="0"/>
          </a:p>
        </p:txBody>
      </p:sp>
      <p:sp>
        <p:nvSpPr>
          <p:cNvPr id="9" name="Text 7"/>
          <p:cNvSpPr/>
          <p:nvPr/>
        </p:nvSpPr>
        <p:spPr>
          <a:xfrm>
            <a:off x="6437376" y="2231136"/>
            <a:ext cx="4608576" cy="2286000"/>
          </a:xfrm>
          <a:prstGeom prst="rect">
            <a:avLst/>
          </a:prstGeom>
          <a:noFill/>
          <a:ln/>
        </p:spPr>
        <p:txBody>
          <a:bodyPr wrap="square" lIns="0" tIns="0" rIns="0" bIns="0" rtlCol="0" anchor="ctr"/>
          <a:lstStyle/>
          <a:p>
            <a:pPr marL="342900" indent="-342900">
              <a:lnSpc>
                <a:spcPct val="102000"/>
              </a:lnSpc>
              <a:spcAft>
                <a:spcPts val="800"/>
              </a:spcAft>
              <a:buSzPct val="100000"/>
              <a:buChar char="•"/>
            </a:pPr>
            <a:r>
              <a:rPr lang="en-US" sz="1250" dirty="0">
                <a:solidFill>
                  <a:srgbClr val="3D4C5A"/>
                </a:solidFill>
                <a:latin typeface="Calibri" pitchFamily="34" charset="0"/>
                <a:ea typeface="Calibri" pitchFamily="34" charset="-122"/>
                <a:cs typeface="Calibri" pitchFamily="34" charset="-120"/>
              </a:rPr>
              <a:t>The day we rotate the vault secret, every stored ciphertext becomes undecryptable and we cannot tell which key produced which blob.</a:t>
            </a:r>
            <a:endParaRPr lang="en-US" sz="1250" dirty="0"/>
          </a:p>
          <a:p>
            <a:pPr marL="342900" indent="-342900">
              <a:lnSpc>
                <a:spcPct val="102000"/>
              </a:lnSpc>
              <a:spcAft>
                <a:spcPts val="800"/>
              </a:spcAft>
              <a:buSzPct val="100000"/>
              <a:buChar char="•"/>
            </a:pPr>
            <a:r>
              <a:rPr lang="en-US" sz="1250" dirty="0">
                <a:solidFill>
                  <a:srgbClr val="3D4C5A"/>
                </a:solidFill>
                <a:latin typeface="Calibri" pitchFamily="34" charset="0"/>
                <a:ea typeface="Calibri" pitchFamily="34" charset="-122"/>
                <a:cs typeface="Calibri" pitchFamily="34" charset="-120"/>
              </a:rPr>
              <a:t>We also cannot change the format later without guessing at parse time.</a:t>
            </a:r>
            <a:endParaRPr lang="en-US" sz="1250" dirty="0"/>
          </a:p>
          <a:p>
            <a:pPr marL="342900" indent="-342900">
              <a:lnSpc>
                <a:spcPct val="102000"/>
              </a:lnSpc>
              <a:spcAft>
                <a:spcPts val="800"/>
              </a:spcAft>
              <a:buSzPct val="100000"/>
              <a:buChar char="•"/>
            </a:pPr>
            <a:r>
              <a:rPr lang="en-US" sz="1250" dirty="0">
                <a:solidFill>
                  <a:srgbClr val="3D4C5A"/>
                </a:solidFill>
                <a:latin typeface="Calibri" pitchFamily="34" charset="0"/>
                <a:ea typeface="Calibri" pitchFamily="34" charset="-122"/>
                <a:cs typeface="Calibri" pitchFamily="34" charset="-120"/>
              </a:rPr>
              <a:t>Proposal: 4-byte magic + 1 version byte + 1 key-ID byte, then salt and nonce as today.</a:t>
            </a:r>
            <a:endParaRPr lang="en-US" sz="1250" dirty="0"/>
          </a:p>
          <a:p>
            <a:pPr marL="342900" indent="-342900">
              <a:lnSpc>
                <a:spcPct val="102000"/>
              </a:lnSpc>
              <a:spcAft>
                <a:spcPts val="800"/>
              </a:spcAft>
              <a:buSzPct val="100000"/>
              <a:buChar char="•"/>
            </a:pPr>
            <a:r>
              <a:rPr lang="en-US" sz="1250" dirty="0">
                <a:solidFill>
                  <a:srgbClr val="3D4C5A"/>
                </a:solidFill>
                <a:latin typeface="Calibri" pitchFamily="34" charset="0"/>
                <a:ea typeface="Calibri" pitchFamily="34" charset="-122"/>
                <a:cs typeface="Calibri" pitchFamily="34" charset="-120"/>
              </a:rPr>
              <a:t>This is free to add before the first production write and expensive afterwards.</a:t>
            </a:r>
            <a:endParaRPr lang="en-US" sz="1250" dirty="0"/>
          </a:p>
        </p:txBody>
      </p:sp>
      <p:sp>
        <p:nvSpPr>
          <p:cNvPr id="10" name="Shape 8"/>
          <p:cNvSpPr/>
          <p:nvPr/>
        </p:nvSpPr>
        <p:spPr>
          <a:xfrm>
            <a:off x="566928" y="4882896"/>
            <a:ext cx="11057839" cy="1115568"/>
          </a:xfrm>
          <a:prstGeom prst="roundRect">
            <a:avLst>
              <a:gd name="adj" fmla="val 4918"/>
            </a:avLst>
          </a:prstGeom>
          <a:solidFill>
            <a:srgbClr val="0F1721"/>
          </a:solidFill>
          <a:ln w="6350">
            <a:solidFill>
              <a:srgbClr val="0F1721"/>
            </a:solidFill>
            <a:prstDash val="solid"/>
          </a:ln>
        </p:spPr>
        <p:txBody>
          <a:bodyPr/>
          <a:lstStyle/>
          <a:p>
            <a:endParaRPr lang="en-US"/>
          </a:p>
        </p:txBody>
      </p:sp>
      <p:sp>
        <p:nvSpPr>
          <p:cNvPr id="11" name="Text 9"/>
          <p:cNvSpPr/>
          <p:nvPr/>
        </p:nvSpPr>
        <p:spPr>
          <a:xfrm>
            <a:off x="950976" y="5102352"/>
            <a:ext cx="5486400" cy="310896"/>
          </a:xfrm>
          <a:prstGeom prst="rect">
            <a:avLst/>
          </a:prstGeom>
          <a:noFill/>
          <a:ln/>
        </p:spPr>
        <p:txBody>
          <a:bodyPr wrap="square" lIns="0" tIns="0" rIns="0" bIns="0" rtlCol="0" anchor="t"/>
          <a:lstStyle/>
          <a:p>
            <a:pPr marL="0" indent="0" algn="l">
              <a:lnSpc>
                <a:spcPct val="106000"/>
              </a:lnSpc>
              <a:buNone/>
            </a:pPr>
            <a:r>
              <a:rPr lang="en-US" sz="1500" b="1" dirty="0">
                <a:solidFill>
                  <a:srgbClr val="E8A033"/>
                </a:solidFill>
                <a:latin typeface="Calibri" pitchFamily="34" charset="0"/>
                <a:ea typeface="Calibri" pitchFamily="34" charset="-122"/>
                <a:cs typeface="Calibri" pitchFamily="34" charset="-120"/>
              </a:rPr>
              <a:t>Rotation you have not rehearsed is not rotation.</a:t>
            </a:r>
            <a:endParaRPr lang="en-US" sz="1500" dirty="0"/>
          </a:p>
        </p:txBody>
      </p:sp>
      <p:sp>
        <p:nvSpPr>
          <p:cNvPr id="12" name="Text 10"/>
          <p:cNvSpPr/>
          <p:nvPr/>
        </p:nvSpPr>
        <p:spPr>
          <a:xfrm>
            <a:off x="950976" y="5449824"/>
            <a:ext cx="10234879" cy="384048"/>
          </a:xfrm>
          <a:prstGeom prst="rect">
            <a:avLst/>
          </a:prstGeom>
          <a:noFill/>
          <a:ln/>
        </p:spPr>
        <p:txBody>
          <a:bodyPr wrap="square" lIns="0" tIns="0" rIns="0" bIns="0" rtlCol="0" anchor="t"/>
          <a:lstStyle/>
          <a:p>
            <a:pPr marL="0" indent="0" algn="l">
              <a:lnSpc>
                <a:spcPct val="106000"/>
              </a:lnSpc>
              <a:buNone/>
            </a:pPr>
            <a:r>
              <a:rPr lang="en-US" sz="1300" dirty="0">
                <a:solidFill>
                  <a:srgbClr val="C6D3DE"/>
                </a:solidFill>
                <a:latin typeface="Calibri" pitchFamily="34" charset="0"/>
                <a:ea typeface="Calibri" pitchFamily="34" charset="-122"/>
                <a:cs typeface="Calibri" pitchFamily="34" charset="-120"/>
              </a:rPr>
              <a:t>Support two live key versions at once, roll forward, then retire the old ID — the version byte is what makes that a config change instead of an outage.</a:t>
            </a:r>
            <a:endParaRPr lang="en-US" sz="1300" dirty="0"/>
          </a:p>
        </p:txBody>
      </p:sp>
      <p:sp>
        <p:nvSpPr>
          <p:cNvPr id="13" name="Text 11"/>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3 · Beyond the defaults</a:t>
            </a:r>
            <a:endParaRPr lang="en-US" sz="950" dirty="0"/>
          </a:p>
        </p:txBody>
      </p:sp>
      <p:sp>
        <p:nvSpPr>
          <p:cNvPr id="14" name="Text 12"/>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19</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HARDENING 3 OF 3</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The key-management ladder</a:t>
            </a:r>
            <a:endParaRPr lang="en-US" sz="3100" dirty="0"/>
          </a:p>
        </p:txBody>
      </p:sp>
      <p:sp>
        <p:nvSpPr>
          <p:cNvPr id="4" name="Text 2"/>
          <p:cNvSpPr/>
          <p:nvPr/>
        </p:nvSpPr>
        <p:spPr>
          <a:xfrm>
            <a:off x="566928" y="1298448"/>
            <a:ext cx="11057839" cy="365760"/>
          </a:xfrm>
          <a:prstGeom prst="rect">
            <a:avLst/>
          </a:prstGeom>
          <a:noFill/>
          <a:ln/>
        </p:spPr>
        <p:txBody>
          <a:bodyPr wrap="square" lIns="0" tIns="0" rIns="0" bIns="0" rtlCol="0" anchor="ctr"/>
          <a:lstStyle/>
          <a:p>
            <a:pPr marL="0" indent="0">
              <a:lnSpc>
                <a:spcPct val="105000"/>
              </a:lnSpc>
              <a:buNone/>
            </a:pPr>
            <a:r>
              <a:rPr lang="en-US" sz="1450" dirty="0">
                <a:solidFill>
                  <a:srgbClr val="7A8894"/>
                </a:solidFill>
                <a:latin typeface="Calibri" pitchFamily="34" charset="0"/>
                <a:ea typeface="Calibri" pitchFamily="34" charset="-122"/>
                <a:cs typeface="Calibri" pitchFamily="34" charset="-120"/>
              </a:rPr>
              <a:t>The algorithm is the easy part. Custody of the key material is what actually determines how safe this is.</a:t>
            </a:r>
            <a:endParaRPr lang="en-US" sz="1450" dirty="0"/>
          </a:p>
        </p:txBody>
      </p:sp>
      <p:sp>
        <p:nvSpPr>
          <p:cNvPr id="5" name="Shape 3"/>
          <p:cNvSpPr/>
          <p:nvPr/>
        </p:nvSpPr>
        <p:spPr>
          <a:xfrm>
            <a:off x="566928" y="1847088"/>
            <a:ext cx="11057839" cy="566928"/>
          </a:xfrm>
          <a:prstGeom prst="roundRect">
            <a:avLst>
              <a:gd name="adj" fmla="val 9677"/>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6" name="Shape 4"/>
          <p:cNvSpPr/>
          <p:nvPr/>
        </p:nvSpPr>
        <p:spPr>
          <a:xfrm>
            <a:off x="731520" y="1947672"/>
            <a:ext cx="365760" cy="365760"/>
          </a:xfrm>
          <a:prstGeom prst="ellipse">
            <a:avLst/>
          </a:prstGeom>
          <a:solidFill>
            <a:srgbClr val="D0524E"/>
          </a:solidFill>
          <a:ln w="6350">
            <a:solidFill>
              <a:srgbClr val="D0524E"/>
            </a:solidFill>
            <a:prstDash val="solid"/>
          </a:ln>
        </p:spPr>
        <p:txBody>
          <a:bodyPr/>
          <a:lstStyle/>
          <a:p>
            <a:endParaRPr lang="en-US"/>
          </a:p>
        </p:txBody>
      </p:sp>
      <p:sp>
        <p:nvSpPr>
          <p:cNvPr id="7" name="Text 5"/>
          <p:cNvSpPr/>
          <p:nvPr/>
        </p:nvSpPr>
        <p:spPr>
          <a:xfrm>
            <a:off x="731520" y="19476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1225296" y="2020824"/>
            <a:ext cx="2834640" cy="274320"/>
          </a:xfrm>
          <a:prstGeom prst="rect">
            <a:avLst/>
          </a:prstGeom>
          <a:noFill/>
          <a:ln/>
        </p:spPr>
        <p:txBody>
          <a:bodyPr wrap="square" lIns="0" tIns="0" rIns="0" bIns="0" rtlCol="0" anchor="t"/>
          <a:lstStyle/>
          <a:p>
            <a:pPr marL="0" indent="0" algn="l">
              <a:lnSpc>
                <a:spcPct val="106000"/>
              </a:lnSpc>
              <a:buNone/>
            </a:pPr>
            <a:r>
              <a:rPr lang="en-US" sz="1400" b="1" dirty="0">
                <a:solidFill>
                  <a:srgbClr val="16212E"/>
                </a:solidFill>
                <a:latin typeface="Calibri" pitchFamily="34" charset="0"/>
                <a:ea typeface="Calibri" pitchFamily="34" charset="-122"/>
                <a:cs typeface="Calibri" pitchFamily="34" charset="-120"/>
              </a:rPr>
              <a:t>.env file</a:t>
            </a:r>
            <a:endParaRPr lang="en-US" sz="1400" dirty="0"/>
          </a:p>
        </p:txBody>
      </p:sp>
      <p:sp>
        <p:nvSpPr>
          <p:cNvPr id="9" name="Text 7"/>
          <p:cNvSpPr/>
          <p:nvPr/>
        </p:nvSpPr>
        <p:spPr>
          <a:xfrm>
            <a:off x="4133088" y="2029968"/>
            <a:ext cx="5754319" cy="292608"/>
          </a:xfrm>
          <a:prstGeom prst="rect">
            <a:avLst/>
          </a:prstGeom>
          <a:noFill/>
          <a:ln/>
        </p:spPr>
        <p:txBody>
          <a:bodyPr wrap="square" lIns="0" tIns="0" rIns="0" bIns="0" rtlCol="0" anchor="t"/>
          <a:lstStyle/>
          <a:p>
            <a:pPr marL="0" indent="0" algn="l">
              <a:lnSpc>
                <a:spcPct val="106000"/>
              </a:lnSpc>
              <a:buNone/>
            </a:pPr>
            <a:r>
              <a:rPr lang="en-US" sz="1200" dirty="0">
                <a:solidFill>
                  <a:srgbClr val="3D4C5A"/>
                </a:solidFill>
                <a:latin typeface="Calibri" pitchFamily="34" charset="0"/>
                <a:ea typeface="Calibri" pitchFamily="34" charset="-122"/>
                <a:cs typeface="Calibri" pitchFamily="34" charset="-120"/>
              </a:rPr>
              <a:t>Development only, never off the laptop.</a:t>
            </a:r>
            <a:endParaRPr lang="en-US" sz="1200" dirty="0"/>
          </a:p>
        </p:txBody>
      </p:sp>
      <p:sp>
        <p:nvSpPr>
          <p:cNvPr id="10" name="Shape 8"/>
          <p:cNvSpPr/>
          <p:nvPr/>
        </p:nvSpPr>
        <p:spPr>
          <a:xfrm>
            <a:off x="822960" y="2514600"/>
            <a:ext cx="10801807" cy="566928"/>
          </a:xfrm>
          <a:prstGeom prst="roundRect">
            <a:avLst>
              <a:gd name="adj" fmla="val 9677"/>
            </a:avLst>
          </a:prstGeom>
          <a:solidFill>
            <a:srgbClr val="FBEEDA"/>
          </a:solidFill>
          <a:ln w="6350">
            <a:solidFill>
              <a:srgbClr val="FBEEDA"/>
            </a:solidFill>
            <a:prstDash val="solid"/>
          </a:ln>
          <a:effectLst>
            <a:outerShdw blurRad="114300" dist="25400" dir="5400000" algn="bl" rotWithShape="0">
              <a:srgbClr val="9FB0BF">
                <a:alpha val="25000"/>
              </a:srgbClr>
            </a:outerShdw>
          </a:effectLst>
        </p:spPr>
        <p:txBody>
          <a:bodyPr/>
          <a:lstStyle/>
          <a:p>
            <a:endParaRPr lang="en-US"/>
          </a:p>
        </p:txBody>
      </p:sp>
      <p:sp>
        <p:nvSpPr>
          <p:cNvPr id="11" name="Shape 9"/>
          <p:cNvSpPr/>
          <p:nvPr/>
        </p:nvSpPr>
        <p:spPr>
          <a:xfrm>
            <a:off x="987552" y="2615184"/>
            <a:ext cx="365760" cy="365760"/>
          </a:xfrm>
          <a:prstGeom prst="ellipse">
            <a:avLst/>
          </a:prstGeom>
          <a:solidFill>
            <a:srgbClr val="E8A033"/>
          </a:solidFill>
          <a:ln w="6350">
            <a:solidFill>
              <a:srgbClr val="E8A033"/>
            </a:solidFill>
            <a:prstDash val="solid"/>
          </a:ln>
        </p:spPr>
        <p:txBody>
          <a:bodyPr/>
          <a:lstStyle/>
          <a:p>
            <a:endParaRPr lang="en-US"/>
          </a:p>
        </p:txBody>
      </p:sp>
      <p:sp>
        <p:nvSpPr>
          <p:cNvPr id="12" name="Text 10"/>
          <p:cNvSpPr/>
          <p:nvPr/>
        </p:nvSpPr>
        <p:spPr>
          <a:xfrm>
            <a:off x="987552" y="2615184"/>
            <a:ext cx="365760" cy="365760"/>
          </a:xfrm>
          <a:prstGeom prst="rect">
            <a:avLst/>
          </a:prstGeom>
          <a:noFill/>
          <a:ln/>
        </p:spPr>
        <p:txBody>
          <a:bodyPr wrap="square" lIns="0" tIns="0" rIns="0" bIns="0" rtlCol="0" anchor="ctr"/>
          <a:lstStyle/>
          <a:p>
            <a:pPr marL="0" indent="0" algn="ctr">
              <a:buNone/>
            </a:pPr>
            <a:r>
              <a:rPr lang="en-US" sz="1300" b="1" dirty="0">
                <a:solidFill>
                  <a:srgbClr val="0F1721"/>
                </a:solidFill>
                <a:latin typeface="Cambria" pitchFamily="34" charset="0"/>
                <a:ea typeface="Cambria" pitchFamily="34" charset="-122"/>
                <a:cs typeface="Cambria" pitchFamily="34" charset="-120"/>
              </a:rPr>
              <a:t>2</a:t>
            </a:r>
            <a:endParaRPr lang="en-US" sz="1300" dirty="0"/>
          </a:p>
        </p:txBody>
      </p:sp>
      <p:sp>
        <p:nvSpPr>
          <p:cNvPr id="13" name="Text 11"/>
          <p:cNvSpPr/>
          <p:nvPr/>
        </p:nvSpPr>
        <p:spPr>
          <a:xfrm>
            <a:off x="1481328" y="2688336"/>
            <a:ext cx="2834640" cy="274320"/>
          </a:xfrm>
          <a:prstGeom prst="rect">
            <a:avLst/>
          </a:prstGeom>
          <a:noFill/>
          <a:ln/>
        </p:spPr>
        <p:txBody>
          <a:bodyPr wrap="square" lIns="0" tIns="0" rIns="0" bIns="0" rtlCol="0" anchor="t"/>
          <a:lstStyle/>
          <a:p>
            <a:pPr marL="0" indent="0" algn="l">
              <a:lnSpc>
                <a:spcPct val="106000"/>
              </a:lnSpc>
              <a:buNone/>
            </a:pPr>
            <a:r>
              <a:rPr lang="en-US" sz="1400" b="1" dirty="0">
                <a:solidFill>
                  <a:srgbClr val="16212E"/>
                </a:solidFill>
                <a:latin typeface="Calibri" pitchFamily="34" charset="0"/>
                <a:ea typeface="Calibri" pitchFamily="34" charset="-122"/>
                <a:cs typeface="Calibri" pitchFamily="34" charset="-120"/>
              </a:rPr>
              <a:t>Secret manager</a:t>
            </a:r>
            <a:endParaRPr lang="en-US" sz="1400" dirty="0"/>
          </a:p>
        </p:txBody>
      </p:sp>
      <p:sp>
        <p:nvSpPr>
          <p:cNvPr id="14" name="Text 12"/>
          <p:cNvSpPr/>
          <p:nvPr/>
        </p:nvSpPr>
        <p:spPr>
          <a:xfrm>
            <a:off x="4389120" y="2697480"/>
            <a:ext cx="5498287" cy="292608"/>
          </a:xfrm>
          <a:prstGeom prst="rect">
            <a:avLst/>
          </a:prstGeom>
          <a:noFill/>
          <a:ln/>
        </p:spPr>
        <p:txBody>
          <a:bodyPr wrap="square" lIns="0" tIns="0" rIns="0" bIns="0" rtlCol="0" anchor="t"/>
          <a:lstStyle/>
          <a:p>
            <a:pPr marL="0" indent="0" algn="l">
              <a:lnSpc>
                <a:spcPct val="106000"/>
              </a:lnSpc>
              <a:buNone/>
            </a:pPr>
            <a:r>
              <a:rPr lang="en-US" sz="1200" dirty="0">
                <a:solidFill>
                  <a:srgbClr val="3D4C5A"/>
                </a:solidFill>
                <a:latin typeface="Calibri" pitchFamily="34" charset="0"/>
                <a:ea typeface="Calibri" pitchFamily="34" charset="-122"/>
                <a:cs typeface="Calibri" pitchFamily="34" charset="-120"/>
              </a:rPr>
              <a:t>Azure Key Vault, AWS Secrets Manager, HashiCorp Vault. Fetched at startup, RBAC on the secret.</a:t>
            </a:r>
            <a:endParaRPr lang="en-US" sz="1200" dirty="0"/>
          </a:p>
        </p:txBody>
      </p:sp>
      <p:sp>
        <p:nvSpPr>
          <p:cNvPr id="15" name="Shape 13"/>
          <p:cNvSpPr/>
          <p:nvPr/>
        </p:nvSpPr>
        <p:spPr>
          <a:xfrm>
            <a:off x="10024567" y="2651760"/>
            <a:ext cx="1417320" cy="292608"/>
          </a:xfrm>
          <a:prstGeom prst="roundRect">
            <a:avLst>
              <a:gd name="adj" fmla="val 156250"/>
            </a:avLst>
          </a:prstGeom>
          <a:solidFill>
            <a:srgbClr val="E8A033"/>
          </a:solidFill>
          <a:ln w="6350">
            <a:solidFill>
              <a:srgbClr val="E8A033"/>
            </a:solidFill>
            <a:prstDash val="solid"/>
          </a:ln>
        </p:spPr>
        <p:txBody>
          <a:bodyPr/>
          <a:lstStyle/>
          <a:p>
            <a:endParaRPr lang="en-US"/>
          </a:p>
        </p:txBody>
      </p:sp>
      <p:sp>
        <p:nvSpPr>
          <p:cNvPr id="16" name="Text 14"/>
          <p:cNvSpPr/>
          <p:nvPr/>
        </p:nvSpPr>
        <p:spPr>
          <a:xfrm>
            <a:off x="10024567" y="2651760"/>
            <a:ext cx="1417320" cy="292608"/>
          </a:xfrm>
          <a:prstGeom prst="rect">
            <a:avLst/>
          </a:prstGeom>
          <a:noFill/>
          <a:ln/>
        </p:spPr>
        <p:txBody>
          <a:bodyPr wrap="square" lIns="0" tIns="0" rIns="0" bIns="0" rtlCol="0" anchor="ctr"/>
          <a:lstStyle/>
          <a:p>
            <a:pPr marL="0" indent="0" algn="ctr">
              <a:buNone/>
            </a:pPr>
            <a:r>
              <a:rPr lang="en-US" sz="1050" b="1" kern="0" spc="60" dirty="0">
                <a:solidFill>
                  <a:srgbClr val="0F1721"/>
                </a:solidFill>
                <a:latin typeface="Calibri" pitchFamily="34" charset="0"/>
                <a:ea typeface="Calibri" pitchFamily="34" charset="-122"/>
                <a:cs typeface="Calibri" pitchFamily="34" charset="-120"/>
              </a:rPr>
              <a:t>WE ARE HERE</a:t>
            </a:r>
            <a:endParaRPr lang="en-US" sz="1050" dirty="0"/>
          </a:p>
        </p:txBody>
      </p:sp>
      <p:sp>
        <p:nvSpPr>
          <p:cNvPr id="17" name="Shape 15"/>
          <p:cNvSpPr/>
          <p:nvPr/>
        </p:nvSpPr>
        <p:spPr>
          <a:xfrm>
            <a:off x="1078992" y="3182112"/>
            <a:ext cx="10545775" cy="566928"/>
          </a:xfrm>
          <a:prstGeom prst="roundRect">
            <a:avLst>
              <a:gd name="adj" fmla="val 9677"/>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8" name="Shape 16"/>
          <p:cNvSpPr/>
          <p:nvPr/>
        </p:nvSpPr>
        <p:spPr>
          <a:xfrm>
            <a:off x="1243584" y="3282696"/>
            <a:ext cx="365760" cy="365760"/>
          </a:xfrm>
          <a:prstGeom prst="ellipse">
            <a:avLst/>
          </a:prstGeom>
          <a:solidFill>
            <a:srgbClr val="2C3E50"/>
          </a:solidFill>
          <a:ln w="6350">
            <a:solidFill>
              <a:srgbClr val="2C3E50"/>
            </a:solidFill>
            <a:prstDash val="solid"/>
          </a:ln>
        </p:spPr>
        <p:txBody>
          <a:bodyPr/>
          <a:lstStyle/>
          <a:p>
            <a:endParaRPr lang="en-US"/>
          </a:p>
        </p:txBody>
      </p:sp>
      <p:sp>
        <p:nvSpPr>
          <p:cNvPr id="19" name="Text 17"/>
          <p:cNvSpPr/>
          <p:nvPr/>
        </p:nvSpPr>
        <p:spPr>
          <a:xfrm>
            <a:off x="1243584" y="328269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8"/>
          <p:cNvSpPr/>
          <p:nvPr/>
        </p:nvSpPr>
        <p:spPr>
          <a:xfrm>
            <a:off x="1737360" y="3355848"/>
            <a:ext cx="2834640" cy="274320"/>
          </a:xfrm>
          <a:prstGeom prst="rect">
            <a:avLst/>
          </a:prstGeom>
          <a:noFill/>
          <a:ln/>
        </p:spPr>
        <p:txBody>
          <a:bodyPr wrap="square" lIns="0" tIns="0" rIns="0" bIns="0" rtlCol="0" anchor="t"/>
          <a:lstStyle/>
          <a:p>
            <a:pPr marL="0" indent="0" algn="l">
              <a:lnSpc>
                <a:spcPct val="106000"/>
              </a:lnSpc>
              <a:buNone/>
            </a:pPr>
            <a:r>
              <a:rPr lang="en-US" sz="1400" b="1" dirty="0">
                <a:solidFill>
                  <a:srgbClr val="16212E"/>
                </a:solidFill>
                <a:latin typeface="Calibri" pitchFamily="34" charset="0"/>
                <a:ea typeface="Calibri" pitchFamily="34" charset="-122"/>
                <a:cs typeface="Calibri" pitchFamily="34" charset="-120"/>
              </a:rPr>
              <a:t>KMS or HSM</a:t>
            </a:r>
            <a:endParaRPr lang="en-US" sz="1400" dirty="0"/>
          </a:p>
        </p:txBody>
      </p:sp>
      <p:sp>
        <p:nvSpPr>
          <p:cNvPr id="21" name="Text 19"/>
          <p:cNvSpPr/>
          <p:nvPr/>
        </p:nvSpPr>
        <p:spPr>
          <a:xfrm>
            <a:off x="4645152" y="3364992"/>
            <a:ext cx="5242255" cy="292608"/>
          </a:xfrm>
          <a:prstGeom prst="rect">
            <a:avLst/>
          </a:prstGeom>
          <a:noFill/>
          <a:ln/>
        </p:spPr>
        <p:txBody>
          <a:bodyPr wrap="square" lIns="0" tIns="0" rIns="0" bIns="0" rtlCol="0" anchor="t"/>
          <a:lstStyle/>
          <a:p>
            <a:pPr marL="0" indent="0" algn="l">
              <a:lnSpc>
                <a:spcPct val="106000"/>
              </a:lnSpc>
              <a:buNone/>
            </a:pPr>
            <a:r>
              <a:rPr lang="en-US" sz="1200" dirty="0">
                <a:solidFill>
                  <a:srgbClr val="3D4C5A"/>
                </a:solidFill>
                <a:latin typeface="Calibri" pitchFamily="34" charset="0"/>
                <a:ea typeface="Calibri" pitchFamily="34" charset="-122"/>
                <a:cs typeface="Calibri" pitchFamily="34" charset="-120"/>
              </a:rPr>
              <a:t>The key never leaves the boundary — you send data to it rather than pulling the key to you.</a:t>
            </a:r>
            <a:endParaRPr lang="en-US" sz="1200" dirty="0"/>
          </a:p>
        </p:txBody>
      </p:sp>
      <p:sp>
        <p:nvSpPr>
          <p:cNvPr id="22" name="Shape 20"/>
          <p:cNvSpPr/>
          <p:nvPr/>
        </p:nvSpPr>
        <p:spPr>
          <a:xfrm>
            <a:off x="1335024" y="3849624"/>
            <a:ext cx="10289743" cy="566928"/>
          </a:xfrm>
          <a:prstGeom prst="roundRect">
            <a:avLst>
              <a:gd name="adj" fmla="val 9677"/>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23" name="Shape 21"/>
          <p:cNvSpPr/>
          <p:nvPr/>
        </p:nvSpPr>
        <p:spPr>
          <a:xfrm>
            <a:off x="1499616" y="3950208"/>
            <a:ext cx="365760" cy="365760"/>
          </a:xfrm>
          <a:prstGeom prst="ellipse">
            <a:avLst/>
          </a:prstGeom>
          <a:solidFill>
            <a:srgbClr val="2C3E50"/>
          </a:solidFill>
          <a:ln w="6350">
            <a:solidFill>
              <a:srgbClr val="2C3E50"/>
            </a:solidFill>
            <a:prstDash val="solid"/>
          </a:ln>
        </p:spPr>
        <p:txBody>
          <a:bodyPr/>
          <a:lstStyle/>
          <a:p>
            <a:endParaRPr lang="en-US"/>
          </a:p>
        </p:txBody>
      </p:sp>
      <p:sp>
        <p:nvSpPr>
          <p:cNvPr id="24" name="Text 22"/>
          <p:cNvSpPr/>
          <p:nvPr/>
        </p:nvSpPr>
        <p:spPr>
          <a:xfrm>
            <a:off x="1499616" y="39502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5" name="Text 23"/>
          <p:cNvSpPr/>
          <p:nvPr/>
        </p:nvSpPr>
        <p:spPr>
          <a:xfrm>
            <a:off x="1993392" y="4023360"/>
            <a:ext cx="2834640" cy="274320"/>
          </a:xfrm>
          <a:prstGeom prst="rect">
            <a:avLst/>
          </a:prstGeom>
          <a:noFill/>
          <a:ln/>
        </p:spPr>
        <p:txBody>
          <a:bodyPr wrap="square" lIns="0" tIns="0" rIns="0" bIns="0" rtlCol="0" anchor="t"/>
          <a:lstStyle/>
          <a:p>
            <a:pPr marL="0" indent="0" algn="l">
              <a:lnSpc>
                <a:spcPct val="106000"/>
              </a:lnSpc>
              <a:buNone/>
            </a:pPr>
            <a:r>
              <a:rPr lang="en-US" sz="1400" b="1" dirty="0">
                <a:solidFill>
                  <a:srgbClr val="16212E"/>
                </a:solidFill>
                <a:latin typeface="Calibri" pitchFamily="34" charset="0"/>
                <a:ea typeface="Calibri" pitchFamily="34" charset="-122"/>
                <a:cs typeface="Calibri" pitchFamily="34" charset="-120"/>
              </a:rPr>
              <a:t>Envelope encryption</a:t>
            </a:r>
            <a:endParaRPr lang="en-US" sz="1400" dirty="0"/>
          </a:p>
        </p:txBody>
      </p:sp>
      <p:sp>
        <p:nvSpPr>
          <p:cNvPr id="26" name="Text 24"/>
          <p:cNvSpPr/>
          <p:nvPr/>
        </p:nvSpPr>
        <p:spPr>
          <a:xfrm>
            <a:off x="4901184" y="4032504"/>
            <a:ext cx="4986223" cy="292608"/>
          </a:xfrm>
          <a:prstGeom prst="rect">
            <a:avLst/>
          </a:prstGeom>
          <a:noFill/>
          <a:ln/>
        </p:spPr>
        <p:txBody>
          <a:bodyPr wrap="square" lIns="0" tIns="0" rIns="0" bIns="0" rtlCol="0" anchor="t"/>
          <a:lstStyle/>
          <a:p>
            <a:pPr marL="0" indent="0" algn="l">
              <a:lnSpc>
                <a:spcPct val="106000"/>
              </a:lnSpc>
              <a:buNone/>
            </a:pPr>
            <a:r>
              <a:rPr lang="en-US" sz="1200" dirty="0">
                <a:solidFill>
                  <a:srgbClr val="3D4C5A"/>
                </a:solidFill>
                <a:latin typeface="Calibri" pitchFamily="34" charset="0"/>
                <a:ea typeface="Calibri" pitchFamily="34" charset="-122"/>
                <a:cs typeface="Calibri" pitchFamily="34" charset="-120"/>
              </a:rPr>
              <a:t>A KEK inside KMS wraps per-tenant DEKs, so rotating the KEK does not mean re-encrypting everything.</a:t>
            </a:r>
            <a:endParaRPr lang="en-US" sz="1200" dirty="0"/>
          </a:p>
        </p:txBody>
      </p:sp>
      <p:sp>
        <p:nvSpPr>
          <p:cNvPr id="27" name="Shape 25"/>
          <p:cNvSpPr/>
          <p:nvPr/>
        </p:nvSpPr>
        <p:spPr>
          <a:xfrm>
            <a:off x="1591056" y="4517136"/>
            <a:ext cx="10033711" cy="566928"/>
          </a:xfrm>
          <a:prstGeom prst="roundRect">
            <a:avLst>
              <a:gd name="adj" fmla="val 9677"/>
            </a:avLst>
          </a:prstGeom>
          <a:solidFill>
            <a:srgbClr val="E2F4EF"/>
          </a:solidFill>
          <a:ln w="6350">
            <a:solidFill>
              <a:srgbClr val="E2F4EF"/>
            </a:solidFill>
            <a:prstDash val="solid"/>
          </a:ln>
          <a:effectLst>
            <a:outerShdw blurRad="114300" dist="25400" dir="5400000" algn="bl" rotWithShape="0">
              <a:srgbClr val="9FB0BF">
                <a:alpha val="25000"/>
              </a:srgbClr>
            </a:outerShdw>
          </a:effectLst>
        </p:spPr>
        <p:txBody>
          <a:bodyPr/>
          <a:lstStyle/>
          <a:p>
            <a:endParaRPr lang="en-US"/>
          </a:p>
        </p:txBody>
      </p:sp>
      <p:sp>
        <p:nvSpPr>
          <p:cNvPr id="28" name="Shape 26"/>
          <p:cNvSpPr/>
          <p:nvPr/>
        </p:nvSpPr>
        <p:spPr>
          <a:xfrm>
            <a:off x="1755648" y="4617720"/>
            <a:ext cx="365760" cy="365760"/>
          </a:xfrm>
          <a:prstGeom prst="ellipse">
            <a:avLst/>
          </a:prstGeom>
          <a:solidFill>
            <a:srgbClr val="2BA88C"/>
          </a:solidFill>
          <a:ln w="6350">
            <a:solidFill>
              <a:srgbClr val="2BA88C"/>
            </a:solidFill>
            <a:prstDash val="solid"/>
          </a:ln>
        </p:spPr>
        <p:txBody>
          <a:bodyPr/>
          <a:lstStyle/>
          <a:p>
            <a:endParaRPr lang="en-US"/>
          </a:p>
        </p:txBody>
      </p:sp>
      <p:sp>
        <p:nvSpPr>
          <p:cNvPr id="29" name="Text 27"/>
          <p:cNvSpPr/>
          <p:nvPr/>
        </p:nvSpPr>
        <p:spPr>
          <a:xfrm>
            <a:off x="1755648" y="46177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0" name="Text 28"/>
          <p:cNvSpPr/>
          <p:nvPr/>
        </p:nvSpPr>
        <p:spPr>
          <a:xfrm>
            <a:off x="2249424" y="4690872"/>
            <a:ext cx="2834640" cy="274320"/>
          </a:xfrm>
          <a:prstGeom prst="rect">
            <a:avLst/>
          </a:prstGeom>
          <a:noFill/>
          <a:ln/>
        </p:spPr>
        <p:txBody>
          <a:bodyPr wrap="square" lIns="0" tIns="0" rIns="0" bIns="0" rtlCol="0" anchor="t"/>
          <a:lstStyle/>
          <a:p>
            <a:pPr marL="0" indent="0" algn="l">
              <a:lnSpc>
                <a:spcPct val="106000"/>
              </a:lnSpc>
              <a:buNone/>
            </a:pPr>
            <a:r>
              <a:rPr lang="en-US" sz="1400" b="1" dirty="0">
                <a:solidFill>
                  <a:srgbClr val="16212E"/>
                </a:solidFill>
                <a:latin typeface="Calibri" pitchFamily="34" charset="0"/>
                <a:ea typeface="Calibri" pitchFamily="34" charset="-122"/>
                <a:cs typeface="Calibri" pitchFamily="34" charset="-120"/>
              </a:rPr>
              <a:t>Automated rotation, RBAC and audit</a:t>
            </a:r>
            <a:endParaRPr lang="en-US" sz="1400" dirty="0"/>
          </a:p>
        </p:txBody>
      </p:sp>
      <p:sp>
        <p:nvSpPr>
          <p:cNvPr id="31" name="Text 29"/>
          <p:cNvSpPr/>
          <p:nvPr/>
        </p:nvSpPr>
        <p:spPr>
          <a:xfrm>
            <a:off x="5157216" y="4700016"/>
            <a:ext cx="4730191" cy="292608"/>
          </a:xfrm>
          <a:prstGeom prst="rect">
            <a:avLst/>
          </a:prstGeom>
          <a:noFill/>
          <a:ln/>
        </p:spPr>
        <p:txBody>
          <a:bodyPr wrap="square" lIns="0" tIns="0" rIns="0" bIns="0" rtlCol="0" anchor="t"/>
          <a:lstStyle/>
          <a:p>
            <a:pPr marL="0" indent="0" algn="l">
              <a:lnSpc>
                <a:spcPct val="106000"/>
              </a:lnSpc>
              <a:buNone/>
            </a:pPr>
            <a:r>
              <a:rPr lang="en-US" sz="1200" dirty="0">
                <a:solidFill>
                  <a:srgbClr val="3D4C5A"/>
                </a:solidFill>
                <a:latin typeface="Calibri" pitchFamily="34" charset="0"/>
                <a:ea typeface="Calibri" pitchFamily="34" charset="-122"/>
                <a:cs typeface="Calibri" pitchFamily="34" charset="-120"/>
              </a:rPr>
              <a:t>Rotation on a schedule, every access logged, and a rehearsed rollback.</a:t>
            </a:r>
            <a:endParaRPr lang="en-US" sz="1200" dirty="0"/>
          </a:p>
        </p:txBody>
      </p:sp>
      <p:sp>
        <p:nvSpPr>
          <p:cNvPr id="32" name="Shape 30"/>
          <p:cNvSpPr/>
          <p:nvPr/>
        </p:nvSpPr>
        <p:spPr>
          <a:xfrm>
            <a:off x="10024567" y="4654296"/>
            <a:ext cx="1417320" cy="292608"/>
          </a:xfrm>
          <a:prstGeom prst="roundRect">
            <a:avLst>
              <a:gd name="adj" fmla="val 156250"/>
            </a:avLst>
          </a:prstGeom>
          <a:solidFill>
            <a:srgbClr val="2BA88C"/>
          </a:solidFill>
          <a:ln w="6350">
            <a:solidFill>
              <a:srgbClr val="2BA88C"/>
            </a:solidFill>
            <a:prstDash val="solid"/>
          </a:ln>
        </p:spPr>
        <p:txBody>
          <a:bodyPr/>
          <a:lstStyle/>
          <a:p>
            <a:endParaRPr lang="en-US"/>
          </a:p>
        </p:txBody>
      </p:sp>
      <p:sp>
        <p:nvSpPr>
          <p:cNvPr id="33" name="Text 31"/>
          <p:cNvSpPr/>
          <p:nvPr/>
        </p:nvSpPr>
        <p:spPr>
          <a:xfrm>
            <a:off x="10024567" y="4654296"/>
            <a:ext cx="1417320" cy="292608"/>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TARGET</a:t>
            </a:r>
            <a:endParaRPr lang="en-US" sz="1050" dirty="0"/>
          </a:p>
        </p:txBody>
      </p:sp>
      <p:sp>
        <p:nvSpPr>
          <p:cNvPr id="36" name="Text 34"/>
          <p:cNvSpPr/>
          <p:nvPr/>
        </p:nvSpPr>
        <p:spPr>
          <a:xfrm>
            <a:off x="859536" y="5431536"/>
            <a:ext cx="1417320" cy="310896"/>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ACTION NOW</a:t>
            </a:r>
            <a:endParaRPr lang="en-US" sz="1050" dirty="0"/>
          </a:p>
        </p:txBody>
      </p:sp>
      <p:sp>
        <p:nvSpPr>
          <p:cNvPr id="38" name="Text 36"/>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3 · Beyond the defaults</a:t>
            </a:r>
            <a:endParaRPr lang="en-US" sz="950" dirty="0"/>
          </a:p>
        </p:txBody>
      </p:sp>
      <p:sp>
        <p:nvSpPr>
          <p:cNvPr id="39" name="Text 37"/>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20</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SETTING EXPECTATIONS</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What this does not protect against</a:t>
            </a:r>
            <a:endParaRPr lang="en-US" sz="3100" dirty="0"/>
          </a:p>
        </p:txBody>
      </p:sp>
      <p:sp>
        <p:nvSpPr>
          <p:cNvPr id="4" name="Shape 2"/>
          <p:cNvSpPr/>
          <p:nvPr/>
        </p:nvSpPr>
        <p:spPr>
          <a:xfrm>
            <a:off x="566928" y="1627632"/>
            <a:ext cx="5230368" cy="3291840"/>
          </a:xfrm>
          <a:prstGeom prst="roundRect">
            <a:avLst>
              <a:gd name="adj" fmla="val 1667"/>
            </a:avLst>
          </a:prstGeom>
          <a:solidFill>
            <a:srgbClr val="FBEAE9"/>
          </a:solidFill>
          <a:ln w="6350">
            <a:solidFill>
              <a:srgbClr val="FBEAE9"/>
            </a:solidFill>
            <a:prstDash val="solid"/>
          </a:ln>
          <a:effectLst>
            <a:outerShdw blurRad="114300" dist="25400" dir="5400000" algn="bl" rotWithShape="0">
              <a:srgbClr val="9FB0BF">
                <a:alpha val="25000"/>
              </a:srgbClr>
            </a:outerShdw>
          </a:effectLst>
        </p:spPr>
        <p:txBody>
          <a:bodyPr/>
          <a:lstStyle/>
          <a:p>
            <a:endParaRPr lang="en-US"/>
          </a:p>
        </p:txBody>
      </p:sp>
      <p:sp>
        <p:nvSpPr>
          <p:cNvPr id="5" name="Text 3"/>
          <p:cNvSpPr/>
          <p:nvPr/>
        </p:nvSpPr>
        <p:spPr>
          <a:xfrm>
            <a:off x="877824" y="1828800"/>
            <a:ext cx="4608576" cy="329184"/>
          </a:xfrm>
          <a:prstGeom prst="rect">
            <a:avLst/>
          </a:prstGeom>
          <a:noFill/>
          <a:ln/>
        </p:spPr>
        <p:txBody>
          <a:bodyPr wrap="square" lIns="0" tIns="0" rIns="0" bIns="0" rtlCol="0" anchor="t"/>
          <a:lstStyle/>
          <a:p>
            <a:pPr marL="0" indent="0" algn="l">
              <a:lnSpc>
                <a:spcPct val="106000"/>
              </a:lnSpc>
              <a:buNone/>
            </a:pPr>
            <a:r>
              <a:rPr lang="en-US" sz="1700" b="1" dirty="0">
                <a:solidFill>
                  <a:srgbClr val="16212E"/>
                </a:solidFill>
                <a:latin typeface="Calibri" pitchFamily="34" charset="0"/>
                <a:ea typeface="Calibri" pitchFamily="34" charset="-122"/>
                <a:cs typeface="Calibri" pitchFamily="34" charset="-120"/>
              </a:rPr>
              <a:t>Still fully exposed</a:t>
            </a:r>
            <a:endParaRPr lang="en-US" sz="1700" dirty="0"/>
          </a:p>
        </p:txBody>
      </p:sp>
      <p:sp>
        <p:nvSpPr>
          <p:cNvPr id="6" name="Text 4"/>
          <p:cNvSpPr/>
          <p:nvPr/>
        </p:nvSpPr>
        <p:spPr>
          <a:xfrm>
            <a:off x="877824" y="2249424"/>
            <a:ext cx="4608576" cy="2468880"/>
          </a:xfrm>
          <a:prstGeom prst="rect">
            <a:avLst/>
          </a:prstGeom>
          <a:noFill/>
          <a:ln/>
        </p:spPr>
        <p:txBody>
          <a:bodyPr wrap="square" lIns="0" tIns="0" rIns="0" bIns="0" rtlCol="0" anchor="ctr"/>
          <a:lstStyle/>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Compromised key material — the whole scheme rests on it</a:t>
            </a:r>
            <a:endParaRPr lang="en-US" sz="1250" dirty="0"/>
          </a:p>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A compromised client or server; plaintext exists at both ends</a:t>
            </a:r>
            <a:endParaRPr lang="en-US" sz="1250" dirty="0"/>
          </a:p>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A valid request that should not have been allowed — authorization is still yours</a:t>
            </a:r>
            <a:endParaRPr lang="en-US" sz="1250" dirty="0"/>
          </a:p>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Replay of a captured valid message, unless we bind time or context into the AAD</a:t>
            </a:r>
            <a:endParaRPr lang="en-US" sz="1250" dirty="0"/>
          </a:p>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Traffic analysis: size, timing and frequency still leak</a:t>
            </a:r>
            <a:endParaRPr lang="en-US" sz="1250" dirty="0"/>
          </a:p>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Bugs in our own parsing before the tag is checked</a:t>
            </a:r>
            <a:endParaRPr lang="en-US" sz="1250" dirty="0"/>
          </a:p>
        </p:txBody>
      </p:sp>
      <p:sp>
        <p:nvSpPr>
          <p:cNvPr id="7" name="Shape 5"/>
          <p:cNvSpPr/>
          <p:nvPr/>
        </p:nvSpPr>
        <p:spPr>
          <a:xfrm>
            <a:off x="6126480" y="1627632"/>
            <a:ext cx="5230368" cy="3291840"/>
          </a:xfrm>
          <a:prstGeom prst="roundRect">
            <a:avLst>
              <a:gd name="adj" fmla="val 1667"/>
            </a:avLst>
          </a:prstGeom>
          <a:solidFill>
            <a:srgbClr val="E2F4EF"/>
          </a:solidFill>
          <a:ln w="6350">
            <a:solidFill>
              <a:srgbClr val="E2F4EF"/>
            </a:solidFill>
            <a:prstDash val="solid"/>
          </a:ln>
          <a:effectLst>
            <a:outerShdw blurRad="114300" dist="25400" dir="5400000" algn="bl" rotWithShape="0">
              <a:srgbClr val="9FB0BF">
                <a:alpha val="25000"/>
              </a:srgbClr>
            </a:outerShdw>
          </a:effectLst>
        </p:spPr>
        <p:txBody>
          <a:bodyPr/>
          <a:lstStyle/>
          <a:p>
            <a:endParaRPr lang="en-US"/>
          </a:p>
        </p:txBody>
      </p:sp>
      <p:sp>
        <p:nvSpPr>
          <p:cNvPr id="8" name="Text 6"/>
          <p:cNvSpPr/>
          <p:nvPr/>
        </p:nvSpPr>
        <p:spPr>
          <a:xfrm>
            <a:off x="6437376" y="1828800"/>
            <a:ext cx="4608576" cy="329184"/>
          </a:xfrm>
          <a:prstGeom prst="rect">
            <a:avLst/>
          </a:prstGeom>
          <a:noFill/>
          <a:ln/>
        </p:spPr>
        <p:txBody>
          <a:bodyPr wrap="square" lIns="0" tIns="0" rIns="0" bIns="0" rtlCol="0" anchor="t"/>
          <a:lstStyle/>
          <a:p>
            <a:pPr marL="0" indent="0" algn="l">
              <a:lnSpc>
                <a:spcPct val="106000"/>
              </a:lnSpc>
              <a:buNone/>
            </a:pPr>
            <a:r>
              <a:rPr lang="en-US" sz="1700" b="1" dirty="0">
                <a:solidFill>
                  <a:srgbClr val="16212E"/>
                </a:solidFill>
                <a:latin typeface="Calibri" pitchFamily="34" charset="0"/>
                <a:ea typeface="Calibri" pitchFamily="34" charset="-122"/>
                <a:cs typeface="Calibri" pitchFamily="34" charset="-120"/>
              </a:rPr>
              <a:t>So we layer on top</a:t>
            </a:r>
            <a:endParaRPr lang="en-US" sz="1700" dirty="0"/>
          </a:p>
        </p:txBody>
      </p:sp>
      <p:sp>
        <p:nvSpPr>
          <p:cNvPr id="9" name="Text 7"/>
          <p:cNvSpPr/>
          <p:nvPr/>
        </p:nvSpPr>
        <p:spPr>
          <a:xfrm>
            <a:off x="6437376" y="2249424"/>
            <a:ext cx="4608576" cy="2468880"/>
          </a:xfrm>
          <a:prstGeom prst="rect">
            <a:avLst/>
          </a:prstGeom>
          <a:noFill/>
          <a:ln/>
        </p:spPr>
        <p:txBody>
          <a:bodyPr wrap="square" lIns="0" tIns="0" rIns="0" bIns="0" rtlCol="0" anchor="ctr"/>
          <a:lstStyle/>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TLS 1.3 in transit — in addition to this, never instead of it</a:t>
            </a:r>
            <a:endParaRPr lang="en-US" sz="1250" dirty="0"/>
          </a:p>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mTLS between internal services</a:t>
            </a:r>
            <a:endParaRPr lang="en-US" sz="1250" dirty="0"/>
          </a:p>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Authorization checked on every endpoint, every time</a:t>
            </a:r>
            <a:endParaRPr lang="en-US" sz="1250" dirty="0"/>
          </a:p>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Rate limits and a replay window: timestamp in the AAD plus a short-lived nonce cache</a:t>
            </a:r>
            <a:endParaRPr lang="en-US" sz="1250" dirty="0"/>
          </a:p>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Alert on tag-verification failures — a spike is an attack signal, not a bug</a:t>
            </a:r>
            <a:endParaRPr lang="en-US" sz="1250" dirty="0"/>
          </a:p>
          <a:p>
            <a:pPr marL="342900" indent="-342900">
              <a:lnSpc>
                <a:spcPct val="102000"/>
              </a:lnSpc>
              <a:spcAft>
                <a:spcPts val="700"/>
              </a:spcAft>
              <a:buSzPct val="100000"/>
              <a:buChar char="•"/>
            </a:pPr>
            <a:r>
              <a:rPr lang="en-US" sz="1250" dirty="0">
                <a:solidFill>
                  <a:srgbClr val="3D4C5A"/>
                </a:solidFill>
                <a:latin typeface="Calibri" pitchFamily="34" charset="0"/>
                <a:ea typeface="Calibri" pitchFamily="34" charset="-122"/>
                <a:cs typeface="Calibri" pitchFamily="34" charset="-120"/>
              </a:rPr>
              <a:t>Never log key material, plaintext, or a full ciphertext</a:t>
            </a:r>
            <a:endParaRPr lang="en-US" sz="1250" dirty="0"/>
          </a:p>
        </p:txBody>
      </p:sp>
      <p:sp>
        <p:nvSpPr>
          <p:cNvPr id="10" name="Shape 8"/>
          <p:cNvSpPr/>
          <p:nvPr/>
        </p:nvSpPr>
        <p:spPr>
          <a:xfrm>
            <a:off x="566928" y="5084064"/>
            <a:ext cx="11057839" cy="969264"/>
          </a:xfrm>
          <a:prstGeom prst="roundRect">
            <a:avLst>
              <a:gd name="adj" fmla="val 5660"/>
            </a:avLst>
          </a:prstGeom>
          <a:solidFill>
            <a:srgbClr val="0F1721"/>
          </a:solidFill>
          <a:ln w="6350">
            <a:solidFill>
              <a:srgbClr val="0F1721"/>
            </a:solidFill>
            <a:prstDash val="solid"/>
          </a:ln>
        </p:spPr>
        <p:txBody>
          <a:bodyPr/>
          <a:lstStyle/>
          <a:p>
            <a:endParaRPr lang="en-US"/>
          </a:p>
        </p:txBody>
      </p:sp>
      <p:sp>
        <p:nvSpPr>
          <p:cNvPr id="11" name="Text 9"/>
          <p:cNvSpPr/>
          <p:nvPr/>
        </p:nvSpPr>
        <p:spPr>
          <a:xfrm>
            <a:off x="950976" y="5303520"/>
            <a:ext cx="2606040" cy="292608"/>
          </a:xfrm>
          <a:prstGeom prst="rect">
            <a:avLst/>
          </a:prstGeom>
          <a:noFill/>
          <a:ln/>
        </p:spPr>
        <p:txBody>
          <a:bodyPr wrap="square" lIns="0" tIns="0" rIns="0" bIns="0" rtlCol="0" anchor="t"/>
          <a:lstStyle/>
          <a:p>
            <a:pPr marL="0" indent="0" algn="l">
              <a:lnSpc>
                <a:spcPct val="106000"/>
              </a:lnSpc>
              <a:buNone/>
            </a:pPr>
            <a:r>
              <a:rPr lang="en-US" sz="1450" b="1" dirty="0">
                <a:solidFill>
                  <a:srgbClr val="E8A033"/>
                </a:solidFill>
                <a:latin typeface="Calibri" pitchFamily="34" charset="0"/>
                <a:ea typeface="Calibri" pitchFamily="34" charset="-122"/>
                <a:cs typeface="Calibri" pitchFamily="34" charset="-120"/>
              </a:rPr>
              <a:t>The honest summary:</a:t>
            </a:r>
            <a:endParaRPr lang="en-US" sz="1450" dirty="0"/>
          </a:p>
        </p:txBody>
      </p:sp>
      <p:sp>
        <p:nvSpPr>
          <p:cNvPr id="12" name="Text 10"/>
          <p:cNvSpPr/>
          <p:nvPr/>
        </p:nvSpPr>
        <p:spPr>
          <a:xfrm>
            <a:off x="3584448" y="5303520"/>
            <a:ext cx="7674559" cy="457200"/>
          </a:xfrm>
          <a:prstGeom prst="rect">
            <a:avLst/>
          </a:prstGeom>
          <a:noFill/>
          <a:ln/>
        </p:spPr>
        <p:txBody>
          <a:bodyPr wrap="square" lIns="0" tIns="0" rIns="0" bIns="0" rtlCol="0" anchor="t"/>
          <a:lstStyle/>
          <a:p>
            <a:pPr marL="0" indent="0" algn="l">
              <a:lnSpc>
                <a:spcPct val="112000"/>
              </a:lnSpc>
              <a:buNone/>
            </a:pPr>
            <a:r>
              <a:rPr lang="en-US" sz="1300" dirty="0">
                <a:solidFill>
                  <a:srgbClr val="C6D3DE"/>
                </a:solidFill>
                <a:latin typeface="Calibri" pitchFamily="34" charset="0"/>
                <a:ea typeface="Calibri" pitchFamily="34" charset="-122"/>
                <a:cs typeface="Calibri" pitchFamily="34" charset="-120"/>
              </a:rPr>
              <a:t>this migration closes one specific hole — undetected tampering — and modernises our key handling. It is a real improvement and it is not a security programme on its own.</a:t>
            </a:r>
            <a:endParaRPr lang="en-US" sz="1300" dirty="0"/>
          </a:p>
        </p:txBody>
      </p:sp>
      <p:sp>
        <p:nvSpPr>
          <p:cNvPr id="13" name="Text 11"/>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3 · Beyond the defaults</a:t>
            </a:r>
            <a:endParaRPr lang="en-US" sz="950" dirty="0"/>
          </a:p>
        </p:txBody>
      </p:sp>
      <p:sp>
        <p:nvSpPr>
          <p:cNvPr id="14" name="Text 12"/>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21</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DUE DILIGENCE</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The alternatives, and why we passed on them</a:t>
            </a:r>
            <a:endParaRPr lang="en-US" sz="3100" dirty="0"/>
          </a:p>
        </p:txBody>
      </p:sp>
      <p:sp>
        <p:nvSpPr>
          <p:cNvPr id="4" name="Shape 2"/>
          <p:cNvSpPr/>
          <p:nvPr/>
        </p:nvSpPr>
        <p:spPr>
          <a:xfrm>
            <a:off x="566928" y="1316736"/>
            <a:ext cx="11057839" cy="3749040"/>
          </a:xfrm>
          <a:prstGeom prst="roundRect">
            <a:avLst>
              <a:gd name="adj" fmla="val 1463"/>
            </a:avLst>
          </a:prstGeom>
          <a:solidFill>
            <a:srgbClr val="F1F5F9"/>
          </a:solidFill>
          <a:ln w="6350">
            <a:solidFill>
              <a:srgbClr val="F1F5F9"/>
            </a:solidFill>
            <a:prstDash val="solid"/>
          </a:ln>
        </p:spPr>
        <p:txBody>
          <a:bodyPr/>
          <a:lstStyle/>
          <a:p>
            <a:endParaRPr lang="en-US"/>
          </a:p>
        </p:txBody>
      </p:sp>
      <p:sp>
        <p:nvSpPr>
          <p:cNvPr id="5" name="Text 3"/>
          <p:cNvSpPr/>
          <p:nvPr/>
        </p:nvSpPr>
        <p:spPr>
          <a:xfrm>
            <a:off x="3767328" y="1426464"/>
            <a:ext cx="3657600" cy="237744"/>
          </a:xfrm>
          <a:prstGeom prst="rect">
            <a:avLst/>
          </a:prstGeom>
          <a:noFill/>
          <a:ln/>
        </p:spPr>
        <p:txBody>
          <a:bodyPr wrap="square" lIns="0" tIns="0" rIns="0" bIns="0" rtlCol="0" anchor="t"/>
          <a:lstStyle/>
          <a:p>
            <a:pPr marL="0" indent="0" algn="l">
              <a:lnSpc>
                <a:spcPct val="106000"/>
              </a:lnSpc>
              <a:buNone/>
            </a:pPr>
            <a:r>
              <a:rPr lang="en-US" sz="1100" b="1" dirty="0">
                <a:solidFill>
                  <a:srgbClr val="7A8894"/>
                </a:solidFill>
                <a:latin typeface="Calibri" pitchFamily="34" charset="0"/>
                <a:ea typeface="Calibri" pitchFamily="34" charset="-122"/>
                <a:cs typeface="Calibri" pitchFamily="34" charset="-120"/>
              </a:rPr>
              <a:t>What it is</a:t>
            </a:r>
            <a:endParaRPr lang="en-US" sz="1100" dirty="0"/>
          </a:p>
        </p:txBody>
      </p:sp>
      <p:sp>
        <p:nvSpPr>
          <p:cNvPr id="6" name="Text 4"/>
          <p:cNvSpPr/>
          <p:nvPr/>
        </p:nvSpPr>
        <p:spPr>
          <a:xfrm>
            <a:off x="7607808" y="1426464"/>
            <a:ext cx="3840480" cy="237744"/>
          </a:xfrm>
          <a:prstGeom prst="rect">
            <a:avLst/>
          </a:prstGeom>
          <a:noFill/>
          <a:ln/>
        </p:spPr>
        <p:txBody>
          <a:bodyPr wrap="square" lIns="0" tIns="0" rIns="0" bIns="0" rtlCol="0" anchor="t"/>
          <a:lstStyle/>
          <a:p>
            <a:pPr marL="0" indent="0" algn="l">
              <a:lnSpc>
                <a:spcPct val="106000"/>
              </a:lnSpc>
              <a:buNone/>
            </a:pPr>
            <a:r>
              <a:rPr lang="en-US" sz="1100" b="1" dirty="0">
                <a:solidFill>
                  <a:srgbClr val="7A8894"/>
                </a:solidFill>
                <a:latin typeface="Calibri" pitchFamily="34" charset="0"/>
                <a:ea typeface="Calibri" pitchFamily="34" charset="-122"/>
                <a:cs typeface="Calibri" pitchFamily="34" charset="-120"/>
              </a:rPr>
              <a:t>Why not this time</a:t>
            </a:r>
            <a:endParaRPr lang="en-US" sz="1100" dirty="0"/>
          </a:p>
        </p:txBody>
      </p:sp>
      <p:sp>
        <p:nvSpPr>
          <p:cNvPr id="7" name="Shape 5"/>
          <p:cNvSpPr/>
          <p:nvPr/>
        </p:nvSpPr>
        <p:spPr>
          <a:xfrm>
            <a:off x="658368" y="1627632"/>
            <a:ext cx="10874959" cy="603504"/>
          </a:xfrm>
          <a:prstGeom prst="rect">
            <a:avLst/>
          </a:prstGeom>
          <a:solidFill>
            <a:srgbClr val="FFFFFF"/>
          </a:solidFill>
          <a:ln w="6350">
            <a:solidFill>
              <a:srgbClr val="FFFFFF"/>
            </a:solidFill>
            <a:prstDash val="solid"/>
          </a:ln>
        </p:spPr>
        <p:txBody>
          <a:bodyPr/>
          <a:lstStyle/>
          <a:p>
            <a:endParaRPr lang="en-US"/>
          </a:p>
        </p:txBody>
      </p:sp>
      <p:sp>
        <p:nvSpPr>
          <p:cNvPr id="8" name="Text 6"/>
          <p:cNvSpPr/>
          <p:nvPr/>
        </p:nvSpPr>
        <p:spPr>
          <a:xfrm>
            <a:off x="841248" y="1773936"/>
            <a:ext cx="2834640" cy="365760"/>
          </a:xfrm>
          <a:prstGeom prst="rect">
            <a:avLst/>
          </a:prstGeom>
          <a:noFill/>
          <a:ln/>
        </p:spPr>
        <p:txBody>
          <a:bodyPr wrap="square" lIns="0" tIns="0" rIns="0" bIns="0" rtlCol="0" anchor="t"/>
          <a:lstStyle/>
          <a:p>
            <a:pPr marL="0" indent="0" algn="l">
              <a:lnSpc>
                <a:spcPct val="106000"/>
              </a:lnSpc>
              <a:buNone/>
            </a:pPr>
            <a:r>
              <a:rPr lang="en-US" sz="1300" b="1" dirty="0">
                <a:solidFill>
                  <a:srgbClr val="16212E"/>
                </a:solidFill>
                <a:latin typeface="Calibri" pitchFamily="34" charset="0"/>
                <a:ea typeface="Calibri" pitchFamily="34" charset="-122"/>
                <a:cs typeface="Calibri" pitchFamily="34" charset="-120"/>
              </a:rPr>
              <a:t>ChaCha20-Poly1305</a:t>
            </a:r>
            <a:endParaRPr lang="en-US" sz="1300" dirty="0"/>
          </a:p>
        </p:txBody>
      </p:sp>
      <p:sp>
        <p:nvSpPr>
          <p:cNvPr id="9" name="Text 7"/>
          <p:cNvSpPr/>
          <p:nvPr/>
        </p:nvSpPr>
        <p:spPr>
          <a:xfrm>
            <a:off x="3767328" y="1755648"/>
            <a:ext cx="3703320" cy="457200"/>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AEAD. Excellent, and faster than AES on hardware with no AES-NI.</a:t>
            </a:r>
            <a:endParaRPr lang="en-US" sz="1150" dirty="0"/>
          </a:p>
        </p:txBody>
      </p:sp>
      <p:sp>
        <p:nvSpPr>
          <p:cNvPr id="10" name="Text 8"/>
          <p:cNvSpPr/>
          <p:nvPr/>
        </p:nvSpPr>
        <p:spPr>
          <a:xfrm>
            <a:off x="7607808" y="1755648"/>
            <a:ext cx="3840480" cy="457200"/>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Every target we run on has AES-NI, and the mandate names AES.</a:t>
            </a:r>
            <a:endParaRPr lang="en-US" sz="1150" dirty="0"/>
          </a:p>
        </p:txBody>
      </p:sp>
      <p:sp>
        <p:nvSpPr>
          <p:cNvPr id="11" name="Text 9"/>
          <p:cNvSpPr/>
          <p:nvPr/>
        </p:nvSpPr>
        <p:spPr>
          <a:xfrm>
            <a:off x="841248" y="2432304"/>
            <a:ext cx="2834640" cy="365760"/>
          </a:xfrm>
          <a:prstGeom prst="rect">
            <a:avLst/>
          </a:prstGeom>
          <a:noFill/>
          <a:ln/>
        </p:spPr>
        <p:txBody>
          <a:bodyPr wrap="square" lIns="0" tIns="0" rIns="0" bIns="0" rtlCol="0" anchor="t"/>
          <a:lstStyle/>
          <a:p>
            <a:pPr marL="0" indent="0" algn="l">
              <a:lnSpc>
                <a:spcPct val="106000"/>
              </a:lnSpc>
              <a:buNone/>
            </a:pPr>
            <a:r>
              <a:rPr lang="en-US" sz="1300" b="1" dirty="0">
                <a:solidFill>
                  <a:srgbClr val="16212E"/>
                </a:solidFill>
                <a:latin typeface="Calibri" pitchFamily="34" charset="0"/>
                <a:ea typeface="Calibri" pitchFamily="34" charset="-122"/>
                <a:cs typeface="Calibri" pitchFamily="34" charset="-120"/>
              </a:rPr>
              <a:t>AES-GCM-SIV</a:t>
            </a:r>
            <a:endParaRPr lang="en-US" sz="1300" dirty="0"/>
          </a:p>
        </p:txBody>
      </p:sp>
      <p:sp>
        <p:nvSpPr>
          <p:cNvPr id="12" name="Text 10"/>
          <p:cNvSpPr/>
          <p:nvPr/>
        </p:nvSpPr>
        <p:spPr>
          <a:xfrm>
            <a:off x="3767328" y="2414016"/>
            <a:ext cx="3703320" cy="457200"/>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Survives nonce reuse by design (RFC 8452).</a:t>
            </a:r>
            <a:endParaRPr lang="en-US" sz="1150" dirty="0"/>
          </a:p>
        </p:txBody>
      </p:sp>
      <p:sp>
        <p:nvSpPr>
          <p:cNvPr id="13" name="Text 11"/>
          <p:cNvSpPr/>
          <p:nvPr/>
        </p:nvSpPr>
        <p:spPr>
          <a:xfrm>
            <a:off x="7607808" y="2414016"/>
            <a:ext cx="3840480" cy="457200"/>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Roughly 2x slower and thinner library support. Our first choice if we ever cache derived keys.</a:t>
            </a:r>
            <a:endParaRPr lang="en-US" sz="1150" dirty="0"/>
          </a:p>
        </p:txBody>
      </p:sp>
      <p:sp>
        <p:nvSpPr>
          <p:cNvPr id="14" name="Shape 12"/>
          <p:cNvSpPr/>
          <p:nvPr/>
        </p:nvSpPr>
        <p:spPr>
          <a:xfrm>
            <a:off x="658368" y="2944368"/>
            <a:ext cx="10874959" cy="603504"/>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841248" y="3090672"/>
            <a:ext cx="2834640" cy="365760"/>
          </a:xfrm>
          <a:prstGeom prst="rect">
            <a:avLst/>
          </a:prstGeom>
          <a:noFill/>
          <a:ln/>
        </p:spPr>
        <p:txBody>
          <a:bodyPr wrap="square" lIns="0" tIns="0" rIns="0" bIns="0" rtlCol="0" anchor="t"/>
          <a:lstStyle/>
          <a:p>
            <a:pPr marL="0" indent="0" algn="l">
              <a:lnSpc>
                <a:spcPct val="106000"/>
              </a:lnSpc>
              <a:buNone/>
            </a:pPr>
            <a:r>
              <a:rPr lang="en-US" sz="1300" b="1" dirty="0">
                <a:solidFill>
                  <a:srgbClr val="16212E"/>
                </a:solidFill>
                <a:latin typeface="Calibri" pitchFamily="34" charset="0"/>
                <a:ea typeface="Calibri" pitchFamily="34" charset="-122"/>
                <a:cs typeface="Calibri" pitchFamily="34" charset="-120"/>
              </a:rPr>
              <a:t>AES-CCM</a:t>
            </a:r>
            <a:endParaRPr lang="en-US" sz="1300" dirty="0"/>
          </a:p>
        </p:txBody>
      </p:sp>
      <p:sp>
        <p:nvSpPr>
          <p:cNvPr id="16" name="Text 14"/>
          <p:cNvSpPr/>
          <p:nvPr/>
        </p:nvSpPr>
        <p:spPr>
          <a:xfrm>
            <a:off x="3767328" y="3072384"/>
            <a:ext cx="3703320" cy="457200"/>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AEAD, widely used in constrained and IoT stacks.</a:t>
            </a:r>
            <a:endParaRPr lang="en-US" sz="1150" dirty="0"/>
          </a:p>
        </p:txBody>
      </p:sp>
      <p:sp>
        <p:nvSpPr>
          <p:cNvPr id="17" name="Text 15"/>
          <p:cNvSpPr/>
          <p:nvPr/>
        </p:nvSpPr>
        <p:spPr>
          <a:xfrm>
            <a:off x="7607808" y="3072384"/>
            <a:ext cx="3840480" cy="457200"/>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Two passes over the data, slower, and no advantage for us.</a:t>
            </a:r>
            <a:endParaRPr lang="en-US" sz="1150" dirty="0"/>
          </a:p>
        </p:txBody>
      </p:sp>
      <p:sp>
        <p:nvSpPr>
          <p:cNvPr id="18" name="Text 16"/>
          <p:cNvSpPr/>
          <p:nvPr/>
        </p:nvSpPr>
        <p:spPr>
          <a:xfrm>
            <a:off x="841248" y="3749040"/>
            <a:ext cx="2834640" cy="365760"/>
          </a:xfrm>
          <a:prstGeom prst="rect">
            <a:avLst/>
          </a:prstGeom>
          <a:noFill/>
          <a:ln/>
        </p:spPr>
        <p:txBody>
          <a:bodyPr wrap="square" lIns="0" tIns="0" rIns="0" bIns="0" rtlCol="0" anchor="t"/>
          <a:lstStyle/>
          <a:p>
            <a:pPr marL="0" indent="0" algn="l">
              <a:lnSpc>
                <a:spcPct val="106000"/>
              </a:lnSpc>
              <a:buNone/>
            </a:pPr>
            <a:r>
              <a:rPr lang="en-US" sz="1300" b="1" dirty="0">
                <a:solidFill>
                  <a:srgbClr val="16212E"/>
                </a:solidFill>
                <a:latin typeface="Calibri" pitchFamily="34" charset="0"/>
                <a:ea typeface="Calibri" pitchFamily="34" charset="-122"/>
                <a:cs typeface="Calibri" pitchFamily="34" charset="-120"/>
              </a:rPr>
              <a:t>XChaCha20-Poly1305</a:t>
            </a:r>
            <a:endParaRPr lang="en-US" sz="1300" dirty="0"/>
          </a:p>
        </p:txBody>
      </p:sp>
      <p:sp>
        <p:nvSpPr>
          <p:cNvPr id="19" name="Text 17"/>
          <p:cNvSpPr/>
          <p:nvPr/>
        </p:nvSpPr>
        <p:spPr>
          <a:xfrm>
            <a:off x="3767328" y="3730752"/>
            <a:ext cx="3703320" cy="457200"/>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192-bit nonce, so birthday bounds stop being a concern.</a:t>
            </a:r>
            <a:endParaRPr lang="en-US" sz="1150" dirty="0"/>
          </a:p>
        </p:txBody>
      </p:sp>
      <p:sp>
        <p:nvSpPr>
          <p:cNvPr id="20" name="Text 18"/>
          <p:cNvSpPr/>
          <p:nvPr/>
        </p:nvSpPr>
        <p:spPr>
          <a:xfrm>
            <a:off x="7607808" y="3730752"/>
            <a:ext cx="3840480" cy="457200"/>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Not named in the compliance regimes we answer to.</a:t>
            </a:r>
            <a:endParaRPr lang="en-US" sz="1150" dirty="0"/>
          </a:p>
        </p:txBody>
      </p:sp>
      <p:sp>
        <p:nvSpPr>
          <p:cNvPr id="21" name="Shape 19"/>
          <p:cNvSpPr/>
          <p:nvPr/>
        </p:nvSpPr>
        <p:spPr>
          <a:xfrm>
            <a:off x="658368" y="4261104"/>
            <a:ext cx="10874959" cy="603504"/>
          </a:xfrm>
          <a:prstGeom prst="rect">
            <a:avLst/>
          </a:prstGeom>
          <a:solidFill>
            <a:srgbClr val="FFFFFF"/>
          </a:solidFill>
          <a:ln w="6350">
            <a:solidFill>
              <a:srgbClr val="FFFFFF"/>
            </a:solidFill>
            <a:prstDash val="solid"/>
          </a:ln>
        </p:spPr>
        <p:txBody>
          <a:bodyPr/>
          <a:lstStyle/>
          <a:p>
            <a:endParaRPr lang="en-US"/>
          </a:p>
        </p:txBody>
      </p:sp>
      <p:sp>
        <p:nvSpPr>
          <p:cNvPr id="22" name="Text 20"/>
          <p:cNvSpPr/>
          <p:nvPr/>
        </p:nvSpPr>
        <p:spPr>
          <a:xfrm>
            <a:off x="841248" y="4407408"/>
            <a:ext cx="2834640" cy="365760"/>
          </a:xfrm>
          <a:prstGeom prst="rect">
            <a:avLst/>
          </a:prstGeom>
          <a:noFill/>
          <a:ln/>
        </p:spPr>
        <p:txBody>
          <a:bodyPr wrap="square" lIns="0" tIns="0" rIns="0" bIns="0" rtlCol="0" anchor="t"/>
          <a:lstStyle/>
          <a:p>
            <a:pPr marL="0" indent="0" algn="l">
              <a:lnSpc>
                <a:spcPct val="106000"/>
              </a:lnSpc>
              <a:buNone/>
            </a:pPr>
            <a:r>
              <a:rPr lang="en-US" sz="1300" b="1" dirty="0">
                <a:solidFill>
                  <a:srgbClr val="16212E"/>
                </a:solidFill>
                <a:latin typeface="Calibri" pitchFamily="34" charset="0"/>
                <a:ea typeface="Calibri" pitchFamily="34" charset="-122"/>
                <a:cs typeface="Calibri" pitchFamily="34" charset="-120"/>
              </a:rPr>
              <a:t>AES-CBC + HMAC</a:t>
            </a:r>
            <a:endParaRPr lang="en-US" sz="1300" dirty="0"/>
          </a:p>
        </p:txBody>
      </p:sp>
      <p:sp>
        <p:nvSpPr>
          <p:cNvPr id="23" name="Text 21"/>
          <p:cNvSpPr/>
          <p:nvPr/>
        </p:nvSpPr>
        <p:spPr>
          <a:xfrm>
            <a:off x="3767328" y="4389120"/>
            <a:ext cx="3703320" cy="457200"/>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Encrypt-then-MAC would have fixed the integrity gap.</a:t>
            </a:r>
            <a:endParaRPr lang="en-US" sz="1150" dirty="0"/>
          </a:p>
        </p:txBody>
      </p:sp>
      <p:sp>
        <p:nvSpPr>
          <p:cNvPr id="24" name="Text 22"/>
          <p:cNvSpPr/>
          <p:nvPr/>
        </p:nvSpPr>
        <p:spPr>
          <a:xfrm>
            <a:off x="7607808" y="4389120"/>
            <a:ext cx="3840480" cy="457200"/>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Two keys, two primitives, many more ways to get it wrong. GCM is the standard answer.</a:t>
            </a:r>
            <a:endParaRPr lang="en-US" sz="1150" dirty="0"/>
          </a:p>
        </p:txBody>
      </p:sp>
      <p:sp>
        <p:nvSpPr>
          <p:cNvPr id="25" name="Shape 23"/>
          <p:cNvSpPr/>
          <p:nvPr/>
        </p:nvSpPr>
        <p:spPr>
          <a:xfrm>
            <a:off x="566928" y="5138928"/>
            <a:ext cx="11057839" cy="914400"/>
          </a:xfrm>
          <a:prstGeom prst="roundRect">
            <a:avLst>
              <a:gd name="adj" fmla="val 6000"/>
            </a:avLst>
          </a:prstGeom>
          <a:solidFill>
            <a:srgbClr val="0F1721"/>
          </a:solidFill>
          <a:ln w="6350">
            <a:solidFill>
              <a:srgbClr val="0F1721"/>
            </a:solidFill>
            <a:prstDash val="solid"/>
          </a:ln>
        </p:spPr>
        <p:txBody>
          <a:bodyPr/>
          <a:lstStyle/>
          <a:p>
            <a:endParaRPr lang="en-US"/>
          </a:p>
        </p:txBody>
      </p:sp>
      <p:sp>
        <p:nvSpPr>
          <p:cNvPr id="26" name="Text 24"/>
          <p:cNvSpPr/>
          <p:nvPr/>
        </p:nvSpPr>
        <p:spPr>
          <a:xfrm>
            <a:off x="950976" y="5358384"/>
            <a:ext cx="1371600" cy="274320"/>
          </a:xfrm>
          <a:prstGeom prst="rect">
            <a:avLst/>
          </a:prstGeom>
          <a:noFill/>
          <a:ln/>
        </p:spPr>
        <p:txBody>
          <a:bodyPr wrap="square" lIns="0" tIns="0" rIns="0" bIns="0" rtlCol="0" anchor="t"/>
          <a:lstStyle/>
          <a:p>
            <a:pPr marL="0" indent="0" algn="l">
              <a:lnSpc>
                <a:spcPct val="106000"/>
              </a:lnSpc>
              <a:buNone/>
            </a:pPr>
            <a:r>
              <a:rPr lang="en-US" sz="1400" b="1" dirty="0">
                <a:solidFill>
                  <a:srgbClr val="E8A033"/>
                </a:solidFill>
                <a:latin typeface="Calibri" pitchFamily="34" charset="0"/>
                <a:ea typeface="Calibri" pitchFamily="34" charset="-122"/>
                <a:cs typeface="Calibri" pitchFamily="34" charset="-120"/>
              </a:rPr>
              <a:t>Said plainly:</a:t>
            </a:r>
            <a:endParaRPr lang="en-US" sz="1400" dirty="0"/>
          </a:p>
        </p:txBody>
      </p:sp>
      <p:sp>
        <p:nvSpPr>
          <p:cNvPr id="27" name="Text 25"/>
          <p:cNvSpPr/>
          <p:nvPr/>
        </p:nvSpPr>
        <p:spPr>
          <a:xfrm>
            <a:off x="2441448" y="5358384"/>
            <a:ext cx="8817559" cy="457200"/>
          </a:xfrm>
          <a:prstGeom prst="rect">
            <a:avLst/>
          </a:prstGeom>
          <a:noFill/>
          <a:ln/>
        </p:spPr>
        <p:txBody>
          <a:bodyPr wrap="square" lIns="0" tIns="0" rIns="0" bIns="0" rtlCol="0" anchor="t"/>
          <a:lstStyle/>
          <a:p>
            <a:pPr marL="0" indent="0" algn="l">
              <a:lnSpc>
                <a:spcPct val="106000"/>
              </a:lnSpc>
              <a:buNone/>
            </a:pPr>
            <a:r>
              <a:rPr lang="en-US" sz="1300" dirty="0">
                <a:solidFill>
                  <a:srgbClr val="C6D3DE"/>
                </a:solidFill>
                <a:latin typeface="Calibri" pitchFamily="34" charset="0"/>
                <a:ea typeface="Calibri" pitchFamily="34" charset="-122"/>
                <a:cs typeface="Calibri" pitchFamily="34" charset="-120"/>
              </a:rPr>
              <a:t>several of these are perfectly good choices. The decision came from compliance, hardware acceleration and ecosystem maturity — and AES-256-GCM is the safest answer to all three at once.</a:t>
            </a:r>
            <a:endParaRPr lang="en-US" sz="1300" dirty="0"/>
          </a:p>
        </p:txBody>
      </p:sp>
      <p:sp>
        <p:nvSpPr>
          <p:cNvPr id="28" name="Text 26"/>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3 · Beyond the defaults</a:t>
            </a:r>
            <a:endParaRPr lang="en-US" sz="950" dirty="0"/>
          </a:p>
        </p:txBody>
      </p:sp>
      <p:sp>
        <p:nvSpPr>
          <p:cNvPr id="29" name="Text 27"/>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22</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GETTING THERE</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Migration in four phases, no big-bang release</a:t>
            </a:r>
            <a:endParaRPr lang="en-US" sz="3100" dirty="0"/>
          </a:p>
        </p:txBody>
      </p:sp>
      <p:sp>
        <p:nvSpPr>
          <p:cNvPr id="4" name="Shape 2"/>
          <p:cNvSpPr/>
          <p:nvPr/>
        </p:nvSpPr>
        <p:spPr>
          <a:xfrm>
            <a:off x="566928" y="1645920"/>
            <a:ext cx="2624328" cy="2798064"/>
          </a:xfrm>
          <a:prstGeom prst="roundRect">
            <a:avLst>
              <a:gd name="adj" fmla="val 2091"/>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5" name="Shape 3"/>
          <p:cNvSpPr/>
          <p:nvPr/>
        </p:nvSpPr>
        <p:spPr>
          <a:xfrm>
            <a:off x="822960" y="1847088"/>
            <a:ext cx="457200" cy="457200"/>
          </a:xfrm>
          <a:prstGeom prst="ellipse">
            <a:avLst/>
          </a:prstGeom>
          <a:solidFill>
            <a:srgbClr val="2C3E50"/>
          </a:solidFill>
          <a:ln w="6350">
            <a:solidFill>
              <a:srgbClr val="2C3E50"/>
            </a:solidFill>
            <a:prstDash val="solid"/>
          </a:ln>
        </p:spPr>
        <p:txBody>
          <a:bodyPr/>
          <a:lstStyle/>
          <a:p>
            <a:endParaRPr lang="en-US"/>
          </a:p>
        </p:txBody>
      </p:sp>
      <p:sp>
        <p:nvSpPr>
          <p:cNvPr id="6" name="Text 4"/>
          <p:cNvSpPr/>
          <p:nvPr/>
        </p:nvSpPr>
        <p:spPr>
          <a:xfrm>
            <a:off x="822960" y="18470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389888" y="1956816"/>
            <a:ext cx="1280160" cy="237744"/>
          </a:xfrm>
          <a:prstGeom prst="rect">
            <a:avLst/>
          </a:prstGeom>
          <a:noFill/>
          <a:ln/>
        </p:spPr>
        <p:txBody>
          <a:bodyPr wrap="square" lIns="0" tIns="0" rIns="0" bIns="0" rtlCol="0" anchor="t"/>
          <a:lstStyle/>
          <a:p>
            <a:pPr marL="0" indent="0" algn="l">
              <a:lnSpc>
                <a:spcPct val="106000"/>
              </a:lnSpc>
              <a:buNone/>
            </a:pPr>
            <a:r>
              <a:rPr lang="en-US" sz="1100" b="1" dirty="0">
                <a:solidFill>
                  <a:srgbClr val="7A8894"/>
                </a:solidFill>
                <a:latin typeface="Calibri" pitchFamily="34" charset="0"/>
                <a:ea typeface="Calibri" pitchFamily="34" charset="-122"/>
                <a:cs typeface="Calibri" pitchFamily="34" charset="-120"/>
              </a:rPr>
              <a:t>Phase</a:t>
            </a:r>
            <a:endParaRPr lang="en-US" sz="1100" dirty="0"/>
          </a:p>
        </p:txBody>
      </p:sp>
      <p:sp>
        <p:nvSpPr>
          <p:cNvPr id="8" name="Text 6"/>
          <p:cNvSpPr/>
          <p:nvPr/>
        </p:nvSpPr>
        <p:spPr>
          <a:xfrm>
            <a:off x="822960" y="2432304"/>
            <a:ext cx="2112264" cy="310896"/>
          </a:xfrm>
          <a:prstGeom prst="rect">
            <a:avLst/>
          </a:prstGeom>
          <a:noFill/>
          <a:ln/>
        </p:spPr>
        <p:txBody>
          <a:bodyPr wrap="square" lIns="0" tIns="0" rIns="0" bIns="0" rtlCol="0" anchor="t"/>
          <a:lstStyle/>
          <a:p>
            <a:pPr marL="0" indent="0" algn="l">
              <a:lnSpc>
                <a:spcPct val="106000"/>
              </a:lnSpc>
              <a:buNone/>
            </a:pPr>
            <a:r>
              <a:rPr lang="en-US" sz="1600" b="1" dirty="0">
                <a:solidFill>
                  <a:srgbClr val="16212E"/>
                </a:solidFill>
                <a:latin typeface="Calibri" pitchFamily="34" charset="0"/>
                <a:ea typeface="Calibri" pitchFamily="34" charset="-122"/>
                <a:cs typeface="Calibri" pitchFamily="34" charset="-120"/>
              </a:rPr>
              <a:t>Dual read</a:t>
            </a:r>
            <a:endParaRPr lang="en-US" sz="1600" dirty="0"/>
          </a:p>
        </p:txBody>
      </p:sp>
      <p:sp>
        <p:nvSpPr>
          <p:cNvPr id="9" name="Text 7"/>
          <p:cNvSpPr/>
          <p:nvPr/>
        </p:nvSpPr>
        <p:spPr>
          <a:xfrm>
            <a:off x="822960" y="2798064"/>
            <a:ext cx="2112264" cy="1207008"/>
          </a:xfrm>
          <a:prstGeom prst="rect">
            <a:avLst/>
          </a:prstGeom>
          <a:noFill/>
          <a:ln/>
        </p:spPr>
        <p:txBody>
          <a:bodyPr wrap="square" lIns="0" tIns="0" rIns="0" bIns="0" rtlCol="0" anchor="t"/>
          <a:lstStyle/>
          <a:p>
            <a:pPr marL="0" indent="0" algn="l">
              <a:lnSpc>
                <a:spcPct val="116000"/>
              </a:lnSpc>
              <a:buNone/>
            </a:pPr>
            <a:r>
              <a:rPr lang="en-US" sz="1200" dirty="0">
                <a:solidFill>
                  <a:srgbClr val="3D4C5A"/>
                </a:solidFill>
                <a:latin typeface="Calibri" pitchFamily="34" charset="0"/>
                <a:ea typeface="Calibri" pitchFamily="34" charset="-122"/>
                <a:cs typeface="Calibri" pitchFamily="34" charset="-120"/>
              </a:rPr>
              <a:t>CRYPTO_AUTO_DETECT=true. Servers accept legacy and new. No client changes yet, nothing can break.</a:t>
            </a:r>
            <a:endParaRPr lang="en-US" sz="1200" dirty="0"/>
          </a:p>
        </p:txBody>
      </p:sp>
      <p:sp>
        <p:nvSpPr>
          <p:cNvPr id="10" name="Text 8"/>
          <p:cNvSpPr/>
          <p:nvPr/>
        </p:nvSpPr>
        <p:spPr>
          <a:xfrm>
            <a:off x="822960" y="4059936"/>
            <a:ext cx="2112264" cy="256032"/>
          </a:xfrm>
          <a:prstGeom prst="rect">
            <a:avLst/>
          </a:prstGeom>
          <a:noFill/>
          <a:ln/>
        </p:spPr>
        <p:txBody>
          <a:bodyPr wrap="square" lIns="0" tIns="0" rIns="0" bIns="0" rtlCol="0" anchor="t"/>
          <a:lstStyle/>
          <a:p>
            <a:pPr marL="0" indent="0" algn="l">
              <a:lnSpc>
                <a:spcPct val="106000"/>
              </a:lnSpc>
              <a:buNone/>
            </a:pPr>
            <a:r>
              <a:rPr lang="en-US" sz="1100" b="1" dirty="0">
                <a:solidFill>
                  <a:srgbClr val="7A8894"/>
                </a:solidFill>
                <a:latin typeface="Calibri" pitchFamily="34" charset="0"/>
                <a:ea typeface="Calibri" pitchFamily="34" charset="-122"/>
                <a:cs typeface="Calibri" pitchFamily="34" charset="-120"/>
              </a:rPr>
              <a:t>Platform</a:t>
            </a:r>
            <a:endParaRPr lang="en-US" sz="1100" dirty="0"/>
          </a:p>
        </p:txBody>
      </p:sp>
      <p:sp>
        <p:nvSpPr>
          <p:cNvPr id="11" name="Text 9"/>
          <p:cNvSpPr/>
          <p:nvPr/>
        </p:nvSpPr>
        <p:spPr>
          <a:xfrm>
            <a:off x="822960" y="4261104"/>
            <a:ext cx="2112264" cy="237744"/>
          </a:xfrm>
          <a:prstGeom prst="rect">
            <a:avLst/>
          </a:prstGeom>
          <a:noFill/>
          <a:ln/>
        </p:spPr>
        <p:txBody>
          <a:bodyPr wrap="square" lIns="0" tIns="0" rIns="0" bIns="0" rtlCol="0" anchor="t"/>
          <a:lstStyle/>
          <a:p>
            <a:pPr marL="0" indent="0" algn="l">
              <a:lnSpc>
                <a:spcPct val="106000"/>
              </a:lnSpc>
              <a:buNone/>
            </a:pPr>
            <a:r>
              <a:rPr lang="en-US" sz="1050" i="1" dirty="0">
                <a:solidFill>
                  <a:srgbClr val="7A8894"/>
                </a:solidFill>
                <a:latin typeface="Calibri" pitchFamily="34" charset="0"/>
                <a:ea typeface="Calibri" pitchFamily="34" charset="-122"/>
                <a:cs typeface="Calibri" pitchFamily="34" charset="-120"/>
              </a:rPr>
              <a:t>[ date TBD ]</a:t>
            </a:r>
            <a:endParaRPr lang="en-US" sz="1050" dirty="0"/>
          </a:p>
        </p:txBody>
      </p:sp>
      <p:sp>
        <p:nvSpPr>
          <p:cNvPr id="12" name="Shape 10"/>
          <p:cNvSpPr/>
          <p:nvPr/>
        </p:nvSpPr>
        <p:spPr>
          <a:xfrm>
            <a:off x="3392424" y="1645920"/>
            <a:ext cx="2624328" cy="2798064"/>
          </a:xfrm>
          <a:prstGeom prst="roundRect">
            <a:avLst>
              <a:gd name="adj" fmla="val 2091"/>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3" name="Shape 11"/>
          <p:cNvSpPr/>
          <p:nvPr/>
        </p:nvSpPr>
        <p:spPr>
          <a:xfrm>
            <a:off x="3648456" y="1847088"/>
            <a:ext cx="457200" cy="457200"/>
          </a:xfrm>
          <a:prstGeom prst="ellipse">
            <a:avLst/>
          </a:prstGeom>
          <a:solidFill>
            <a:srgbClr val="2C3E50"/>
          </a:solidFill>
          <a:ln w="6350">
            <a:solidFill>
              <a:srgbClr val="2C3E50"/>
            </a:solidFill>
            <a:prstDash val="solid"/>
          </a:ln>
        </p:spPr>
        <p:txBody>
          <a:bodyPr/>
          <a:lstStyle/>
          <a:p>
            <a:endParaRPr lang="en-US"/>
          </a:p>
        </p:txBody>
      </p:sp>
      <p:sp>
        <p:nvSpPr>
          <p:cNvPr id="14" name="Text 12"/>
          <p:cNvSpPr/>
          <p:nvPr/>
        </p:nvSpPr>
        <p:spPr>
          <a:xfrm>
            <a:off x="3648456" y="18470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Text 13"/>
          <p:cNvSpPr/>
          <p:nvPr/>
        </p:nvSpPr>
        <p:spPr>
          <a:xfrm>
            <a:off x="4215384" y="1956816"/>
            <a:ext cx="1280160" cy="237744"/>
          </a:xfrm>
          <a:prstGeom prst="rect">
            <a:avLst/>
          </a:prstGeom>
          <a:noFill/>
          <a:ln/>
        </p:spPr>
        <p:txBody>
          <a:bodyPr wrap="square" lIns="0" tIns="0" rIns="0" bIns="0" rtlCol="0" anchor="t"/>
          <a:lstStyle/>
          <a:p>
            <a:pPr marL="0" indent="0" algn="l">
              <a:lnSpc>
                <a:spcPct val="106000"/>
              </a:lnSpc>
              <a:buNone/>
            </a:pPr>
            <a:r>
              <a:rPr lang="en-US" sz="1100" b="1" dirty="0">
                <a:solidFill>
                  <a:srgbClr val="7A8894"/>
                </a:solidFill>
                <a:latin typeface="Calibri" pitchFamily="34" charset="0"/>
                <a:ea typeface="Calibri" pitchFamily="34" charset="-122"/>
                <a:cs typeface="Calibri" pitchFamily="34" charset="-120"/>
              </a:rPr>
              <a:t>Phase</a:t>
            </a:r>
            <a:endParaRPr lang="en-US" sz="1100" dirty="0"/>
          </a:p>
        </p:txBody>
      </p:sp>
      <p:sp>
        <p:nvSpPr>
          <p:cNvPr id="16" name="Text 14"/>
          <p:cNvSpPr/>
          <p:nvPr/>
        </p:nvSpPr>
        <p:spPr>
          <a:xfrm>
            <a:off x="3648456" y="2432304"/>
            <a:ext cx="2112264" cy="310896"/>
          </a:xfrm>
          <a:prstGeom prst="rect">
            <a:avLst/>
          </a:prstGeom>
          <a:noFill/>
          <a:ln/>
        </p:spPr>
        <p:txBody>
          <a:bodyPr wrap="square" lIns="0" tIns="0" rIns="0" bIns="0" rtlCol="0" anchor="t"/>
          <a:lstStyle/>
          <a:p>
            <a:pPr marL="0" indent="0" algn="l">
              <a:lnSpc>
                <a:spcPct val="106000"/>
              </a:lnSpc>
              <a:buNone/>
            </a:pPr>
            <a:r>
              <a:rPr lang="en-US" sz="1600" b="1" dirty="0">
                <a:solidFill>
                  <a:srgbClr val="16212E"/>
                </a:solidFill>
                <a:latin typeface="Calibri" pitchFamily="34" charset="0"/>
                <a:ea typeface="Calibri" pitchFamily="34" charset="-122"/>
                <a:cs typeface="Calibri" pitchFamily="34" charset="-120"/>
              </a:rPr>
              <a:t>Write new</a:t>
            </a:r>
            <a:endParaRPr lang="en-US" sz="1600" dirty="0"/>
          </a:p>
        </p:txBody>
      </p:sp>
      <p:sp>
        <p:nvSpPr>
          <p:cNvPr id="17" name="Text 15"/>
          <p:cNvSpPr/>
          <p:nvPr/>
        </p:nvSpPr>
        <p:spPr>
          <a:xfrm>
            <a:off x="3648456" y="2798064"/>
            <a:ext cx="2112264" cy="1207008"/>
          </a:xfrm>
          <a:prstGeom prst="rect">
            <a:avLst/>
          </a:prstGeom>
          <a:noFill/>
          <a:ln/>
        </p:spPr>
        <p:txBody>
          <a:bodyPr wrap="square" lIns="0" tIns="0" rIns="0" bIns="0" rtlCol="0" anchor="t"/>
          <a:lstStyle/>
          <a:p>
            <a:pPr marL="0" indent="0" algn="l">
              <a:lnSpc>
                <a:spcPct val="116000"/>
              </a:lnSpc>
              <a:buNone/>
            </a:pPr>
            <a:r>
              <a:rPr lang="en-US" sz="1200" dirty="0">
                <a:solidFill>
                  <a:srgbClr val="3D4C5A"/>
                </a:solidFill>
                <a:latin typeface="Calibri" pitchFamily="34" charset="0"/>
                <a:ea typeface="Calibri" pitchFamily="34" charset="-122"/>
                <a:cs typeface="Calibri" pitchFamily="34" charset="-120"/>
              </a:rPr>
              <a:t>Clients switch to EncryptGCMWithHKDF one service at a time. Stored legacy payloads are re-encrypted on read.</a:t>
            </a:r>
            <a:endParaRPr lang="en-US" sz="1200" dirty="0"/>
          </a:p>
        </p:txBody>
      </p:sp>
      <p:sp>
        <p:nvSpPr>
          <p:cNvPr id="18" name="Text 16"/>
          <p:cNvSpPr/>
          <p:nvPr/>
        </p:nvSpPr>
        <p:spPr>
          <a:xfrm>
            <a:off x="3648456" y="4059936"/>
            <a:ext cx="2112264" cy="256032"/>
          </a:xfrm>
          <a:prstGeom prst="rect">
            <a:avLst/>
          </a:prstGeom>
          <a:noFill/>
          <a:ln/>
        </p:spPr>
        <p:txBody>
          <a:bodyPr wrap="square" lIns="0" tIns="0" rIns="0" bIns="0" rtlCol="0" anchor="t"/>
          <a:lstStyle/>
          <a:p>
            <a:pPr marL="0" indent="0" algn="l">
              <a:lnSpc>
                <a:spcPct val="106000"/>
              </a:lnSpc>
              <a:buNone/>
            </a:pPr>
            <a:r>
              <a:rPr lang="en-US" sz="1100" b="1" dirty="0">
                <a:solidFill>
                  <a:srgbClr val="7A8894"/>
                </a:solidFill>
                <a:latin typeface="Calibri" pitchFamily="34" charset="0"/>
                <a:ea typeface="Calibri" pitchFamily="34" charset="-122"/>
                <a:cs typeface="Calibri" pitchFamily="34" charset="-120"/>
              </a:rPr>
              <a:t>Each service team</a:t>
            </a:r>
            <a:endParaRPr lang="en-US" sz="1100" dirty="0"/>
          </a:p>
        </p:txBody>
      </p:sp>
      <p:sp>
        <p:nvSpPr>
          <p:cNvPr id="19" name="Text 17"/>
          <p:cNvSpPr/>
          <p:nvPr/>
        </p:nvSpPr>
        <p:spPr>
          <a:xfrm>
            <a:off x="3648456" y="4261104"/>
            <a:ext cx="2112264" cy="237744"/>
          </a:xfrm>
          <a:prstGeom prst="rect">
            <a:avLst/>
          </a:prstGeom>
          <a:noFill/>
          <a:ln/>
        </p:spPr>
        <p:txBody>
          <a:bodyPr wrap="square" lIns="0" tIns="0" rIns="0" bIns="0" rtlCol="0" anchor="t"/>
          <a:lstStyle/>
          <a:p>
            <a:pPr marL="0" indent="0" algn="l">
              <a:lnSpc>
                <a:spcPct val="106000"/>
              </a:lnSpc>
              <a:buNone/>
            </a:pPr>
            <a:r>
              <a:rPr lang="en-US" sz="1050" i="1" dirty="0">
                <a:solidFill>
                  <a:srgbClr val="7A8894"/>
                </a:solidFill>
                <a:latin typeface="Calibri" pitchFamily="34" charset="0"/>
                <a:ea typeface="Calibri" pitchFamily="34" charset="-122"/>
                <a:cs typeface="Calibri" pitchFamily="34" charset="-120"/>
              </a:rPr>
              <a:t>[ date TBD ]</a:t>
            </a:r>
            <a:endParaRPr lang="en-US" sz="1050" dirty="0"/>
          </a:p>
        </p:txBody>
      </p:sp>
      <p:sp>
        <p:nvSpPr>
          <p:cNvPr id="20" name="Shape 18"/>
          <p:cNvSpPr/>
          <p:nvPr/>
        </p:nvSpPr>
        <p:spPr>
          <a:xfrm>
            <a:off x="6217920" y="1645920"/>
            <a:ext cx="2624328" cy="2798064"/>
          </a:xfrm>
          <a:prstGeom prst="roundRect">
            <a:avLst>
              <a:gd name="adj" fmla="val 2091"/>
            </a:avLst>
          </a:prstGeom>
          <a:solidFill>
            <a:srgbClr val="FBEEDA"/>
          </a:solidFill>
          <a:ln w="6350">
            <a:solidFill>
              <a:srgbClr val="FBEEDA"/>
            </a:solidFill>
            <a:prstDash val="solid"/>
          </a:ln>
          <a:effectLst>
            <a:outerShdw blurRad="114300" dist="25400" dir="5400000" algn="bl" rotWithShape="0">
              <a:srgbClr val="9FB0BF">
                <a:alpha val="25000"/>
              </a:srgbClr>
            </a:outerShdw>
          </a:effectLst>
        </p:spPr>
        <p:txBody>
          <a:bodyPr/>
          <a:lstStyle/>
          <a:p>
            <a:endParaRPr lang="en-US"/>
          </a:p>
        </p:txBody>
      </p:sp>
      <p:sp>
        <p:nvSpPr>
          <p:cNvPr id="21" name="Shape 19"/>
          <p:cNvSpPr/>
          <p:nvPr/>
        </p:nvSpPr>
        <p:spPr>
          <a:xfrm>
            <a:off x="6473952" y="1847088"/>
            <a:ext cx="457200" cy="457200"/>
          </a:xfrm>
          <a:prstGeom prst="ellipse">
            <a:avLst/>
          </a:prstGeom>
          <a:solidFill>
            <a:srgbClr val="E8A033"/>
          </a:solidFill>
          <a:ln w="6350">
            <a:solidFill>
              <a:srgbClr val="E8A033"/>
            </a:solidFill>
            <a:prstDash val="solid"/>
          </a:ln>
        </p:spPr>
        <p:txBody>
          <a:bodyPr/>
          <a:lstStyle/>
          <a:p>
            <a:endParaRPr lang="en-US"/>
          </a:p>
        </p:txBody>
      </p:sp>
      <p:sp>
        <p:nvSpPr>
          <p:cNvPr id="22" name="Text 20"/>
          <p:cNvSpPr/>
          <p:nvPr/>
        </p:nvSpPr>
        <p:spPr>
          <a:xfrm>
            <a:off x="6473952" y="1847088"/>
            <a:ext cx="457200" cy="457200"/>
          </a:xfrm>
          <a:prstGeom prst="rect">
            <a:avLst/>
          </a:prstGeom>
          <a:noFill/>
          <a:ln/>
        </p:spPr>
        <p:txBody>
          <a:bodyPr wrap="square" lIns="0" tIns="0" rIns="0" bIns="0" rtlCol="0" anchor="ctr"/>
          <a:lstStyle/>
          <a:p>
            <a:pPr marL="0" indent="0" algn="ctr">
              <a:buNone/>
            </a:pPr>
            <a:r>
              <a:rPr lang="en-US" sz="1600" b="1" dirty="0">
                <a:solidFill>
                  <a:srgbClr val="0F1721"/>
                </a:solidFill>
                <a:latin typeface="Cambria" pitchFamily="34" charset="0"/>
                <a:ea typeface="Cambria" pitchFamily="34" charset="-122"/>
                <a:cs typeface="Cambria" pitchFamily="34" charset="-120"/>
              </a:rPr>
              <a:t>3</a:t>
            </a:r>
            <a:endParaRPr lang="en-US" sz="1600" dirty="0"/>
          </a:p>
        </p:txBody>
      </p:sp>
      <p:sp>
        <p:nvSpPr>
          <p:cNvPr id="23" name="Text 21"/>
          <p:cNvSpPr/>
          <p:nvPr/>
        </p:nvSpPr>
        <p:spPr>
          <a:xfrm>
            <a:off x="7040880" y="1956816"/>
            <a:ext cx="1280160" cy="237744"/>
          </a:xfrm>
          <a:prstGeom prst="rect">
            <a:avLst/>
          </a:prstGeom>
          <a:noFill/>
          <a:ln/>
        </p:spPr>
        <p:txBody>
          <a:bodyPr wrap="square" lIns="0" tIns="0" rIns="0" bIns="0" rtlCol="0" anchor="t"/>
          <a:lstStyle/>
          <a:p>
            <a:pPr marL="0" indent="0" algn="l">
              <a:lnSpc>
                <a:spcPct val="106000"/>
              </a:lnSpc>
              <a:buNone/>
            </a:pPr>
            <a:r>
              <a:rPr lang="en-US" sz="1100" b="1" dirty="0">
                <a:solidFill>
                  <a:srgbClr val="7A8894"/>
                </a:solidFill>
                <a:latin typeface="Calibri" pitchFamily="34" charset="0"/>
                <a:ea typeface="Calibri" pitchFamily="34" charset="-122"/>
                <a:cs typeface="Calibri" pitchFamily="34" charset="-120"/>
              </a:rPr>
              <a:t>Phase</a:t>
            </a:r>
            <a:endParaRPr lang="en-US" sz="1100" dirty="0"/>
          </a:p>
        </p:txBody>
      </p:sp>
      <p:sp>
        <p:nvSpPr>
          <p:cNvPr id="24" name="Text 22"/>
          <p:cNvSpPr/>
          <p:nvPr/>
        </p:nvSpPr>
        <p:spPr>
          <a:xfrm>
            <a:off x="6473952" y="2432304"/>
            <a:ext cx="2112264" cy="310896"/>
          </a:xfrm>
          <a:prstGeom prst="rect">
            <a:avLst/>
          </a:prstGeom>
          <a:noFill/>
          <a:ln/>
        </p:spPr>
        <p:txBody>
          <a:bodyPr wrap="square" lIns="0" tIns="0" rIns="0" bIns="0" rtlCol="0" anchor="t"/>
          <a:lstStyle/>
          <a:p>
            <a:pPr marL="0" indent="0" algn="l">
              <a:lnSpc>
                <a:spcPct val="106000"/>
              </a:lnSpc>
              <a:buNone/>
            </a:pPr>
            <a:r>
              <a:rPr lang="en-US" sz="1600" b="1" dirty="0">
                <a:solidFill>
                  <a:srgbClr val="16212E"/>
                </a:solidFill>
                <a:latin typeface="Calibri" pitchFamily="34" charset="0"/>
                <a:ea typeface="Calibri" pitchFamily="34" charset="-122"/>
                <a:cs typeface="Calibri" pitchFamily="34" charset="-120"/>
              </a:rPr>
              <a:t>Measure</a:t>
            </a:r>
            <a:endParaRPr lang="en-US" sz="1600" dirty="0"/>
          </a:p>
        </p:txBody>
      </p:sp>
      <p:sp>
        <p:nvSpPr>
          <p:cNvPr id="25" name="Text 23"/>
          <p:cNvSpPr/>
          <p:nvPr/>
        </p:nvSpPr>
        <p:spPr>
          <a:xfrm>
            <a:off x="6473952" y="2798064"/>
            <a:ext cx="2112264" cy="1207008"/>
          </a:xfrm>
          <a:prstGeom prst="rect">
            <a:avLst/>
          </a:prstGeom>
          <a:noFill/>
          <a:ln/>
        </p:spPr>
        <p:txBody>
          <a:bodyPr wrap="square" lIns="0" tIns="0" rIns="0" bIns="0" rtlCol="0" anchor="t"/>
          <a:lstStyle/>
          <a:p>
            <a:pPr marL="0" indent="0" algn="l">
              <a:lnSpc>
                <a:spcPct val="116000"/>
              </a:lnSpc>
              <a:buNone/>
            </a:pPr>
            <a:r>
              <a:rPr lang="en-US" sz="1200" dirty="0">
                <a:solidFill>
                  <a:srgbClr val="3D4C5A"/>
                </a:solidFill>
                <a:latin typeface="Calibri" pitchFamily="34" charset="0"/>
                <a:ea typeface="Calibri" pitchFamily="34" charset="-122"/>
                <a:cs typeface="Calibri" pitchFamily="34" charset="-120"/>
              </a:rPr>
              <a:t>Export which mode each decrypt used. Drive legacy traffic to zero and prove it with a dashboard, not a guess.</a:t>
            </a:r>
            <a:endParaRPr lang="en-US" sz="1200" dirty="0"/>
          </a:p>
        </p:txBody>
      </p:sp>
      <p:sp>
        <p:nvSpPr>
          <p:cNvPr id="26" name="Text 24"/>
          <p:cNvSpPr/>
          <p:nvPr/>
        </p:nvSpPr>
        <p:spPr>
          <a:xfrm>
            <a:off x="6473952" y="4059936"/>
            <a:ext cx="2112264" cy="256032"/>
          </a:xfrm>
          <a:prstGeom prst="rect">
            <a:avLst/>
          </a:prstGeom>
          <a:noFill/>
          <a:ln/>
        </p:spPr>
        <p:txBody>
          <a:bodyPr wrap="square" lIns="0" tIns="0" rIns="0" bIns="0" rtlCol="0" anchor="t"/>
          <a:lstStyle/>
          <a:p>
            <a:pPr marL="0" indent="0" algn="l">
              <a:lnSpc>
                <a:spcPct val="106000"/>
              </a:lnSpc>
              <a:buNone/>
            </a:pPr>
            <a:r>
              <a:rPr lang="en-US" sz="1100" b="1" dirty="0">
                <a:solidFill>
                  <a:srgbClr val="7A8894"/>
                </a:solidFill>
                <a:latin typeface="Calibri" pitchFamily="34" charset="0"/>
                <a:ea typeface="Calibri" pitchFamily="34" charset="-122"/>
                <a:cs typeface="Calibri" pitchFamily="34" charset="-120"/>
              </a:rPr>
              <a:t>Platform + QA</a:t>
            </a:r>
            <a:endParaRPr lang="en-US" sz="1100" dirty="0"/>
          </a:p>
        </p:txBody>
      </p:sp>
      <p:sp>
        <p:nvSpPr>
          <p:cNvPr id="27" name="Text 25"/>
          <p:cNvSpPr/>
          <p:nvPr/>
        </p:nvSpPr>
        <p:spPr>
          <a:xfrm>
            <a:off x="6473952" y="4261104"/>
            <a:ext cx="2112264" cy="237744"/>
          </a:xfrm>
          <a:prstGeom prst="rect">
            <a:avLst/>
          </a:prstGeom>
          <a:noFill/>
          <a:ln/>
        </p:spPr>
        <p:txBody>
          <a:bodyPr wrap="square" lIns="0" tIns="0" rIns="0" bIns="0" rtlCol="0" anchor="t"/>
          <a:lstStyle/>
          <a:p>
            <a:pPr marL="0" indent="0" algn="l">
              <a:lnSpc>
                <a:spcPct val="106000"/>
              </a:lnSpc>
              <a:buNone/>
            </a:pPr>
            <a:r>
              <a:rPr lang="en-US" sz="1050" i="1" dirty="0">
                <a:solidFill>
                  <a:srgbClr val="7A8894"/>
                </a:solidFill>
                <a:latin typeface="Calibri" pitchFamily="34" charset="0"/>
                <a:ea typeface="Calibri" pitchFamily="34" charset="-122"/>
                <a:cs typeface="Calibri" pitchFamily="34" charset="-120"/>
              </a:rPr>
              <a:t>[ date TBD ]</a:t>
            </a:r>
            <a:endParaRPr lang="en-US" sz="1050" dirty="0"/>
          </a:p>
        </p:txBody>
      </p:sp>
      <p:sp>
        <p:nvSpPr>
          <p:cNvPr id="28" name="Shape 26"/>
          <p:cNvSpPr/>
          <p:nvPr/>
        </p:nvSpPr>
        <p:spPr>
          <a:xfrm>
            <a:off x="9043416" y="1645920"/>
            <a:ext cx="2624328" cy="2798064"/>
          </a:xfrm>
          <a:prstGeom prst="roundRect">
            <a:avLst>
              <a:gd name="adj" fmla="val 2091"/>
            </a:avLst>
          </a:prstGeom>
          <a:solidFill>
            <a:srgbClr val="E2F4EF"/>
          </a:solidFill>
          <a:ln w="6350">
            <a:solidFill>
              <a:srgbClr val="E2F4EF"/>
            </a:solidFill>
            <a:prstDash val="solid"/>
          </a:ln>
          <a:effectLst>
            <a:outerShdw blurRad="114300" dist="25400" dir="5400000" algn="bl" rotWithShape="0">
              <a:srgbClr val="9FB0BF">
                <a:alpha val="25000"/>
              </a:srgbClr>
            </a:outerShdw>
          </a:effectLst>
        </p:spPr>
        <p:txBody>
          <a:bodyPr/>
          <a:lstStyle/>
          <a:p>
            <a:endParaRPr lang="en-US"/>
          </a:p>
        </p:txBody>
      </p:sp>
      <p:sp>
        <p:nvSpPr>
          <p:cNvPr id="29" name="Shape 27"/>
          <p:cNvSpPr/>
          <p:nvPr/>
        </p:nvSpPr>
        <p:spPr>
          <a:xfrm>
            <a:off x="9299448" y="1847088"/>
            <a:ext cx="457200" cy="457200"/>
          </a:xfrm>
          <a:prstGeom prst="ellipse">
            <a:avLst/>
          </a:prstGeom>
          <a:solidFill>
            <a:srgbClr val="2BA88C"/>
          </a:solidFill>
          <a:ln w="6350">
            <a:solidFill>
              <a:srgbClr val="2BA88C"/>
            </a:solidFill>
            <a:prstDash val="solid"/>
          </a:ln>
        </p:spPr>
        <p:txBody>
          <a:bodyPr/>
          <a:lstStyle/>
          <a:p>
            <a:endParaRPr lang="en-US"/>
          </a:p>
        </p:txBody>
      </p:sp>
      <p:sp>
        <p:nvSpPr>
          <p:cNvPr id="30" name="Text 28"/>
          <p:cNvSpPr/>
          <p:nvPr/>
        </p:nvSpPr>
        <p:spPr>
          <a:xfrm>
            <a:off x="9299448" y="18470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1" name="Text 29"/>
          <p:cNvSpPr/>
          <p:nvPr/>
        </p:nvSpPr>
        <p:spPr>
          <a:xfrm>
            <a:off x="9866376" y="1956816"/>
            <a:ext cx="1280160" cy="237744"/>
          </a:xfrm>
          <a:prstGeom prst="rect">
            <a:avLst/>
          </a:prstGeom>
          <a:noFill/>
          <a:ln/>
        </p:spPr>
        <p:txBody>
          <a:bodyPr wrap="square" lIns="0" tIns="0" rIns="0" bIns="0" rtlCol="0" anchor="t"/>
          <a:lstStyle/>
          <a:p>
            <a:pPr marL="0" indent="0" algn="l">
              <a:lnSpc>
                <a:spcPct val="106000"/>
              </a:lnSpc>
              <a:buNone/>
            </a:pPr>
            <a:r>
              <a:rPr lang="en-US" sz="1100" b="1" dirty="0">
                <a:solidFill>
                  <a:srgbClr val="7A8894"/>
                </a:solidFill>
                <a:latin typeface="Calibri" pitchFamily="34" charset="0"/>
                <a:ea typeface="Calibri" pitchFamily="34" charset="-122"/>
                <a:cs typeface="Calibri" pitchFamily="34" charset="-120"/>
              </a:rPr>
              <a:t>Phase</a:t>
            </a:r>
            <a:endParaRPr lang="en-US" sz="1100" dirty="0"/>
          </a:p>
        </p:txBody>
      </p:sp>
      <p:sp>
        <p:nvSpPr>
          <p:cNvPr id="32" name="Text 30"/>
          <p:cNvSpPr/>
          <p:nvPr/>
        </p:nvSpPr>
        <p:spPr>
          <a:xfrm>
            <a:off x="9299448" y="2432304"/>
            <a:ext cx="2112264" cy="310896"/>
          </a:xfrm>
          <a:prstGeom prst="rect">
            <a:avLst/>
          </a:prstGeom>
          <a:noFill/>
          <a:ln/>
        </p:spPr>
        <p:txBody>
          <a:bodyPr wrap="square" lIns="0" tIns="0" rIns="0" bIns="0" rtlCol="0" anchor="t"/>
          <a:lstStyle/>
          <a:p>
            <a:pPr marL="0" indent="0" algn="l">
              <a:lnSpc>
                <a:spcPct val="106000"/>
              </a:lnSpc>
              <a:buNone/>
            </a:pPr>
            <a:r>
              <a:rPr lang="en-US" sz="1600" b="1" dirty="0">
                <a:solidFill>
                  <a:srgbClr val="16212E"/>
                </a:solidFill>
                <a:latin typeface="Calibri" pitchFamily="34" charset="0"/>
                <a:ea typeface="Calibri" pitchFamily="34" charset="-122"/>
                <a:cs typeface="Calibri" pitchFamily="34" charset="-120"/>
              </a:rPr>
              <a:t>Go strict</a:t>
            </a:r>
            <a:endParaRPr lang="en-US" sz="1600" dirty="0"/>
          </a:p>
        </p:txBody>
      </p:sp>
      <p:sp>
        <p:nvSpPr>
          <p:cNvPr id="33" name="Text 31"/>
          <p:cNvSpPr/>
          <p:nvPr/>
        </p:nvSpPr>
        <p:spPr>
          <a:xfrm>
            <a:off x="9299448" y="2798064"/>
            <a:ext cx="2112264" cy="1207008"/>
          </a:xfrm>
          <a:prstGeom prst="rect">
            <a:avLst/>
          </a:prstGeom>
          <a:noFill/>
          <a:ln/>
        </p:spPr>
        <p:txBody>
          <a:bodyPr wrap="square" lIns="0" tIns="0" rIns="0" bIns="0" rtlCol="0" anchor="t"/>
          <a:lstStyle/>
          <a:p>
            <a:pPr marL="0" indent="0" algn="l">
              <a:lnSpc>
                <a:spcPct val="116000"/>
              </a:lnSpc>
              <a:buNone/>
            </a:pPr>
            <a:r>
              <a:rPr lang="en-US" sz="1200" dirty="0">
                <a:solidFill>
                  <a:srgbClr val="3D4C5A"/>
                </a:solidFill>
                <a:latin typeface="Calibri" pitchFamily="34" charset="0"/>
                <a:ea typeface="Calibri" pitchFamily="34" charset="-122"/>
                <a:cs typeface="Calibri" pitchFamily="34" charset="-120"/>
              </a:rPr>
              <a:t>Auto-detect off, legacy path deleted, sunset date announced in advance.</a:t>
            </a:r>
            <a:endParaRPr lang="en-US" sz="1200" dirty="0"/>
          </a:p>
        </p:txBody>
      </p:sp>
      <p:sp>
        <p:nvSpPr>
          <p:cNvPr id="34" name="Text 32"/>
          <p:cNvSpPr/>
          <p:nvPr/>
        </p:nvSpPr>
        <p:spPr>
          <a:xfrm>
            <a:off x="9299448" y="4059936"/>
            <a:ext cx="2112264" cy="256032"/>
          </a:xfrm>
          <a:prstGeom prst="rect">
            <a:avLst/>
          </a:prstGeom>
          <a:noFill/>
          <a:ln/>
        </p:spPr>
        <p:txBody>
          <a:bodyPr wrap="square" lIns="0" tIns="0" rIns="0" bIns="0" rtlCol="0" anchor="t"/>
          <a:lstStyle/>
          <a:p>
            <a:pPr marL="0" indent="0" algn="l">
              <a:lnSpc>
                <a:spcPct val="106000"/>
              </a:lnSpc>
              <a:buNone/>
            </a:pPr>
            <a:r>
              <a:rPr lang="en-US" sz="1100" b="1" dirty="0">
                <a:solidFill>
                  <a:srgbClr val="7A8894"/>
                </a:solidFill>
                <a:latin typeface="Calibri" pitchFamily="34" charset="0"/>
                <a:ea typeface="Calibri" pitchFamily="34" charset="-122"/>
                <a:cs typeface="Calibri" pitchFamily="34" charset="-120"/>
              </a:rPr>
              <a:t>Platform</a:t>
            </a:r>
            <a:endParaRPr lang="en-US" sz="1100" dirty="0"/>
          </a:p>
        </p:txBody>
      </p:sp>
      <p:sp>
        <p:nvSpPr>
          <p:cNvPr id="35" name="Text 33"/>
          <p:cNvSpPr/>
          <p:nvPr/>
        </p:nvSpPr>
        <p:spPr>
          <a:xfrm>
            <a:off x="9299448" y="4261104"/>
            <a:ext cx="2112264" cy="237744"/>
          </a:xfrm>
          <a:prstGeom prst="rect">
            <a:avLst/>
          </a:prstGeom>
          <a:noFill/>
          <a:ln/>
        </p:spPr>
        <p:txBody>
          <a:bodyPr wrap="square" lIns="0" tIns="0" rIns="0" bIns="0" rtlCol="0" anchor="t"/>
          <a:lstStyle/>
          <a:p>
            <a:pPr marL="0" indent="0" algn="l">
              <a:lnSpc>
                <a:spcPct val="106000"/>
              </a:lnSpc>
              <a:buNone/>
            </a:pPr>
            <a:r>
              <a:rPr lang="en-US" sz="1050" i="1" dirty="0">
                <a:solidFill>
                  <a:srgbClr val="7A8894"/>
                </a:solidFill>
                <a:latin typeface="Calibri" pitchFamily="34" charset="0"/>
                <a:ea typeface="Calibri" pitchFamily="34" charset="-122"/>
                <a:cs typeface="Calibri" pitchFamily="34" charset="-120"/>
              </a:rPr>
              <a:t>[ date TBD ]</a:t>
            </a:r>
            <a:endParaRPr lang="en-US" sz="1050" dirty="0"/>
          </a:p>
        </p:txBody>
      </p:sp>
      <p:sp>
        <p:nvSpPr>
          <p:cNvPr id="36" name="Shape 34"/>
          <p:cNvSpPr/>
          <p:nvPr/>
        </p:nvSpPr>
        <p:spPr>
          <a:xfrm>
            <a:off x="566928" y="4608576"/>
            <a:ext cx="11057839" cy="1371600"/>
          </a:xfrm>
          <a:prstGeom prst="roundRect">
            <a:avLst>
              <a:gd name="adj" fmla="val 4000"/>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37" name="Text 35"/>
          <p:cNvSpPr/>
          <p:nvPr/>
        </p:nvSpPr>
        <p:spPr>
          <a:xfrm>
            <a:off x="950976" y="4809744"/>
            <a:ext cx="2377440" cy="292608"/>
          </a:xfrm>
          <a:prstGeom prst="rect">
            <a:avLst/>
          </a:prstGeom>
          <a:noFill/>
          <a:ln/>
        </p:spPr>
        <p:txBody>
          <a:bodyPr wrap="square" lIns="0" tIns="0" rIns="0" bIns="0" rtlCol="0" anchor="t"/>
          <a:lstStyle/>
          <a:p>
            <a:pPr marL="0" indent="0" algn="l">
              <a:lnSpc>
                <a:spcPct val="106000"/>
              </a:lnSpc>
              <a:buNone/>
            </a:pPr>
            <a:r>
              <a:rPr lang="en-US" sz="1500" b="1" dirty="0">
                <a:solidFill>
                  <a:srgbClr val="16212E"/>
                </a:solidFill>
                <a:latin typeface="Calibri" pitchFamily="34" charset="0"/>
                <a:ea typeface="Calibri" pitchFamily="34" charset="-122"/>
                <a:cs typeface="Calibri" pitchFamily="34" charset="-120"/>
              </a:rPr>
              <a:t>Rollback plan</a:t>
            </a:r>
            <a:endParaRPr lang="en-US" sz="1500" dirty="0"/>
          </a:p>
        </p:txBody>
      </p:sp>
      <p:sp>
        <p:nvSpPr>
          <p:cNvPr id="38" name="Text 36"/>
          <p:cNvSpPr/>
          <p:nvPr/>
        </p:nvSpPr>
        <p:spPr>
          <a:xfrm>
            <a:off x="950976" y="5138928"/>
            <a:ext cx="10234879" cy="694944"/>
          </a:xfrm>
          <a:prstGeom prst="rect">
            <a:avLst/>
          </a:prstGeom>
          <a:noFill/>
          <a:ln/>
        </p:spPr>
        <p:txBody>
          <a:bodyPr wrap="square" lIns="0" tIns="0" rIns="0" bIns="0" rtlCol="0" anchor="ctr"/>
          <a:lstStyle/>
          <a:p>
            <a:pPr marL="342900" indent="-342900">
              <a:lnSpc>
                <a:spcPct val="102000"/>
              </a:lnSpc>
              <a:spcAft>
                <a:spcPts val="500"/>
              </a:spcAft>
              <a:buSzPct val="100000"/>
              <a:buChar char="•"/>
            </a:pPr>
            <a:r>
              <a:rPr lang="en-US" sz="1250" dirty="0">
                <a:solidFill>
                  <a:srgbClr val="3D4C5A"/>
                </a:solidFill>
                <a:latin typeface="Calibri" pitchFamily="34" charset="0"/>
                <a:ea typeface="Calibri" pitchFamily="34" charset="-122"/>
                <a:cs typeface="Calibri" pitchFamily="34" charset="-120"/>
              </a:rPr>
              <a:t>Keep the phase-1 config flag alive until phase 4 is signed off — reverting must be a config change, never a deploy.</a:t>
            </a:r>
            <a:endParaRPr lang="en-US" sz="1250" dirty="0"/>
          </a:p>
          <a:p>
            <a:pPr marL="342900" indent="-342900">
              <a:lnSpc>
                <a:spcPct val="102000"/>
              </a:lnSpc>
              <a:spcAft>
                <a:spcPts val="500"/>
              </a:spcAft>
              <a:buSzPct val="100000"/>
              <a:buChar char="•"/>
            </a:pPr>
            <a:r>
              <a:rPr lang="en-US" sz="1250" dirty="0">
                <a:solidFill>
                  <a:srgbClr val="3D4C5A"/>
                </a:solidFill>
                <a:latin typeface="Calibri" pitchFamily="34" charset="0"/>
                <a:ea typeface="Calibri" pitchFamily="34" charset="-122"/>
                <a:cs typeface="Calibri" pitchFamily="34" charset="-120"/>
              </a:rPr>
              <a:t>Freeze the old code path rather than deleting it, until the dashboard has shown zero legacy traffic for a full billing cycle.</a:t>
            </a:r>
            <a:endParaRPr lang="en-US" sz="1250" dirty="0"/>
          </a:p>
        </p:txBody>
      </p:sp>
      <p:sp>
        <p:nvSpPr>
          <p:cNvPr id="39" name="Text 37"/>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3 · Beyond the defaults</a:t>
            </a:r>
            <a:endParaRPr lang="en-US" sz="950" dirty="0"/>
          </a:p>
        </p:txBody>
      </p:sp>
      <p:sp>
        <p:nvSpPr>
          <p:cNvPr id="40" name="Text 38"/>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23</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BEFORE ANYONE WRITES CODE</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Six decisions we need out of this room</a:t>
            </a:r>
            <a:endParaRPr lang="en-US" sz="3100" dirty="0"/>
          </a:p>
        </p:txBody>
      </p:sp>
      <p:sp>
        <p:nvSpPr>
          <p:cNvPr id="4" name="Shape 2"/>
          <p:cNvSpPr/>
          <p:nvPr/>
        </p:nvSpPr>
        <p:spPr>
          <a:xfrm>
            <a:off x="566928" y="1627632"/>
            <a:ext cx="3502152" cy="1481328"/>
          </a:xfrm>
          <a:prstGeom prst="roundRect">
            <a:avLst>
              <a:gd name="adj" fmla="val 3704"/>
            </a:avLst>
          </a:prstGeom>
          <a:solidFill>
            <a:srgbClr val="FBEAE9"/>
          </a:solidFill>
          <a:ln w="6350">
            <a:solidFill>
              <a:srgbClr val="FBEAE9"/>
            </a:solidFill>
            <a:prstDash val="solid"/>
          </a:ln>
          <a:effectLst>
            <a:outerShdw blurRad="114300" dist="25400" dir="5400000" algn="bl" rotWithShape="0">
              <a:srgbClr val="9FB0BF">
                <a:alpha val="25000"/>
              </a:srgbClr>
            </a:outerShdw>
          </a:effectLst>
        </p:spPr>
        <p:txBody>
          <a:bodyPr/>
          <a:lstStyle/>
          <a:p>
            <a:endParaRPr lang="en-US"/>
          </a:p>
        </p:txBody>
      </p:sp>
      <p:sp>
        <p:nvSpPr>
          <p:cNvPr id="5" name="Shape 3"/>
          <p:cNvSpPr/>
          <p:nvPr/>
        </p:nvSpPr>
        <p:spPr>
          <a:xfrm>
            <a:off x="822960" y="1810512"/>
            <a:ext cx="1234440" cy="274320"/>
          </a:xfrm>
          <a:prstGeom prst="roundRect">
            <a:avLst>
              <a:gd name="adj" fmla="val 166667"/>
            </a:avLst>
          </a:prstGeom>
          <a:solidFill>
            <a:srgbClr val="D0524E"/>
          </a:solidFill>
          <a:ln w="6350">
            <a:solidFill>
              <a:srgbClr val="D0524E"/>
            </a:solidFill>
            <a:prstDash val="solid"/>
          </a:ln>
        </p:spPr>
        <p:txBody>
          <a:bodyPr/>
          <a:lstStyle/>
          <a:p>
            <a:endParaRPr lang="en-US"/>
          </a:p>
        </p:txBody>
      </p:sp>
      <p:sp>
        <p:nvSpPr>
          <p:cNvPr id="6" name="Text 4"/>
          <p:cNvSpPr/>
          <p:nvPr/>
        </p:nvSpPr>
        <p:spPr>
          <a:xfrm>
            <a:off x="822960" y="1810512"/>
            <a:ext cx="1234440" cy="274320"/>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BLOCKING</a:t>
            </a:r>
            <a:endParaRPr lang="en-US" sz="1050" dirty="0"/>
          </a:p>
        </p:txBody>
      </p:sp>
      <p:sp>
        <p:nvSpPr>
          <p:cNvPr id="7" name="Text 5"/>
          <p:cNvSpPr/>
          <p:nvPr/>
        </p:nvSpPr>
        <p:spPr>
          <a:xfrm>
            <a:off x="822960" y="2194560"/>
            <a:ext cx="2990088" cy="310896"/>
          </a:xfrm>
          <a:prstGeom prst="rect">
            <a:avLst/>
          </a:prstGeom>
          <a:noFill/>
          <a:ln/>
        </p:spPr>
        <p:txBody>
          <a:bodyPr wrap="square" lIns="0" tIns="0" rIns="0" bIns="0" rtlCol="0" anchor="t"/>
          <a:lstStyle/>
          <a:p>
            <a:pPr marL="0" indent="0" algn="l">
              <a:lnSpc>
                <a:spcPct val="106000"/>
              </a:lnSpc>
              <a:buNone/>
            </a:pPr>
            <a:r>
              <a:rPr lang="en-US" sz="1450" b="1" dirty="0">
                <a:solidFill>
                  <a:srgbClr val="16212E"/>
                </a:solidFill>
                <a:latin typeface="Calibri" pitchFamily="34" charset="0"/>
                <a:ea typeface="Calibri" pitchFamily="34" charset="-122"/>
                <a:cs typeface="Calibri" pitchFamily="34" charset="-120"/>
              </a:rPr>
              <a:t>Pick the header constant</a:t>
            </a:r>
            <a:endParaRPr lang="en-US" sz="1450" dirty="0"/>
          </a:p>
        </p:txBody>
      </p:sp>
      <p:sp>
        <p:nvSpPr>
          <p:cNvPr id="8" name="Text 6"/>
          <p:cNvSpPr/>
          <p:nvPr/>
        </p:nvSpPr>
        <p:spPr>
          <a:xfrm>
            <a:off x="822960" y="2542032"/>
            <a:ext cx="2990088" cy="502920"/>
          </a:xfrm>
          <a:prstGeom prst="rect">
            <a:avLst/>
          </a:prstGeom>
          <a:noFill/>
          <a:ln/>
        </p:spPr>
        <p:txBody>
          <a:bodyPr wrap="square" lIns="0" tIns="0" rIns="0" bIns="0" rtlCol="0" anchor="t"/>
          <a:lstStyle/>
          <a:p>
            <a:pPr marL="0" indent="0" algn="l">
              <a:lnSpc>
                <a:spcPct val="114000"/>
              </a:lnSpc>
              <a:buNone/>
            </a:pPr>
            <a:r>
              <a:rPr lang="en-US" sz="1150" dirty="0">
                <a:solidFill>
                  <a:srgbClr val="3D4C5A"/>
                </a:solidFill>
                <a:latin typeface="Calibri" pitchFamily="34" charset="0"/>
                <a:ea typeface="Calibri" pitchFamily="34" charset="-122"/>
                <a:cs typeface="Calibri" pitchFamily="34" charset="-120"/>
              </a:rPr>
              <a:t>HKDF or GCM_. One value, documented once, the other deleted from both docs.</a:t>
            </a:r>
            <a:endParaRPr lang="en-US" sz="1150" dirty="0"/>
          </a:p>
        </p:txBody>
      </p:sp>
      <p:sp>
        <p:nvSpPr>
          <p:cNvPr id="9" name="Shape 7"/>
          <p:cNvSpPr/>
          <p:nvPr/>
        </p:nvSpPr>
        <p:spPr>
          <a:xfrm>
            <a:off x="4361688" y="1627632"/>
            <a:ext cx="3502152" cy="1481328"/>
          </a:xfrm>
          <a:prstGeom prst="roundRect">
            <a:avLst>
              <a:gd name="adj" fmla="val 3704"/>
            </a:avLst>
          </a:prstGeom>
          <a:solidFill>
            <a:srgbClr val="FBEAE9"/>
          </a:solidFill>
          <a:ln w="6350">
            <a:solidFill>
              <a:srgbClr val="FBEAE9"/>
            </a:solidFill>
            <a:prstDash val="solid"/>
          </a:ln>
          <a:effectLst>
            <a:outerShdw blurRad="114300" dist="25400" dir="5400000" algn="bl" rotWithShape="0">
              <a:srgbClr val="9FB0BF">
                <a:alpha val="25000"/>
              </a:srgbClr>
            </a:outerShdw>
          </a:effectLst>
        </p:spPr>
        <p:txBody>
          <a:bodyPr/>
          <a:lstStyle/>
          <a:p>
            <a:endParaRPr lang="en-US"/>
          </a:p>
        </p:txBody>
      </p:sp>
      <p:sp>
        <p:nvSpPr>
          <p:cNvPr id="10" name="Shape 8"/>
          <p:cNvSpPr/>
          <p:nvPr/>
        </p:nvSpPr>
        <p:spPr>
          <a:xfrm>
            <a:off x="4617720" y="1810512"/>
            <a:ext cx="1234440" cy="274320"/>
          </a:xfrm>
          <a:prstGeom prst="roundRect">
            <a:avLst>
              <a:gd name="adj" fmla="val 166667"/>
            </a:avLst>
          </a:prstGeom>
          <a:solidFill>
            <a:srgbClr val="D0524E"/>
          </a:solidFill>
          <a:ln w="6350">
            <a:solidFill>
              <a:srgbClr val="D0524E"/>
            </a:solidFill>
            <a:prstDash val="solid"/>
          </a:ln>
        </p:spPr>
        <p:txBody>
          <a:bodyPr/>
          <a:lstStyle/>
          <a:p>
            <a:endParaRPr lang="en-US"/>
          </a:p>
        </p:txBody>
      </p:sp>
      <p:sp>
        <p:nvSpPr>
          <p:cNvPr id="11" name="Text 9"/>
          <p:cNvSpPr/>
          <p:nvPr/>
        </p:nvSpPr>
        <p:spPr>
          <a:xfrm>
            <a:off x="4617720" y="1810512"/>
            <a:ext cx="1234440" cy="274320"/>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BLOCKING</a:t>
            </a:r>
            <a:endParaRPr lang="en-US" sz="1050" dirty="0"/>
          </a:p>
        </p:txBody>
      </p:sp>
      <p:sp>
        <p:nvSpPr>
          <p:cNvPr id="12" name="Text 10"/>
          <p:cNvSpPr/>
          <p:nvPr/>
        </p:nvSpPr>
        <p:spPr>
          <a:xfrm>
            <a:off x="4617720" y="2194560"/>
            <a:ext cx="2990088" cy="310896"/>
          </a:xfrm>
          <a:prstGeom prst="rect">
            <a:avLst/>
          </a:prstGeom>
          <a:noFill/>
          <a:ln/>
        </p:spPr>
        <p:txBody>
          <a:bodyPr wrap="square" lIns="0" tIns="0" rIns="0" bIns="0" rtlCol="0" anchor="t"/>
          <a:lstStyle/>
          <a:p>
            <a:pPr marL="0" indent="0" algn="l">
              <a:lnSpc>
                <a:spcPct val="106000"/>
              </a:lnSpc>
              <a:buNone/>
            </a:pPr>
            <a:r>
              <a:rPr lang="en-US" sz="1450" b="1" dirty="0">
                <a:solidFill>
                  <a:srgbClr val="16212E"/>
                </a:solidFill>
                <a:latin typeface="Calibri" pitchFamily="34" charset="0"/>
                <a:ea typeface="Calibri" pitchFamily="34" charset="-122"/>
                <a:cs typeface="Calibri" pitchFamily="34" charset="-120"/>
              </a:rPr>
              <a:t>Version and key-ID bytes</a:t>
            </a:r>
            <a:endParaRPr lang="en-US" sz="1450" dirty="0"/>
          </a:p>
        </p:txBody>
      </p:sp>
      <p:sp>
        <p:nvSpPr>
          <p:cNvPr id="13" name="Text 11"/>
          <p:cNvSpPr/>
          <p:nvPr/>
        </p:nvSpPr>
        <p:spPr>
          <a:xfrm>
            <a:off x="4617720" y="2542032"/>
            <a:ext cx="2990088" cy="502920"/>
          </a:xfrm>
          <a:prstGeom prst="rect">
            <a:avLst/>
          </a:prstGeom>
          <a:noFill/>
          <a:ln/>
        </p:spPr>
        <p:txBody>
          <a:bodyPr wrap="square" lIns="0" tIns="0" rIns="0" bIns="0" rtlCol="0" anchor="t"/>
          <a:lstStyle/>
          <a:p>
            <a:pPr marL="0" indent="0" algn="l">
              <a:lnSpc>
                <a:spcPct val="114000"/>
              </a:lnSpc>
              <a:buNone/>
            </a:pPr>
            <a:r>
              <a:rPr lang="en-US" sz="1150" dirty="0">
                <a:solidFill>
                  <a:srgbClr val="3D4C5A"/>
                </a:solidFill>
                <a:latin typeface="Calibri" pitchFamily="34" charset="0"/>
                <a:ea typeface="Calibri" pitchFamily="34" charset="-122"/>
                <a:cs typeface="Calibri" pitchFamily="34" charset="-120"/>
              </a:rPr>
              <a:t>Yes or no, decided before the first production write. Free now, expensive later.</a:t>
            </a:r>
            <a:endParaRPr lang="en-US" sz="1150" dirty="0"/>
          </a:p>
        </p:txBody>
      </p:sp>
      <p:sp>
        <p:nvSpPr>
          <p:cNvPr id="14" name="Shape 12"/>
          <p:cNvSpPr/>
          <p:nvPr/>
        </p:nvSpPr>
        <p:spPr>
          <a:xfrm>
            <a:off x="8156448" y="1627632"/>
            <a:ext cx="3502152" cy="1481328"/>
          </a:xfrm>
          <a:prstGeom prst="roundRect">
            <a:avLst>
              <a:gd name="adj" fmla="val 3704"/>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15" name="Shape 13"/>
          <p:cNvSpPr/>
          <p:nvPr/>
        </p:nvSpPr>
        <p:spPr>
          <a:xfrm>
            <a:off x="8412480" y="1810512"/>
            <a:ext cx="1234440" cy="274320"/>
          </a:xfrm>
          <a:prstGeom prst="roundRect">
            <a:avLst>
              <a:gd name="adj" fmla="val 166667"/>
            </a:avLst>
          </a:prstGeom>
          <a:solidFill>
            <a:srgbClr val="E8A033"/>
          </a:solidFill>
          <a:ln w="6350">
            <a:solidFill>
              <a:srgbClr val="E8A033"/>
            </a:solidFill>
            <a:prstDash val="solid"/>
          </a:ln>
        </p:spPr>
        <p:txBody>
          <a:bodyPr/>
          <a:lstStyle/>
          <a:p>
            <a:endParaRPr lang="en-US"/>
          </a:p>
        </p:txBody>
      </p:sp>
      <p:sp>
        <p:nvSpPr>
          <p:cNvPr id="16" name="Text 14"/>
          <p:cNvSpPr/>
          <p:nvPr/>
        </p:nvSpPr>
        <p:spPr>
          <a:xfrm>
            <a:off x="8412480" y="1810512"/>
            <a:ext cx="1234440" cy="274320"/>
          </a:xfrm>
          <a:prstGeom prst="rect">
            <a:avLst/>
          </a:prstGeom>
          <a:noFill/>
          <a:ln/>
        </p:spPr>
        <p:txBody>
          <a:bodyPr wrap="square" lIns="0" tIns="0" rIns="0" bIns="0" rtlCol="0" anchor="ctr"/>
          <a:lstStyle/>
          <a:p>
            <a:pPr marL="0" indent="0" algn="ctr">
              <a:buNone/>
            </a:pPr>
            <a:r>
              <a:rPr lang="en-US" sz="1050" b="1" kern="0" spc="60" dirty="0">
                <a:solidFill>
                  <a:srgbClr val="0F1721"/>
                </a:solidFill>
                <a:latin typeface="Calibri" pitchFamily="34" charset="0"/>
                <a:ea typeface="Calibri" pitchFamily="34" charset="-122"/>
                <a:cs typeface="Calibri" pitchFamily="34" charset="-120"/>
              </a:rPr>
              <a:t>HIGH</a:t>
            </a:r>
            <a:endParaRPr lang="en-US" sz="1050" dirty="0"/>
          </a:p>
        </p:txBody>
      </p:sp>
      <p:sp>
        <p:nvSpPr>
          <p:cNvPr id="17" name="Text 15"/>
          <p:cNvSpPr/>
          <p:nvPr/>
        </p:nvSpPr>
        <p:spPr>
          <a:xfrm>
            <a:off x="8412480" y="2194560"/>
            <a:ext cx="2990088" cy="310896"/>
          </a:xfrm>
          <a:prstGeom prst="rect">
            <a:avLst/>
          </a:prstGeom>
          <a:noFill/>
          <a:ln/>
        </p:spPr>
        <p:txBody>
          <a:bodyPr wrap="square" lIns="0" tIns="0" rIns="0" bIns="0" rtlCol="0" anchor="t"/>
          <a:lstStyle/>
          <a:p>
            <a:pPr marL="0" indent="0" algn="l">
              <a:lnSpc>
                <a:spcPct val="106000"/>
              </a:lnSpc>
              <a:buNone/>
            </a:pPr>
            <a:r>
              <a:rPr lang="en-US" sz="1450" b="1" dirty="0">
                <a:solidFill>
                  <a:srgbClr val="16212E"/>
                </a:solidFill>
                <a:latin typeface="Calibri" pitchFamily="34" charset="0"/>
                <a:ea typeface="Calibri" pitchFamily="34" charset="-122"/>
                <a:cs typeface="Calibri" pitchFamily="34" charset="-120"/>
              </a:rPr>
              <a:t>Canonical AAD string</a:t>
            </a:r>
            <a:endParaRPr lang="en-US" sz="1450" dirty="0"/>
          </a:p>
        </p:txBody>
      </p:sp>
      <p:sp>
        <p:nvSpPr>
          <p:cNvPr id="18" name="Text 16"/>
          <p:cNvSpPr/>
          <p:nvPr/>
        </p:nvSpPr>
        <p:spPr>
          <a:xfrm>
            <a:off x="8412480" y="2542032"/>
            <a:ext cx="2990088" cy="502920"/>
          </a:xfrm>
          <a:prstGeom prst="rect">
            <a:avLst/>
          </a:prstGeom>
          <a:noFill/>
          <a:ln/>
        </p:spPr>
        <p:txBody>
          <a:bodyPr wrap="square" lIns="0" tIns="0" rIns="0" bIns="0" rtlCol="0" anchor="t"/>
          <a:lstStyle/>
          <a:p>
            <a:pPr marL="0" indent="0" algn="l">
              <a:lnSpc>
                <a:spcPct val="114000"/>
              </a:lnSpc>
              <a:buNone/>
            </a:pPr>
            <a:r>
              <a:rPr lang="en-US" sz="1150" dirty="0">
                <a:solidFill>
                  <a:srgbClr val="3D4C5A"/>
                </a:solidFill>
                <a:latin typeface="Calibri" pitchFamily="34" charset="0"/>
                <a:ea typeface="Calibri" pitchFamily="34" charset="-122"/>
                <a:cs typeface="Calibri" pitchFamily="34" charset="-120"/>
              </a:rPr>
              <a:t>Agree the exact format across services, or it fails like a wrong key.</a:t>
            </a:r>
            <a:endParaRPr lang="en-US" sz="1150" dirty="0"/>
          </a:p>
        </p:txBody>
      </p:sp>
      <p:sp>
        <p:nvSpPr>
          <p:cNvPr id="19" name="Shape 17"/>
          <p:cNvSpPr/>
          <p:nvPr/>
        </p:nvSpPr>
        <p:spPr>
          <a:xfrm>
            <a:off x="566928" y="3328416"/>
            <a:ext cx="3502152" cy="1481328"/>
          </a:xfrm>
          <a:prstGeom prst="roundRect">
            <a:avLst>
              <a:gd name="adj" fmla="val 3704"/>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20" name="Shape 18"/>
          <p:cNvSpPr/>
          <p:nvPr/>
        </p:nvSpPr>
        <p:spPr>
          <a:xfrm>
            <a:off x="822960" y="3511296"/>
            <a:ext cx="1234440" cy="274320"/>
          </a:xfrm>
          <a:prstGeom prst="roundRect">
            <a:avLst>
              <a:gd name="adj" fmla="val 166667"/>
            </a:avLst>
          </a:prstGeom>
          <a:solidFill>
            <a:srgbClr val="E8A033"/>
          </a:solidFill>
          <a:ln w="6350">
            <a:solidFill>
              <a:srgbClr val="E8A033"/>
            </a:solidFill>
            <a:prstDash val="solid"/>
          </a:ln>
        </p:spPr>
        <p:txBody>
          <a:bodyPr/>
          <a:lstStyle/>
          <a:p>
            <a:endParaRPr lang="en-US"/>
          </a:p>
        </p:txBody>
      </p:sp>
      <p:sp>
        <p:nvSpPr>
          <p:cNvPr id="21" name="Text 19"/>
          <p:cNvSpPr/>
          <p:nvPr/>
        </p:nvSpPr>
        <p:spPr>
          <a:xfrm>
            <a:off x="822960" y="3511296"/>
            <a:ext cx="1234440" cy="274320"/>
          </a:xfrm>
          <a:prstGeom prst="rect">
            <a:avLst/>
          </a:prstGeom>
          <a:noFill/>
          <a:ln/>
        </p:spPr>
        <p:txBody>
          <a:bodyPr wrap="square" lIns="0" tIns="0" rIns="0" bIns="0" rtlCol="0" anchor="ctr"/>
          <a:lstStyle/>
          <a:p>
            <a:pPr marL="0" indent="0" algn="ctr">
              <a:buNone/>
            </a:pPr>
            <a:r>
              <a:rPr lang="en-US" sz="1050" b="1" kern="0" spc="60" dirty="0">
                <a:solidFill>
                  <a:srgbClr val="0F1721"/>
                </a:solidFill>
                <a:latin typeface="Calibri" pitchFamily="34" charset="0"/>
                <a:ea typeface="Calibri" pitchFamily="34" charset="-122"/>
                <a:cs typeface="Calibri" pitchFamily="34" charset="-120"/>
              </a:rPr>
              <a:t>HIGH</a:t>
            </a:r>
            <a:endParaRPr lang="en-US" sz="1050" dirty="0"/>
          </a:p>
        </p:txBody>
      </p:sp>
      <p:sp>
        <p:nvSpPr>
          <p:cNvPr id="22" name="Text 20"/>
          <p:cNvSpPr/>
          <p:nvPr/>
        </p:nvSpPr>
        <p:spPr>
          <a:xfrm>
            <a:off x="822960" y="3895344"/>
            <a:ext cx="2990088" cy="310896"/>
          </a:xfrm>
          <a:prstGeom prst="rect">
            <a:avLst/>
          </a:prstGeom>
          <a:noFill/>
          <a:ln/>
        </p:spPr>
        <p:txBody>
          <a:bodyPr wrap="square" lIns="0" tIns="0" rIns="0" bIns="0" rtlCol="0" anchor="t"/>
          <a:lstStyle/>
          <a:p>
            <a:pPr marL="0" indent="0" algn="l">
              <a:lnSpc>
                <a:spcPct val="106000"/>
              </a:lnSpc>
              <a:buNone/>
            </a:pPr>
            <a:r>
              <a:rPr lang="en-US" sz="1450" b="1" dirty="0">
                <a:solidFill>
                  <a:srgbClr val="16212E"/>
                </a:solidFill>
                <a:latin typeface="Calibri" pitchFamily="34" charset="0"/>
                <a:ea typeface="Calibri" pitchFamily="34" charset="-122"/>
                <a:cs typeface="Calibri" pitchFamily="34" charset="-120"/>
              </a:rPr>
              <a:t>Rotate the sample key material</a:t>
            </a:r>
            <a:endParaRPr lang="en-US" sz="1450" dirty="0"/>
          </a:p>
        </p:txBody>
      </p:sp>
      <p:sp>
        <p:nvSpPr>
          <p:cNvPr id="23" name="Text 21"/>
          <p:cNvSpPr/>
          <p:nvPr/>
        </p:nvSpPr>
        <p:spPr>
          <a:xfrm>
            <a:off x="822960" y="4242816"/>
            <a:ext cx="2990088" cy="502920"/>
          </a:xfrm>
          <a:prstGeom prst="rect">
            <a:avLst/>
          </a:prstGeom>
          <a:noFill/>
          <a:ln/>
        </p:spPr>
        <p:txBody>
          <a:bodyPr wrap="square" lIns="0" tIns="0" rIns="0" bIns="0" rtlCol="0" anchor="t"/>
          <a:lstStyle/>
          <a:p>
            <a:pPr marL="0" indent="0" algn="l">
              <a:lnSpc>
                <a:spcPct val="114000"/>
              </a:lnSpc>
              <a:buNone/>
            </a:pPr>
            <a:r>
              <a:rPr lang="en-US" sz="1150" dirty="0">
                <a:solidFill>
                  <a:srgbClr val="3D4C5A"/>
                </a:solidFill>
                <a:latin typeface="Calibri" pitchFamily="34" charset="0"/>
                <a:ea typeface="Calibri" pitchFamily="34" charset="-122"/>
                <a:cs typeface="Calibri" pitchFamily="34" charset="-120"/>
              </a:rPr>
              <a:t>Remove it from CONCEPTS.md and from git history.</a:t>
            </a:r>
            <a:endParaRPr lang="en-US" sz="1150" dirty="0"/>
          </a:p>
        </p:txBody>
      </p:sp>
      <p:sp>
        <p:nvSpPr>
          <p:cNvPr id="31" name="Text 29"/>
          <p:cNvSpPr/>
          <p:nvPr/>
        </p:nvSpPr>
        <p:spPr>
          <a:xfrm>
            <a:off x="8412480" y="3511296"/>
            <a:ext cx="1234440" cy="274320"/>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MEDIUM</a:t>
            </a:r>
            <a:endParaRPr lang="en-US" sz="1050" dirty="0"/>
          </a:p>
        </p:txBody>
      </p:sp>
      <p:sp>
        <p:nvSpPr>
          <p:cNvPr id="37" name="Text 35"/>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Part 3 · Beyond the defaults</a:t>
            </a:r>
            <a:endParaRPr lang="en-US" sz="950" dirty="0"/>
          </a:p>
        </p:txBody>
      </p:sp>
      <p:sp>
        <p:nvSpPr>
          <p:cNvPr id="38" name="Text 36"/>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24</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0F1721"/>
        </a:solidFill>
        <a:effectLst/>
      </p:bgPr>
    </p:bg>
    <p:spTree>
      <p:nvGrpSpPr>
        <p:cNvPr id="1" name=""/>
        <p:cNvGrpSpPr/>
        <p:nvPr/>
      </p:nvGrpSpPr>
      <p:grpSpPr>
        <a:xfrm>
          <a:off x="0" y="0"/>
          <a:ext cx="0" cy="0"/>
          <a:chOff x="0" y="0"/>
          <a:chExt cx="0" cy="0"/>
        </a:xfrm>
      </p:grpSpPr>
      <p:sp>
        <p:nvSpPr>
          <p:cNvPr id="2" name="Text 0"/>
          <p:cNvSpPr/>
          <p:nvPr/>
        </p:nvSpPr>
        <p:spPr>
          <a:xfrm>
            <a:off x="566928" y="1417320"/>
            <a:ext cx="7315200"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Questions</a:t>
            </a:r>
            <a:endParaRPr lang="en-US" sz="4800" dirty="0"/>
          </a:p>
        </p:txBody>
      </p:sp>
      <p:sp>
        <p:nvSpPr>
          <p:cNvPr id="3" name="Text 1"/>
          <p:cNvSpPr/>
          <p:nvPr/>
        </p:nvSpPr>
        <p:spPr>
          <a:xfrm>
            <a:off x="566928" y="2395728"/>
            <a:ext cx="6949440" cy="731520"/>
          </a:xfrm>
          <a:prstGeom prst="rect">
            <a:avLst/>
          </a:prstGeom>
          <a:noFill/>
          <a:ln/>
        </p:spPr>
        <p:txBody>
          <a:bodyPr wrap="square" lIns="0" tIns="0" rIns="0" bIns="0" rtlCol="0" anchor="ctr"/>
          <a:lstStyle/>
          <a:p>
            <a:pPr marL="0" indent="0">
              <a:lnSpc>
                <a:spcPct val="120000"/>
              </a:lnSpc>
              <a:buNone/>
            </a:pPr>
            <a:r>
              <a:rPr lang="en-US" sz="1500" dirty="0">
                <a:solidFill>
                  <a:srgbClr val="A8B8C6"/>
                </a:solidFill>
                <a:latin typeface="Calibri" pitchFamily="34" charset="0"/>
                <a:ea typeface="Calibri" pitchFamily="34" charset="-122"/>
                <a:cs typeface="Calibri" pitchFamily="34" charset="-120"/>
              </a:rPr>
              <a:t>Fifteen minutes. Everything after this slide is appendix — troubleshooting, the full glossary and references — so ask for a slide by name.</a:t>
            </a:r>
            <a:endParaRPr lang="en-US" sz="1500" dirty="0"/>
          </a:p>
        </p:txBody>
      </p:sp>
      <p:sp>
        <p:nvSpPr>
          <p:cNvPr id="4" name="Shape 2"/>
          <p:cNvSpPr/>
          <p:nvPr/>
        </p:nvSpPr>
        <p:spPr>
          <a:xfrm>
            <a:off x="566928" y="3401568"/>
            <a:ext cx="3502152" cy="932688"/>
          </a:xfrm>
          <a:prstGeom prst="roundRect">
            <a:avLst>
              <a:gd name="adj" fmla="val 5882"/>
            </a:avLst>
          </a:prstGeom>
          <a:solidFill>
            <a:srgbClr val="1B2735"/>
          </a:solidFill>
          <a:ln w="6350">
            <a:solidFill>
              <a:srgbClr val="1B2735"/>
            </a:solidFill>
            <a:prstDash val="solid"/>
          </a:ln>
        </p:spPr>
        <p:txBody>
          <a:bodyPr/>
          <a:lstStyle/>
          <a:p>
            <a:endParaRPr lang="en-US"/>
          </a:p>
        </p:txBody>
      </p:sp>
      <p:sp>
        <p:nvSpPr>
          <p:cNvPr id="5" name="Text 3"/>
          <p:cNvSpPr/>
          <p:nvPr/>
        </p:nvSpPr>
        <p:spPr>
          <a:xfrm>
            <a:off x="804672" y="3547872"/>
            <a:ext cx="3026664" cy="274320"/>
          </a:xfrm>
          <a:prstGeom prst="rect">
            <a:avLst/>
          </a:prstGeom>
          <a:noFill/>
          <a:ln/>
        </p:spPr>
        <p:txBody>
          <a:bodyPr wrap="square" lIns="0" tIns="0" rIns="0" bIns="0" rtlCol="0" anchor="t"/>
          <a:lstStyle/>
          <a:p>
            <a:pPr marL="0" indent="0" algn="l">
              <a:lnSpc>
                <a:spcPct val="106000"/>
              </a:lnSpc>
              <a:buNone/>
            </a:pPr>
            <a:r>
              <a:rPr lang="en-US" sz="1250" b="1" dirty="0">
                <a:solidFill>
                  <a:srgbClr val="E8A033"/>
                </a:solidFill>
                <a:latin typeface="Calibri" pitchFamily="34" charset="0"/>
                <a:ea typeface="Calibri" pitchFamily="34" charset="-122"/>
                <a:cs typeface="Calibri" pitchFamily="34" charset="-120"/>
              </a:rPr>
              <a:t>Why did our payloads get bigger?</a:t>
            </a:r>
            <a:endParaRPr lang="en-US" sz="1250" dirty="0"/>
          </a:p>
        </p:txBody>
      </p:sp>
      <p:sp>
        <p:nvSpPr>
          <p:cNvPr id="6" name="Text 4"/>
          <p:cNvSpPr/>
          <p:nvPr/>
        </p:nvSpPr>
        <p:spPr>
          <a:xfrm>
            <a:off x="804672" y="3840480"/>
            <a:ext cx="3026664" cy="420624"/>
          </a:xfrm>
          <a:prstGeom prst="rect">
            <a:avLst/>
          </a:prstGeom>
          <a:noFill/>
          <a:ln/>
        </p:spPr>
        <p:txBody>
          <a:bodyPr wrap="square" lIns="0" tIns="0" rIns="0" bIns="0" rtlCol="0" anchor="t"/>
          <a:lstStyle/>
          <a:p>
            <a:pPr marL="0" indent="0" algn="l">
              <a:lnSpc>
                <a:spcPct val="110000"/>
              </a:lnSpc>
              <a:buNone/>
            </a:pPr>
            <a:r>
              <a:rPr lang="en-US" sz="1150" dirty="0">
                <a:solidFill>
                  <a:srgbClr val="A8B8C6"/>
                </a:solidFill>
                <a:latin typeface="Calibri" pitchFamily="34" charset="0"/>
                <a:ea typeface="Calibri" pitchFamily="34" charset="-122"/>
                <a:cs typeface="Calibri" pitchFamily="34" charset="-120"/>
              </a:rPr>
              <a:t>base64 plus 48 bytes of envelope — about a third more.</a:t>
            </a:r>
            <a:endParaRPr lang="en-US" sz="1150" dirty="0"/>
          </a:p>
        </p:txBody>
      </p:sp>
      <p:sp>
        <p:nvSpPr>
          <p:cNvPr id="7" name="Shape 5"/>
          <p:cNvSpPr/>
          <p:nvPr/>
        </p:nvSpPr>
        <p:spPr>
          <a:xfrm>
            <a:off x="4361688" y="3401568"/>
            <a:ext cx="3502152" cy="932688"/>
          </a:xfrm>
          <a:prstGeom prst="roundRect">
            <a:avLst>
              <a:gd name="adj" fmla="val 5882"/>
            </a:avLst>
          </a:prstGeom>
          <a:solidFill>
            <a:srgbClr val="1B2735"/>
          </a:solidFill>
          <a:ln w="6350">
            <a:solidFill>
              <a:srgbClr val="1B2735"/>
            </a:solidFill>
            <a:prstDash val="solid"/>
          </a:ln>
        </p:spPr>
        <p:txBody>
          <a:bodyPr/>
          <a:lstStyle/>
          <a:p>
            <a:endParaRPr lang="en-US"/>
          </a:p>
        </p:txBody>
      </p:sp>
      <p:sp>
        <p:nvSpPr>
          <p:cNvPr id="8" name="Text 6"/>
          <p:cNvSpPr/>
          <p:nvPr/>
        </p:nvSpPr>
        <p:spPr>
          <a:xfrm>
            <a:off x="4599432" y="3547872"/>
            <a:ext cx="3026664" cy="274320"/>
          </a:xfrm>
          <a:prstGeom prst="rect">
            <a:avLst/>
          </a:prstGeom>
          <a:noFill/>
          <a:ln/>
        </p:spPr>
        <p:txBody>
          <a:bodyPr wrap="square" lIns="0" tIns="0" rIns="0" bIns="0" rtlCol="0" anchor="t"/>
          <a:lstStyle/>
          <a:p>
            <a:pPr marL="0" indent="0" algn="l">
              <a:lnSpc>
                <a:spcPct val="106000"/>
              </a:lnSpc>
              <a:buNone/>
            </a:pPr>
            <a:r>
              <a:rPr lang="en-US" sz="1250" b="1" dirty="0">
                <a:solidFill>
                  <a:srgbClr val="E8A033"/>
                </a:solidFill>
                <a:latin typeface="Calibri" pitchFamily="34" charset="0"/>
                <a:ea typeface="Calibri" pitchFamily="34" charset="-122"/>
                <a:cs typeface="Calibri" pitchFamily="34" charset="-120"/>
              </a:rPr>
              <a:t>Do we still need HTTPS?</a:t>
            </a:r>
            <a:endParaRPr lang="en-US" sz="1250" dirty="0"/>
          </a:p>
        </p:txBody>
      </p:sp>
      <p:sp>
        <p:nvSpPr>
          <p:cNvPr id="9" name="Text 7"/>
          <p:cNvSpPr/>
          <p:nvPr/>
        </p:nvSpPr>
        <p:spPr>
          <a:xfrm>
            <a:off x="4599432" y="3840480"/>
            <a:ext cx="3026664" cy="420624"/>
          </a:xfrm>
          <a:prstGeom prst="rect">
            <a:avLst/>
          </a:prstGeom>
          <a:noFill/>
          <a:ln/>
        </p:spPr>
        <p:txBody>
          <a:bodyPr wrap="square" lIns="0" tIns="0" rIns="0" bIns="0" rtlCol="0" anchor="t"/>
          <a:lstStyle/>
          <a:p>
            <a:pPr marL="0" indent="0" algn="l">
              <a:lnSpc>
                <a:spcPct val="110000"/>
              </a:lnSpc>
              <a:buNone/>
            </a:pPr>
            <a:r>
              <a:rPr lang="en-US" sz="1150" dirty="0">
                <a:solidFill>
                  <a:srgbClr val="A8B8C6"/>
                </a:solidFill>
                <a:latin typeface="Calibri" pitchFamily="34" charset="0"/>
                <a:ea typeface="Calibri" pitchFamily="34" charset="-122"/>
                <a:cs typeface="Calibri" pitchFamily="34" charset="-120"/>
              </a:rPr>
              <a:t>Yes. This protects the payload; TLS protects the connection.</a:t>
            </a:r>
            <a:endParaRPr lang="en-US" sz="1150" dirty="0"/>
          </a:p>
        </p:txBody>
      </p:sp>
      <p:sp>
        <p:nvSpPr>
          <p:cNvPr id="10" name="Shape 8"/>
          <p:cNvSpPr/>
          <p:nvPr/>
        </p:nvSpPr>
        <p:spPr>
          <a:xfrm>
            <a:off x="8156448" y="3401568"/>
            <a:ext cx="3502152" cy="932688"/>
          </a:xfrm>
          <a:prstGeom prst="roundRect">
            <a:avLst>
              <a:gd name="adj" fmla="val 5882"/>
            </a:avLst>
          </a:prstGeom>
          <a:solidFill>
            <a:srgbClr val="1B2735"/>
          </a:solidFill>
          <a:ln w="6350">
            <a:solidFill>
              <a:srgbClr val="1B2735"/>
            </a:solidFill>
            <a:prstDash val="solid"/>
          </a:ln>
        </p:spPr>
        <p:txBody>
          <a:bodyPr/>
          <a:lstStyle/>
          <a:p>
            <a:endParaRPr lang="en-US"/>
          </a:p>
        </p:txBody>
      </p:sp>
      <p:sp>
        <p:nvSpPr>
          <p:cNvPr id="11" name="Text 9"/>
          <p:cNvSpPr/>
          <p:nvPr/>
        </p:nvSpPr>
        <p:spPr>
          <a:xfrm>
            <a:off x="8394192" y="3547872"/>
            <a:ext cx="3026664" cy="274320"/>
          </a:xfrm>
          <a:prstGeom prst="rect">
            <a:avLst/>
          </a:prstGeom>
          <a:noFill/>
          <a:ln/>
        </p:spPr>
        <p:txBody>
          <a:bodyPr wrap="square" lIns="0" tIns="0" rIns="0" bIns="0" rtlCol="0" anchor="t"/>
          <a:lstStyle/>
          <a:p>
            <a:pPr marL="0" indent="0" algn="l">
              <a:lnSpc>
                <a:spcPct val="106000"/>
              </a:lnSpc>
              <a:buNone/>
            </a:pPr>
            <a:r>
              <a:rPr lang="en-US" sz="1250" b="1" dirty="0">
                <a:solidFill>
                  <a:srgbClr val="E8A033"/>
                </a:solidFill>
                <a:latin typeface="Calibri" pitchFamily="34" charset="0"/>
                <a:ea typeface="Calibri" pitchFamily="34" charset="-122"/>
                <a:cs typeface="Calibri" pitchFamily="34" charset="-120"/>
              </a:rPr>
              <a:t>What if the vault is unreachable?</a:t>
            </a:r>
            <a:endParaRPr lang="en-US" sz="1250" dirty="0"/>
          </a:p>
        </p:txBody>
      </p:sp>
      <p:sp>
        <p:nvSpPr>
          <p:cNvPr id="12" name="Text 10"/>
          <p:cNvSpPr/>
          <p:nvPr/>
        </p:nvSpPr>
        <p:spPr>
          <a:xfrm>
            <a:off x="8394192" y="3840480"/>
            <a:ext cx="3026664" cy="420624"/>
          </a:xfrm>
          <a:prstGeom prst="rect">
            <a:avLst/>
          </a:prstGeom>
          <a:noFill/>
          <a:ln/>
        </p:spPr>
        <p:txBody>
          <a:bodyPr wrap="square" lIns="0" tIns="0" rIns="0" bIns="0" rtlCol="0" anchor="t"/>
          <a:lstStyle/>
          <a:p>
            <a:pPr marL="0" indent="0" algn="l">
              <a:lnSpc>
                <a:spcPct val="110000"/>
              </a:lnSpc>
              <a:buNone/>
            </a:pPr>
            <a:r>
              <a:rPr lang="en-US" sz="1150" dirty="0">
                <a:solidFill>
                  <a:srgbClr val="A8B8C6"/>
                </a:solidFill>
                <a:latin typeface="Calibri" pitchFamily="34" charset="0"/>
                <a:ea typeface="Calibri" pitchFamily="34" charset="-122"/>
                <a:cs typeface="Calibri" pitchFamily="34" charset="-120"/>
              </a:rPr>
              <a:t>Fail closed and alert. Never fall back to a hard-coded key.</a:t>
            </a:r>
            <a:endParaRPr lang="en-US" sz="1150" dirty="0"/>
          </a:p>
        </p:txBody>
      </p:sp>
      <p:sp>
        <p:nvSpPr>
          <p:cNvPr id="13" name="Shape 11"/>
          <p:cNvSpPr/>
          <p:nvPr/>
        </p:nvSpPr>
        <p:spPr>
          <a:xfrm>
            <a:off x="566928" y="4535424"/>
            <a:ext cx="3502152" cy="932688"/>
          </a:xfrm>
          <a:prstGeom prst="roundRect">
            <a:avLst>
              <a:gd name="adj" fmla="val 5882"/>
            </a:avLst>
          </a:prstGeom>
          <a:solidFill>
            <a:srgbClr val="1B2735"/>
          </a:solidFill>
          <a:ln w="6350">
            <a:solidFill>
              <a:srgbClr val="1B2735"/>
            </a:solidFill>
            <a:prstDash val="solid"/>
          </a:ln>
        </p:spPr>
        <p:txBody>
          <a:bodyPr/>
          <a:lstStyle/>
          <a:p>
            <a:endParaRPr lang="en-US"/>
          </a:p>
        </p:txBody>
      </p:sp>
      <p:sp>
        <p:nvSpPr>
          <p:cNvPr id="14" name="Text 12"/>
          <p:cNvSpPr/>
          <p:nvPr/>
        </p:nvSpPr>
        <p:spPr>
          <a:xfrm>
            <a:off x="804672" y="4681728"/>
            <a:ext cx="3026664" cy="274320"/>
          </a:xfrm>
          <a:prstGeom prst="rect">
            <a:avLst/>
          </a:prstGeom>
          <a:noFill/>
          <a:ln/>
        </p:spPr>
        <p:txBody>
          <a:bodyPr wrap="square" lIns="0" tIns="0" rIns="0" bIns="0" rtlCol="0" anchor="t"/>
          <a:lstStyle/>
          <a:p>
            <a:pPr marL="0" indent="0" algn="l">
              <a:lnSpc>
                <a:spcPct val="106000"/>
              </a:lnSpc>
              <a:buNone/>
            </a:pPr>
            <a:r>
              <a:rPr lang="en-US" sz="1250" b="1" dirty="0">
                <a:solidFill>
                  <a:srgbClr val="E8A033"/>
                </a:solidFill>
                <a:latin typeface="Calibri" pitchFamily="34" charset="0"/>
                <a:ea typeface="Calibri" pitchFamily="34" charset="-122"/>
                <a:cs typeface="Calibri" pitchFamily="34" charset="-120"/>
              </a:rPr>
              <a:t>Can I decrypt the same blob twice?</a:t>
            </a:r>
            <a:endParaRPr lang="en-US" sz="1250" dirty="0"/>
          </a:p>
        </p:txBody>
      </p:sp>
      <p:sp>
        <p:nvSpPr>
          <p:cNvPr id="15" name="Text 13"/>
          <p:cNvSpPr/>
          <p:nvPr/>
        </p:nvSpPr>
        <p:spPr>
          <a:xfrm>
            <a:off x="804672" y="4974336"/>
            <a:ext cx="3026664" cy="420624"/>
          </a:xfrm>
          <a:prstGeom prst="rect">
            <a:avLst/>
          </a:prstGeom>
          <a:noFill/>
          <a:ln/>
        </p:spPr>
        <p:txBody>
          <a:bodyPr wrap="square" lIns="0" tIns="0" rIns="0" bIns="0" rtlCol="0" anchor="t"/>
          <a:lstStyle/>
          <a:p>
            <a:pPr marL="0" indent="0" algn="l">
              <a:lnSpc>
                <a:spcPct val="110000"/>
              </a:lnSpc>
              <a:buNone/>
            </a:pPr>
            <a:r>
              <a:rPr lang="en-US" sz="1150" dirty="0">
                <a:solidFill>
                  <a:srgbClr val="A8B8C6"/>
                </a:solidFill>
                <a:latin typeface="Calibri" pitchFamily="34" charset="0"/>
                <a:ea typeface="Calibri" pitchFamily="34" charset="-122"/>
                <a:cs typeface="Calibri" pitchFamily="34" charset="-120"/>
              </a:rPr>
              <a:t>Yes — decryption is stateless and repeatable.</a:t>
            </a:r>
            <a:endParaRPr lang="en-US" sz="1150" dirty="0"/>
          </a:p>
        </p:txBody>
      </p:sp>
      <p:sp>
        <p:nvSpPr>
          <p:cNvPr id="16" name="Shape 14"/>
          <p:cNvSpPr/>
          <p:nvPr/>
        </p:nvSpPr>
        <p:spPr>
          <a:xfrm>
            <a:off x="4361688" y="4535424"/>
            <a:ext cx="3502152" cy="932688"/>
          </a:xfrm>
          <a:prstGeom prst="roundRect">
            <a:avLst>
              <a:gd name="adj" fmla="val 5882"/>
            </a:avLst>
          </a:prstGeom>
          <a:solidFill>
            <a:srgbClr val="1B2735"/>
          </a:solidFill>
          <a:ln w="6350">
            <a:solidFill>
              <a:srgbClr val="1B2735"/>
            </a:solidFill>
            <a:prstDash val="solid"/>
          </a:ln>
        </p:spPr>
        <p:txBody>
          <a:bodyPr/>
          <a:lstStyle/>
          <a:p>
            <a:endParaRPr lang="en-US"/>
          </a:p>
        </p:txBody>
      </p:sp>
      <p:sp>
        <p:nvSpPr>
          <p:cNvPr id="17" name="Text 15"/>
          <p:cNvSpPr/>
          <p:nvPr/>
        </p:nvSpPr>
        <p:spPr>
          <a:xfrm>
            <a:off x="4599432" y="4681728"/>
            <a:ext cx="3026664" cy="274320"/>
          </a:xfrm>
          <a:prstGeom prst="rect">
            <a:avLst/>
          </a:prstGeom>
          <a:noFill/>
          <a:ln/>
        </p:spPr>
        <p:txBody>
          <a:bodyPr wrap="square" lIns="0" tIns="0" rIns="0" bIns="0" rtlCol="0" anchor="t"/>
          <a:lstStyle/>
          <a:p>
            <a:pPr marL="0" indent="0" algn="l">
              <a:lnSpc>
                <a:spcPct val="106000"/>
              </a:lnSpc>
              <a:buNone/>
            </a:pPr>
            <a:r>
              <a:rPr lang="en-US" sz="1250" b="1" dirty="0">
                <a:solidFill>
                  <a:srgbClr val="E8A033"/>
                </a:solidFill>
                <a:latin typeface="Calibri" pitchFamily="34" charset="0"/>
                <a:ea typeface="Calibri" pitchFamily="34" charset="-122"/>
                <a:cs typeface="Calibri" pitchFamily="34" charset="-120"/>
              </a:rPr>
              <a:t>Is this slower than CBC?</a:t>
            </a:r>
            <a:endParaRPr lang="en-US" sz="1250" dirty="0"/>
          </a:p>
        </p:txBody>
      </p:sp>
      <p:sp>
        <p:nvSpPr>
          <p:cNvPr id="18" name="Text 16"/>
          <p:cNvSpPr/>
          <p:nvPr/>
        </p:nvSpPr>
        <p:spPr>
          <a:xfrm>
            <a:off x="4599432" y="4974336"/>
            <a:ext cx="3026664" cy="420624"/>
          </a:xfrm>
          <a:prstGeom prst="rect">
            <a:avLst/>
          </a:prstGeom>
          <a:noFill/>
          <a:ln/>
        </p:spPr>
        <p:txBody>
          <a:bodyPr wrap="square" lIns="0" tIns="0" rIns="0" bIns="0" rtlCol="0" anchor="t"/>
          <a:lstStyle/>
          <a:p>
            <a:pPr marL="0" indent="0" algn="l">
              <a:lnSpc>
                <a:spcPct val="110000"/>
              </a:lnSpc>
              <a:buNone/>
            </a:pPr>
            <a:r>
              <a:rPr lang="en-US" sz="1150" dirty="0">
                <a:solidFill>
                  <a:srgbClr val="A8B8C6"/>
                </a:solidFill>
                <a:latin typeface="Calibri" pitchFamily="34" charset="0"/>
                <a:ea typeface="Calibri" pitchFamily="34" charset="-122"/>
                <a:cs typeface="Calibri" pitchFamily="34" charset="-120"/>
              </a:rPr>
              <a:t>Usually faster. One pass, and the CPU has instructions for it.</a:t>
            </a:r>
            <a:endParaRPr lang="en-US" sz="1150" dirty="0"/>
          </a:p>
        </p:txBody>
      </p:sp>
      <p:sp>
        <p:nvSpPr>
          <p:cNvPr id="19" name="Shape 17"/>
          <p:cNvSpPr/>
          <p:nvPr/>
        </p:nvSpPr>
        <p:spPr>
          <a:xfrm>
            <a:off x="8156448" y="4535424"/>
            <a:ext cx="3502152" cy="932688"/>
          </a:xfrm>
          <a:prstGeom prst="roundRect">
            <a:avLst>
              <a:gd name="adj" fmla="val 5882"/>
            </a:avLst>
          </a:prstGeom>
          <a:solidFill>
            <a:srgbClr val="1B2735"/>
          </a:solidFill>
          <a:ln w="6350">
            <a:solidFill>
              <a:srgbClr val="1B2735"/>
            </a:solidFill>
            <a:prstDash val="solid"/>
          </a:ln>
        </p:spPr>
        <p:txBody>
          <a:bodyPr/>
          <a:lstStyle/>
          <a:p>
            <a:endParaRPr lang="en-US"/>
          </a:p>
        </p:txBody>
      </p:sp>
      <p:sp>
        <p:nvSpPr>
          <p:cNvPr id="20" name="Text 18"/>
          <p:cNvSpPr/>
          <p:nvPr/>
        </p:nvSpPr>
        <p:spPr>
          <a:xfrm>
            <a:off x="8394192" y="4681728"/>
            <a:ext cx="3026664" cy="274320"/>
          </a:xfrm>
          <a:prstGeom prst="rect">
            <a:avLst/>
          </a:prstGeom>
          <a:noFill/>
          <a:ln/>
        </p:spPr>
        <p:txBody>
          <a:bodyPr wrap="square" lIns="0" tIns="0" rIns="0" bIns="0" rtlCol="0" anchor="t"/>
          <a:lstStyle/>
          <a:p>
            <a:pPr marL="0" indent="0" algn="l">
              <a:lnSpc>
                <a:spcPct val="106000"/>
              </a:lnSpc>
              <a:buNone/>
            </a:pPr>
            <a:r>
              <a:rPr lang="en-US" sz="1250" b="1" dirty="0">
                <a:solidFill>
                  <a:srgbClr val="E8A033"/>
                </a:solidFill>
                <a:latin typeface="Calibri" pitchFamily="34" charset="0"/>
                <a:ea typeface="Calibri" pitchFamily="34" charset="-122"/>
                <a:cs typeface="Calibri" pitchFamily="34" charset="-120"/>
              </a:rPr>
              <a:t>What breaks if I get it wrong?</a:t>
            </a:r>
            <a:endParaRPr lang="en-US" sz="1250" dirty="0"/>
          </a:p>
        </p:txBody>
      </p:sp>
      <p:sp>
        <p:nvSpPr>
          <p:cNvPr id="21" name="Text 19"/>
          <p:cNvSpPr/>
          <p:nvPr/>
        </p:nvSpPr>
        <p:spPr>
          <a:xfrm>
            <a:off x="8394192" y="4974336"/>
            <a:ext cx="3026664" cy="420624"/>
          </a:xfrm>
          <a:prstGeom prst="rect">
            <a:avLst/>
          </a:prstGeom>
          <a:noFill/>
          <a:ln/>
        </p:spPr>
        <p:txBody>
          <a:bodyPr wrap="square" lIns="0" tIns="0" rIns="0" bIns="0" rtlCol="0" anchor="t"/>
          <a:lstStyle/>
          <a:p>
            <a:pPr marL="0" indent="0" algn="l">
              <a:lnSpc>
                <a:spcPct val="110000"/>
              </a:lnSpc>
              <a:buNone/>
            </a:pPr>
            <a:r>
              <a:rPr lang="en-US" sz="1150" dirty="0">
                <a:solidFill>
                  <a:srgbClr val="A8B8C6"/>
                </a:solidFill>
                <a:latin typeface="Calibri" pitchFamily="34" charset="0"/>
                <a:ea typeface="Calibri" pitchFamily="34" charset="-122"/>
                <a:cs typeface="Calibri" pitchFamily="34" charset="-120"/>
              </a:rPr>
              <a:t>Everything fails loudly. That is the design.</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APPENDIX A</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When it breaks: symptom, cause, fix</a:t>
            </a:r>
            <a:endParaRPr lang="en-US" sz="3100" dirty="0"/>
          </a:p>
        </p:txBody>
      </p:sp>
      <p:sp>
        <p:nvSpPr>
          <p:cNvPr id="4" name="Shape 2"/>
          <p:cNvSpPr/>
          <p:nvPr/>
        </p:nvSpPr>
        <p:spPr>
          <a:xfrm>
            <a:off x="566928" y="1243584"/>
            <a:ext cx="11057839" cy="4645152"/>
          </a:xfrm>
          <a:prstGeom prst="roundRect">
            <a:avLst>
              <a:gd name="adj" fmla="val 1181"/>
            </a:avLst>
          </a:prstGeom>
          <a:solidFill>
            <a:srgbClr val="F1F5F9"/>
          </a:solidFill>
          <a:ln w="6350">
            <a:solidFill>
              <a:srgbClr val="F1F5F9"/>
            </a:solidFill>
            <a:prstDash val="solid"/>
          </a:ln>
        </p:spPr>
        <p:txBody>
          <a:bodyPr/>
          <a:lstStyle/>
          <a:p>
            <a:endParaRPr lang="en-US"/>
          </a:p>
        </p:txBody>
      </p:sp>
      <p:sp>
        <p:nvSpPr>
          <p:cNvPr id="5" name="Text 3"/>
          <p:cNvSpPr/>
          <p:nvPr/>
        </p:nvSpPr>
        <p:spPr>
          <a:xfrm>
            <a:off x="4224528" y="1353312"/>
            <a:ext cx="4023360" cy="237744"/>
          </a:xfrm>
          <a:prstGeom prst="rect">
            <a:avLst/>
          </a:prstGeom>
          <a:noFill/>
          <a:ln/>
        </p:spPr>
        <p:txBody>
          <a:bodyPr wrap="square" lIns="0" tIns="0" rIns="0" bIns="0" rtlCol="0" anchor="t"/>
          <a:lstStyle/>
          <a:p>
            <a:pPr marL="0" indent="0" algn="l">
              <a:lnSpc>
                <a:spcPct val="106000"/>
              </a:lnSpc>
              <a:buNone/>
            </a:pPr>
            <a:r>
              <a:rPr lang="en-US" sz="1100" b="1" dirty="0">
                <a:solidFill>
                  <a:srgbClr val="7A8894"/>
                </a:solidFill>
                <a:latin typeface="Calibri" pitchFamily="34" charset="0"/>
                <a:ea typeface="Calibri" pitchFamily="34" charset="-122"/>
                <a:cs typeface="Calibri" pitchFamily="34" charset="-120"/>
              </a:rPr>
              <a:t>Likely cause</a:t>
            </a:r>
            <a:endParaRPr lang="en-US" sz="1100" dirty="0"/>
          </a:p>
        </p:txBody>
      </p:sp>
      <p:sp>
        <p:nvSpPr>
          <p:cNvPr id="6" name="Text 4"/>
          <p:cNvSpPr/>
          <p:nvPr/>
        </p:nvSpPr>
        <p:spPr>
          <a:xfrm>
            <a:off x="8430768" y="1353312"/>
            <a:ext cx="3017520" cy="237744"/>
          </a:xfrm>
          <a:prstGeom prst="rect">
            <a:avLst/>
          </a:prstGeom>
          <a:noFill/>
          <a:ln/>
        </p:spPr>
        <p:txBody>
          <a:bodyPr wrap="square" lIns="0" tIns="0" rIns="0" bIns="0" rtlCol="0" anchor="t"/>
          <a:lstStyle/>
          <a:p>
            <a:pPr marL="0" indent="0" algn="l">
              <a:lnSpc>
                <a:spcPct val="106000"/>
              </a:lnSpc>
              <a:buNone/>
            </a:pPr>
            <a:r>
              <a:rPr lang="en-US" sz="1100" b="1" dirty="0">
                <a:solidFill>
                  <a:srgbClr val="7A8894"/>
                </a:solidFill>
                <a:latin typeface="Calibri" pitchFamily="34" charset="0"/>
                <a:ea typeface="Calibri" pitchFamily="34" charset="-122"/>
                <a:cs typeface="Calibri" pitchFamily="34" charset="-120"/>
              </a:rPr>
              <a:t>What to do</a:t>
            </a:r>
            <a:endParaRPr lang="en-US" sz="1100" dirty="0"/>
          </a:p>
        </p:txBody>
      </p:sp>
      <p:sp>
        <p:nvSpPr>
          <p:cNvPr id="7" name="Shape 5"/>
          <p:cNvSpPr/>
          <p:nvPr/>
        </p:nvSpPr>
        <p:spPr>
          <a:xfrm>
            <a:off x="658368" y="1572768"/>
            <a:ext cx="10874959" cy="640080"/>
          </a:xfrm>
          <a:prstGeom prst="rect">
            <a:avLst/>
          </a:prstGeom>
          <a:solidFill>
            <a:srgbClr val="FFFFFF"/>
          </a:solidFill>
          <a:ln w="6350">
            <a:solidFill>
              <a:srgbClr val="FFFFFF"/>
            </a:solidFill>
            <a:prstDash val="solid"/>
          </a:ln>
        </p:spPr>
        <p:txBody>
          <a:bodyPr/>
          <a:lstStyle/>
          <a:p>
            <a:endParaRPr lang="en-US"/>
          </a:p>
        </p:txBody>
      </p:sp>
      <p:sp>
        <p:nvSpPr>
          <p:cNvPr id="8" name="Text 6"/>
          <p:cNvSpPr/>
          <p:nvPr/>
        </p:nvSpPr>
        <p:spPr>
          <a:xfrm>
            <a:off x="841248" y="1700784"/>
            <a:ext cx="3291840" cy="457200"/>
          </a:xfrm>
          <a:prstGeom prst="rect">
            <a:avLst/>
          </a:prstGeom>
          <a:noFill/>
          <a:ln/>
        </p:spPr>
        <p:txBody>
          <a:bodyPr wrap="square" lIns="0" tIns="0" rIns="0" bIns="0" rtlCol="0" anchor="t"/>
          <a:lstStyle/>
          <a:p>
            <a:pPr marL="0" indent="0" algn="l">
              <a:lnSpc>
                <a:spcPct val="110000"/>
              </a:lnSpc>
              <a:buNone/>
            </a:pPr>
            <a:r>
              <a:rPr lang="en-US" sz="1150" dirty="0">
                <a:solidFill>
                  <a:srgbClr val="D0524E"/>
                </a:solidFill>
                <a:latin typeface="Courier New" pitchFamily="34" charset="0"/>
                <a:ea typeface="Courier New" pitchFamily="34" charset="-122"/>
                <a:cs typeface="Courier New" pitchFamily="34" charset="-120"/>
              </a:rPr>
              <a:t>message authentication failed</a:t>
            </a:r>
            <a:endParaRPr lang="en-US" sz="1150" dirty="0"/>
          </a:p>
        </p:txBody>
      </p:sp>
      <p:sp>
        <p:nvSpPr>
          <p:cNvPr id="9" name="Text 7"/>
          <p:cNvSpPr/>
          <p:nvPr/>
        </p:nvSpPr>
        <p:spPr>
          <a:xfrm>
            <a:off x="4224528" y="1700784"/>
            <a:ext cx="4114800" cy="512064"/>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Wrong key material, wrong parse offsets, truncated body — or genuine tampering</a:t>
            </a:r>
            <a:endParaRPr lang="en-US" sz="1150" dirty="0"/>
          </a:p>
        </p:txBody>
      </p:sp>
      <p:sp>
        <p:nvSpPr>
          <p:cNvPr id="10" name="Text 8"/>
          <p:cNvSpPr/>
          <p:nvPr/>
        </p:nvSpPr>
        <p:spPr>
          <a:xfrm>
            <a:off x="8430768" y="1700784"/>
            <a:ext cx="3017520" cy="512064"/>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Check key version first, then offsets, then length. Assume tampering last.</a:t>
            </a:r>
            <a:endParaRPr lang="en-US" sz="1150" dirty="0"/>
          </a:p>
        </p:txBody>
      </p:sp>
      <p:sp>
        <p:nvSpPr>
          <p:cNvPr id="11" name="Text 9"/>
          <p:cNvSpPr/>
          <p:nvPr/>
        </p:nvSpPr>
        <p:spPr>
          <a:xfrm>
            <a:off x="841248" y="2395728"/>
            <a:ext cx="3291840" cy="457200"/>
          </a:xfrm>
          <a:prstGeom prst="rect">
            <a:avLst/>
          </a:prstGeom>
          <a:noFill/>
          <a:ln/>
        </p:spPr>
        <p:txBody>
          <a:bodyPr wrap="square" lIns="0" tIns="0" rIns="0" bIns="0" rtlCol="0" anchor="t"/>
          <a:lstStyle/>
          <a:p>
            <a:pPr marL="0" indent="0" algn="l">
              <a:lnSpc>
                <a:spcPct val="110000"/>
              </a:lnSpc>
              <a:buNone/>
            </a:pPr>
            <a:r>
              <a:rPr lang="en-US" sz="1150" dirty="0">
                <a:solidFill>
                  <a:srgbClr val="D0524E"/>
                </a:solidFill>
                <a:latin typeface="Courier New" pitchFamily="34" charset="0"/>
                <a:ea typeface="Courier New" pitchFamily="34" charset="-122"/>
                <a:cs typeface="Courier New" pitchFamily="34" charset="-120"/>
              </a:rPr>
              <a:t>invalid header</a:t>
            </a:r>
            <a:endParaRPr lang="en-US" sz="1150" dirty="0"/>
          </a:p>
        </p:txBody>
      </p:sp>
      <p:sp>
        <p:nvSpPr>
          <p:cNvPr id="12" name="Text 10"/>
          <p:cNvSpPr/>
          <p:nvPr/>
        </p:nvSpPr>
        <p:spPr>
          <a:xfrm>
            <a:off x="4224528" y="2395728"/>
            <a:ext cx="4114800" cy="512064"/>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A legacy Salted__ payload, or the two-header-constants problem</a:t>
            </a:r>
            <a:endParaRPr lang="en-US" sz="1150" dirty="0"/>
          </a:p>
        </p:txBody>
      </p:sp>
      <p:sp>
        <p:nvSpPr>
          <p:cNvPr id="13" name="Text 11"/>
          <p:cNvSpPr/>
          <p:nvPr/>
        </p:nvSpPr>
        <p:spPr>
          <a:xfrm>
            <a:off x="8430768" y="2395728"/>
            <a:ext cx="3017520" cy="512064"/>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Confirm which constant this service was built against.</a:t>
            </a:r>
            <a:endParaRPr lang="en-US" sz="1150" dirty="0"/>
          </a:p>
        </p:txBody>
      </p:sp>
      <p:sp>
        <p:nvSpPr>
          <p:cNvPr id="14" name="Shape 12"/>
          <p:cNvSpPr/>
          <p:nvPr/>
        </p:nvSpPr>
        <p:spPr>
          <a:xfrm>
            <a:off x="658368" y="2962656"/>
            <a:ext cx="10874959" cy="640080"/>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841248" y="3090672"/>
            <a:ext cx="3291840" cy="457200"/>
          </a:xfrm>
          <a:prstGeom prst="rect">
            <a:avLst/>
          </a:prstGeom>
          <a:noFill/>
          <a:ln/>
        </p:spPr>
        <p:txBody>
          <a:bodyPr wrap="square" lIns="0" tIns="0" rIns="0" bIns="0" rtlCol="0" anchor="t"/>
          <a:lstStyle/>
          <a:p>
            <a:pPr marL="0" indent="0" algn="l">
              <a:lnSpc>
                <a:spcPct val="110000"/>
              </a:lnSpc>
              <a:buNone/>
            </a:pPr>
            <a:r>
              <a:rPr lang="en-US" sz="1150" dirty="0">
                <a:solidFill>
                  <a:srgbClr val="D0524E"/>
                </a:solidFill>
                <a:latin typeface="Courier New" pitchFamily="34" charset="0"/>
                <a:ea typeface="Courier New" pitchFamily="34" charset="-122"/>
                <a:cs typeface="Courier New" pitchFamily="34" charset="-120"/>
              </a:rPr>
              <a:t>index out of range / too short</a:t>
            </a:r>
            <a:endParaRPr lang="en-US" sz="1150" dirty="0"/>
          </a:p>
        </p:txBody>
      </p:sp>
      <p:sp>
        <p:nvSpPr>
          <p:cNvPr id="16" name="Text 14"/>
          <p:cNvSpPr/>
          <p:nvPr/>
        </p:nvSpPr>
        <p:spPr>
          <a:xfrm>
            <a:off x="4224528" y="3090672"/>
            <a:ext cx="4114800" cy="512064"/>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Payload under 48 bytes</a:t>
            </a:r>
            <a:endParaRPr lang="en-US" sz="1150" dirty="0"/>
          </a:p>
        </p:txBody>
      </p:sp>
      <p:sp>
        <p:nvSpPr>
          <p:cNvPr id="17" name="Text 15"/>
          <p:cNvSpPr/>
          <p:nvPr/>
        </p:nvSpPr>
        <p:spPr>
          <a:xfrm>
            <a:off x="8430768" y="3090672"/>
            <a:ext cx="3017520" cy="512064"/>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Length-check before parsing. Never index into an unvalidated buffer.</a:t>
            </a:r>
            <a:endParaRPr lang="en-US" sz="1150" dirty="0"/>
          </a:p>
        </p:txBody>
      </p:sp>
      <p:sp>
        <p:nvSpPr>
          <p:cNvPr id="18" name="Text 16"/>
          <p:cNvSpPr/>
          <p:nvPr/>
        </p:nvSpPr>
        <p:spPr>
          <a:xfrm>
            <a:off x="841248" y="3785616"/>
            <a:ext cx="3291840" cy="457200"/>
          </a:xfrm>
          <a:prstGeom prst="rect">
            <a:avLst/>
          </a:prstGeom>
          <a:noFill/>
          <a:ln/>
        </p:spPr>
        <p:txBody>
          <a:bodyPr wrap="square" lIns="0" tIns="0" rIns="0" bIns="0" rtlCol="0" anchor="t"/>
          <a:lstStyle/>
          <a:p>
            <a:pPr marL="0" indent="0" algn="l">
              <a:lnSpc>
                <a:spcPct val="110000"/>
              </a:lnSpc>
              <a:buNone/>
            </a:pPr>
            <a:r>
              <a:rPr lang="en-US" sz="1150" dirty="0">
                <a:solidFill>
                  <a:srgbClr val="D0524E"/>
                </a:solidFill>
                <a:latin typeface="Courier New" pitchFamily="34" charset="0"/>
                <a:ea typeface="Courier New" pitchFamily="34" charset="-122"/>
                <a:cs typeface="Courier New" pitchFamily="34" charset="-120"/>
              </a:rPr>
              <a:t>invalid base64</a:t>
            </a:r>
            <a:endParaRPr lang="en-US" sz="1150" dirty="0"/>
          </a:p>
        </p:txBody>
      </p:sp>
      <p:sp>
        <p:nvSpPr>
          <p:cNvPr id="19" name="Text 17"/>
          <p:cNvSpPr/>
          <p:nvPr/>
        </p:nvSpPr>
        <p:spPr>
          <a:xfrm>
            <a:off x="4224528" y="3785616"/>
            <a:ext cx="4114800" cy="512064"/>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URL-safe vs standard alphabet, or a proxy mangling + and /</a:t>
            </a:r>
            <a:endParaRPr lang="en-US" sz="1150" dirty="0"/>
          </a:p>
        </p:txBody>
      </p:sp>
      <p:sp>
        <p:nvSpPr>
          <p:cNvPr id="20" name="Text 18"/>
          <p:cNvSpPr/>
          <p:nvPr/>
        </p:nvSpPr>
        <p:spPr>
          <a:xfrm>
            <a:off x="8430768" y="3785616"/>
            <a:ext cx="3017520" cy="512064"/>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Use standard base64 everywhere and keep the padding.</a:t>
            </a:r>
            <a:endParaRPr lang="en-US" sz="1150" dirty="0"/>
          </a:p>
        </p:txBody>
      </p:sp>
      <p:sp>
        <p:nvSpPr>
          <p:cNvPr id="21" name="Shape 19"/>
          <p:cNvSpPr/>
          <p:nvPr/>
        </p:nvSpPr>
        <p:spPr>
          <a:xfrm>
            <a:off x="658368" y="4352544"/>
            <a:ext cx="10874959" cy="640080"/>
          </a:xfrm>
          <a:prstGeom prst="rect">
            <a:avLst/>
          </a:prstGeom>
          <a:solidFill>
            <a:srgbClr val="FFFFFF"/>
          </a:solidFill>
          <a:ln w="6350">
            <a:solidFill>
              <a:srgbClr val="FFFFFF"/>
            </a:solidFill>
            <a:prstDash val="solid"/>
          </a:ln>
        </p:spPr>
        <p:txBody>
          <a:bodyPr/>
          <a:lstStyle/>
          <a:p>
            <a:endParaRPr lang="en-US"/>
          </a:p>
        </p:txBody>
      </p:sp>
      <p:sp>
        <p:nvSpPr>
          <p:cNvPr id="22" name="Text 20"/>
          <p:cNvSpPr/>
          <p:nvPr/>
        </p:nvSpPr>
        <p:spPr>
          <a:xfrm>
            <a:off x="841248" y="4480560"/>
            <a:ext cx="3291840" cy="457200"/>
          </a:xfrm>
          <a:prstGeom prst="rect">
            <a:avLst/>
          </a:prstGeom>
          <a:noFill/>
          <a:ln/>
        </p:spPr>
        <p:txBody>
          <a:bodyPr wrap="square" lIns="0" tIns="0" rIns="0" bIns="0" rtlCol="0" anchor="t"/>
          <a:lstStyle/>
          <a:p>
            <a:pPr marL="0" indent="0" algn="l">
              <a:lnSpc>
                <a:spcPct val="110000"/>
              </a:lnSpc>
              <a:buNone/>
            </a:pPr>
            <a:r>
              <a:rPr lang="en-US" sz="1150" dirty="0">
                <a:solidFill>
                  <a:srgbClr val="D0524E"/>
                </a:solidFill>
                <a:latin typeface="Courier New" pitchFamily="34" charset="0"/>
                <a:ea typeface="Courier New" pitchFamily="34" charset="-122"/>
                <a:cs typeface="Courier New" pitchFamily="34" charset="-120"/>
              </a:rPr>
              <a:t>Works in Go, fails in Node</a:t>
            </a:r>
            <a:endParaRPr lang="en-US" sz="1150" dirty="0"/>
          </a:p>
        </p:txBody>
      </p:sp>
      <p:sp>
        <p:nvSpPr>
          <p:cNvPr id="23" name="Text 21"/>
          <p:cNvSpPr/>
          <p:nvPr/>
        </p:nvSpPr>
        <p:spPr>
          <a:xfrm>
            <a:off x="4224528" y="4480560"/>
            <a:ext cx="4114800" cy="512064"/>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Info string mismatch, SHA-384 vs SHA-256, or key material passed as a string instead of decoded bytes</a:t>
            </a:r>
            <a:endParaRPr lang="en-US" sz="1150" dirty="0"/>
          </a:p>
        </p:txBody>
      </p:sp>
      <p:sp>
        <p:nvSpPr>
          <p:cNvPr id="24" name="Text 22"/>
          <p:cNvSpPr/>
          <p:nvPr/>
        </p:nvSpPr>
        <p:spPr>
          <a:xfrm>
            <a:off x="8430768" y="4480560"/>
            <a:ext cx="3017520" cy="512064"/>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Run the shared test vector in both runtimes.</a:t>
            </a:r>
            <a:endParaRPr lang="en-US" sz="1150" dirty="0"/>
          </a:p>
        </p:txBody>
      </p:sp>
      <p:sp>
        <p:nvSpPr>
          <p:cNvPr id="25" name="Text 23"/>
          <p:cNvSpPr/>
          <p:nvPr/>
        </p:nvSpPr>
        <p:spPr>
          <a:xfrm>
            <a:off x="841248" y="5175504"/>
            <a:ext cx="3291840" cy="457200"/>
          </a:xfrm>
          <a:prstGeom prst="rect">
            <a:avLst/>
          </a:prstGeom>
          <a:noFill/>
          <a:ln/>
        </p:spPr>
        <p:txBody>
          <a:bodyPr wrap="square" lIns="0" tIns="0" rIns="0" bIns="0" rtlCol="0" anchor="t"/>
          <a:lstStyle/>
          <a:p>
            <a:pPr marL="0" indent="0" algn="l">
              <a:lnSpc>
                <a:spcPct val="110000"/>
              </a:lnSpc>
              <a:buNone/>
            </a:pPr>
            <a:r>
              <a:rPr lang="en-US" sz="1150" dirty="0">
                <a:solidFill>
                  <a:srgbClr val="D0524E"/>
                </a:solidFill>
                <a:latin typeface="Courier New" pitchFamily="34" charset="0"/>
                <a:ea typeface="Courier New" pitchFamily="34" charset="-122"/>
                <a:cs typeface="Courier New" pitchFamily="34" charset="-120"/>
              </a:rPr>
              <a:t>Intermittent failures only</a:t>
            </a:r>
            <a:endParaRPr lang="en-US" sz="1150" dirty="0"/>
          </a:p>
        </p:txBody>
      </p:sp>
      <p:sp>
        <p:nvSpPr>
          <p:cNvPr id="26" name="Text 24"/>
          <p:cNvSpPr/>
          <p:nvPr/>
        </p:nvSpPr>
        <p:spPr>
          <a:xfrm>
            <a:off x="4224528" y="5175504"/>
            <a:ext cx="4114800" cy="512064"/>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Two key versions live at once with no key ID to tell them apart</a:t>
            </a:r>
            <a:endParaRPr lang="en-US" sz="1150" dirty="0"/>
          </a:p>
        </p:txBody>
      </p:sp>
      <p:sp>
        <p:nvSpPr>
          <p:cNvPr id="27" name="Text 25"/>
          <p:cNvSpPr/>
          <p:nvPr/>
        </p:nvSpPr>
        <p:spPr>
          <a:xfrm>
            <a:off x="8430768" y="5175504"/>
            <a:ext cx="3017520" cy="512064"/>
          </a:xfrm>
          <a:prstGeom prst="rect">
            <a:avLst/>
          </a:prstGeom>
          <a:noFill/>
          <a:ln/>
        </p:spPr>
        <p:txBody>
          <a:bodyPr wrap="square" lIns="0" tIns="0" rIns="0" bIns="0" rtlCol="0" anchor="t"/>
          <a:lstStyle/>
          <a:p>
            <a:pPr marL="0" indent="0" algn="l">
              <a:lnSpc>
                <a:spcPct val="110000"/>
              </a:lnSpc>
              <a:buNone/>
            </a:pPr>
            <a:r>
              <a:rPr lang="en-US" sz="1150" dirty="0">
                <a:solidFill>
                  <a:srgbClr val="3D4C5A"/>
                </a:solidFill>
                <a:latin typeface="Calibri" pitchFamily="34" charset="0"/>
                <a:ea typeface="Calibri" pitchFamily="34" charset="-122"/>
                <a:cs typeface="Calibri" pitchFamily="34" charset="-120"/>
              </a:rPr>
              <a:t>This is exactly what the version byte prevents.</a:t>
            </a:r>
            <a:endParaRPr lang="en-US" sz="1150" dirty="0"/>
          </a:p>
        </p:txBody>
      </p:sp>
      <p:sp>
        <p:nvSpPr>
          <p:cNvPr id="28" name="Text 26"/>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Appendix</a:t>
            </a:r>
            <a:endParaRPr lang="en-US" sz="950" dirty="0"/>
          </a:p>
        </p:txBody>
      </p:sp>
      <p:sp>
        <p:nvSpPr>
          <p:cNvPr id="29" name="Text 27"/>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25</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APPENDIX B</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Every term, one line each</a:t>
            </a:r>
            <a:endParaRPr lang="en-US" sz="3100" dirty="0"/>
          </a:p>
        </p:txBody>
      </p:sp>
      <p:sp>
        <p:nvSpPr>
          <p:cNvPr id="4" name="Text 2"/>
          <p:cNvSpPr/>
          <p:nvPr/>
        </p:nvSpPr>
        <p:spPr>
          <a:xfrm>
            <a:off x="566928" y="15544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AEAD</a:t>
            </a:r>
            <a:endParaRPr lang="en-US" sz="1150" dirty="0"/>
          </a:p>
        </p:txBody>
      </p:sp>
      <p:sp>
        <p:nvSpPr>
          <p:cNvPr id="5" name="Text 3"/>
          <p:cNvSpPr/>
          <p:nvPr/>
        </p:nvSpPr>
        <p:spPr>
          <a:xfrm>
            <a:off x="1938528" y="15544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Authenticated Encryption with Associated Data — confidentiality and integrity in one primitive.</a:t>
            </a:r>
            <a:endParaRPr lang="en-US" sz="1050" dirty="0"/>
          </a:p>
        </p:txBody>
      </p:sp>
      <p:sp>
        <p:nvSpPr>
          <p:cNvPr id="6" name="Text 4"/>
          <p:cNvSpPr/>
          <p:nvPr/>
        </p:nvSpPr>
        <p:spPr>
          <a:xfrm>
            <a:off x="566928" y="20116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AES</a:t>
            </a:r>
            <a:endParaRPr lang="en-US" sz="1150" dirty="0"/>
          </a:p>
        </p:txBody>
      </p:sp>
      <p:sp>
        <p:nvSpPr>
          <p:cNvPr id="7" name="Text 5"/>
          <p:cNvSpPr/>
          <p:nvPr/>
        </p:nvSpPr>
        <p:spPr>
          <a:xfrm>
            <a:off x="1938528" y="20116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The block cipher itself. Standardised in FIPS 197, 2001.</a:t>
            </a:r>
            <a:endParaRPr lang="en-US" sz="1050" dirty="0"/>
          </a:p>
        </p:txBody>
      </p:sp>
      <p:sp>
        <p:nvSpPr>
          <p:cNvPr id="8" name="Text 6"/>
          <p:cNvSpPr/>
          <p:nvPr/>
        </p:nvSpPr>
        <p:spPr>
          <a:xfrm>
            <a:off x="566928" y="24688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AAD</a:t>
            </a:r>
            <a:endParaRPr lang="en-US" sz="1150" dirty="0"/>
          </a:p>
        </p:txBody>
      </p:sp>
      <p:sp>
        <p:nvSpPr>
          <p:cNvPr id="9" name="Text 7"/>
          <p:cNvSpPr/>
          <p:nvPr/>
        </p:nvSpPr>
        <p:spPr>
          <a:xfrm>
            <a:off x="1938528" y="24688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Data covered by the tag but left readable — endpoint, tenant, version.</a:t>
            </a:r>
            <a:endParaRPr lang="en-US" sz="1050" dirty="0"/>
          </a:p>
        </p:txBody>
      </p:sp>
      <p:sp>
        <p:nvSpPr>
          <p:cNvPr id="10" name="Text 8"/>
          <p:cNvSpPr/>
          <p:nvPr/>
        </p:nvSpPr>
        <p:spPr>
          <a:xfrm>
            <a:off x="566928" y="29260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Block cipher</a:t>
            </a:r>
            <a:endParaRPr lang="en-US" sz="1150" dirty="0"/>
          </a:p>
        </p:txBody>
      </p:sp>
      <p:sp>
        <p:nvSpPr>
          <p:cNvPr id="11" name="Text 9"/>
          <p:cNvSpPr/>
          <p:nvPr/>
        </p:nvSpPr>
        <p:spPr>
          <a:xfrm>
            <a:off x="1938528" y="29260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Encrypts fixed-size blocks. A mode of operation is what lets it handle real messages.</a:t>
            </a:r>
            <a:endParaRPr lang="en-US" sz="1050" dirty="0"/>
          </a:p>
        </p:txBody>
      </p:sp>
      <p:sp>
        <p:nvSpPr>
          <p:cNvPr id="12" name="Text 10"/>
          <p:cNvSpPr/>
          <p:nvPr/>
        </p:nvSpPr>
        <p:spPr>
          <a:xfrm>
            <a:off x="566928" y="33832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CBC</a:t>
            </a:r>
            <a:endParaRPr lang="en-US" sz="1150" dirty="0"/>
          </a:p>
        </p:txBody>
      </p:sp>
      <p:sp>
        <p:nvSpPr>
          <p:cNvPr id="13" name="Text 11"/>
          <p:cNvSpPr/>
          <p:nvPr/>
        </p:nvSpPr>
        <p:spPr>
          <a:xfrm>
            <a:off x="1938528" y="33832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Cipher Block Chaining. Confidentiality only. Being retired.</a:t>
            </a:r>
            <a:endParaRPr lang="en-US" sz="1050" dirty="0"/>
          </a:p>
        </p:txBody>
      </p:sp>
      <p:sp>
        <p:nvSpPr>
          <p:cNvPr id="14" name="Text 12"/>
          <p:cNvSpPr/>
          <p:nvPr/>
        </p:nvSpPr>
        <p:spPr>
          <a:xfrm>
            <a:off x="566928" y="38404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Ciphertext</a:t>
            </a:r>
            <a:endParaRPr lang="en-US" sz="1150" dirty="0"/>
          </a:p>
        </p:txBody>
      </p:sp>
      <p:sp>
        <p:nvSpPr>
          <p:cNvPr id="15" name="Text 13"/>
          <p:cNvSpPr/>
          <p:nvPr/>
        </p:nvSpPr>
        <p:spPr>
          <a:xfrm>
            <a:off x="1938528" y="38404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The scrambled payload. Same length as the plaintext.</a:t>
            </a:r>
            <a:endParaRPr lang="en-US" sz="1050" dirty="0"/>
          </a:p>
        </p:txBody>
      </p:sp>
      <p:sp>
        <p:nvSpPr>
          <p:cNvPr id="16" name="Text 14"/>
          <p:cNvSpPr/>
          <p:nvPr/>
        </p:nvSpPr>
        <p:spPr>
          <a:xfrm>
            <a:off x="566928" y="42976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CTR</a:t>
            </a:r>
            <a:endParaRPr lang="en-US" sz="1150" dirty="0"/>
          </a:p>
        </p:txBody>
      </p:sp>
      <p:sp>
        <p:nvSpPr>
          <p:cNvPr id="17" name="Text 15"/>
          <p:cNvSpPr/>
          <p:nvPr/>
        </p:nvSpPr>
        <p:spPr>
          <a:xfrm>
            <a:off x="1938528" y="42976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Counter mode. Turns a block cipher into a keystream generator. The encrypting half of GCM.</a:t>
            </a:r>
            <a:endParaRPr lang="en-US" sz="1050" dirty="0"/>
          </a:p>
        </p:txBody>
      </p:sp>
      <p:sp>
        <p:nvSpPr>
          <p:cNvPr id="18" name="Text 16"/>
          <p:cNvSpPr/>
          <p:nvPr/>
        </p:nvSpPr>
        <p:spPr>
          <a:xfrm>
            <a:off x="566928" y="47548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Entropy</a:t>
            </a:r>
            <a:endParaRPr lang="en-US" sz="1150" dirty="0"/>
          </a:p>
        </p:txBody>
      </p:sp>
      <p:sp>
        <p:nvSpPr>
          <p:cNvPr id="19" name="Text 17"/>
          <p:cNvSpPr/>
          <p:nvPr/>
        </p:nvSpPr>
        <p:spPr>
          <a:xfrm>
            <a:off x="1938528" y="47548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How unguessable a secret is. Decides which KDF you need.</a:t>
            </a:r>
            <a:endParaRPr lang="en-US" sz="1050" dirty="0"/>
          </a:p>
        </p:txBody>
      </p:sp>
      <p:sp>
        <p:nvSpPr>
          <p:cNvPr id="20" name="Text 18"/>
          <p:cNvSpPr/>
          <p:nvPr/>
        </p:nvSpPr>
        <p:spPr>
          <a:xfrm>
            <a:off x="566928" y="52120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GCM</a:t>
            </a:r>
            <a:endParaRPr lang="en-US" sz="1150" dirty="0"/>
          </a:p>
        </p:txBody>
      </p:sp>
      <p:sp>
        <p:nvSpPr>
          <p:cNvPr id="21" name="Text 19"/>
          <p:cNvSpPr/>
          <p:nvPr/>
        </p:nvSpPr>
        <p:spPr>
          <a:xfrm>
            <a:off x="1938528" y="52120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Galois/Counter Mode. CTR plus GHASH. NIST SP 800-38D.</a:t>
            </a:r>
            <a:endParaRPr lang="en-US" sz="1050" dirty="0"/>
          </a:p>
        </p:txBody>
      </p:sp>
      <p:sp>
        <p:nvSpPr>
          <p:cNvPr id="22" name="Text 20"/>
          <p:cNvSpPr/>
          <p:nvPr/>
        </p:nvSpPr>
        <p:spPr>
          <a:xfrm>
            <a:off x="566928" y="56692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GHASH</a:t>
            </a:r>
            <a:endParaRPr lang="en-US" sz="1150" dirty="0"/>
          </a:p>
        </p:txBody>
      </p:sp>
      <p:sp>
        <p:nvSpPr>
          <p:cNvPr id="23" name="Text 21"/>
          <p:cNvSpPr/>
          <p:nvPr/>
        </p:nvSpPr>
        <p:spPr>
          <a:xfrm>
            <a:off x="1938528" y="56692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The keyed hash that produces the authentication tag.</a:t>
            </a:r>
            <a:endParaRPr lang="en-US" sz="1050" dirty="0"/>
          </a:p>
        </p:txBody>
      </p:sp>
      <p:sp>
        <p:nvSpPr>
          <p:cNvPr id="24" name="Text 22"/>
          <p:cNvSpPr/>
          <p:nvPr/>
        </p:nvSpPr>
        <p:spPr>
          <a:xfrm>
            <a:off x="6217920" y="15544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HKDF</a:t>
            </a:r>
            <a:endParaRPr lang="en-US" sz="1150" dirty="0"/>
          </a:p>
        </p:txBody>
      </p:sp>
      <p:sp>
        <p:nvSpPr>
          <p:cNvPr id="25" name="Text 23"/>
          <p:cNvSpPr/>
          <p:nvPr/>
        </p:nvSpPr>
        <p:spPr>
          <a:xfrm>
            <a:off x="7589520" y="15544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Extract-and-expand key derivation, RFC 5869. For high-entropy input.</a:t>
            </a:r>
            <a:endParaRPr lang="en-US" sz="1050" dirty="0"/>
          </a:p>
        </p:txBody>
      </p:sp>
      <p:sp>
        <p:nvSpPr>
          <p:cNvPr id="26" name="Text 24"/>
          <p:cNvSpPr/>
          <p:nvPr/>
        </p:nvSpPr>
        <p:spPr>
          <a:xfrm>
            <a:off x="6217920" y="20116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HMAC</a:t>
            </a:r>
            <a:endParaRPr lang="en-US" sz="1150" dirty="0"/>
          </a:p>
        </p:txBody>
      </p:sp>
      <p:sp>
        <p:nvSpPr>
          <p:cNvPr id="27" name="Text 25"/>
          <p:cNvSpPr/>
          <p:nvPr/>
        </p:nvSpPr>
        <p:spPr>
          <a:xfrm>
            <a:off x="7589520" y="20116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Keyed hash for integrity. What CBC needed bolted on and never got.</a:t>
            </a:r>
            <a:endParaRPr lang="en-US" sz="1050" dirty="0"/>
          </a:p>
        </p:txBody>
      </p:sp>
      <p:sp>
        <p:nvSpPr>
          <p:cNvPr id="28" name="Text 26"/>
          <p:cNvSpPr/>
          <p:nvPr/>
        </p:nvSpPr>
        <p:spPr>
          <a:xfrm>
            <a:off x="6217920" y="24688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Key material</a:t>
            </a:r>
            <a:endParaRPr lang="en-US" sz="1150" dirty="0"/>
          </a:p>
        </p:txBody>
      </p:sp>
      <p:sp>
        <p:nvSpPr>
          <p:cNvPr id="29" name="Text 27"/>
          <p:cNvSpPr/>
          <p:nvPr/>
        </p:nvSpPr>
        <p:spPr>
          <a:xfrm>
            <a:off x="7589520" y="24688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The master secret in the vault. Input to the KDF, never used directly as a key.</a:t>
            </a:r>
            <a:endParaRPr lang="en-US" sz="1050" dirty="0"/>
          </a:p>
        </p:txBody>
      </p:sp>
      <p:sp>
        <p:nvSpPr>
          <p:cNvPr id="30" name="Text 28"/>
          <p:cNvSpPr/>
          <p:nvPr/>
        </p:nvSpPr>
        <p:spPr>
          <a:xfrm>
            <a:off x="6217920" y="29260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KDF</a:t>
            </a:r>
            <a:endParaRPr lang="en-US" sz="1150" dirty="0"/>
          </a:p>
        </p:txBody>
      </p:sp>
      <p:sp>
        <p:nvSpPr>
          <p:cNvPr id="31" name="Text 29"/>
          <p:cNvSpPr/>
          <p:nvPr/>
        </p:nvSpPr>
        <p:spPr>
          <a:xfrm>
            <a:off x="7589520" y="29260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Key derivation function. Turns one secret into others, deterministically.</a:t>
            </a:r>
            <a:endParaRPr lang="en-US" sz="1050" dirty="0"/>
          </a:p>
        </p:txBody>
      </p:sp>
      <p:sp>
        <p:nvSpPr>
          <p:cNvPr id="32" name="Text 30"/>
          <p:cNvSpPr/>
          <p:nvPr/>
        </p:nvSpPr>
        <p:spPr>
          <a:xfrm>
            <a:off x="6217920" y="33832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Nonce / IV</a:t>
            </a:r>
            <a:endParaRPr lang="en-US" sz="1150" dirty="0"/>
          </a:p>
        </p:txBody>
      </p:sp>
      <p:sp>
        <p:nvSpPr>
          <p:cNvPr id="33" name="Text 31"/>
          <p:cNvSpPr/>
          <p:nvPr/>
        </p:nvSpPr>
        <p:spPr>
          <a:xfrm>
            <a:off x="7589520" y="33832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Number used once. 12 bytes here. Must never repeat under one key.</a:t>
            </a:r>
            <a:endParaRPr lang="en-US" sz="1050" dirty="0"/>
          </a:p>
        </p:txBody>
      </p:sp>
      <p:sp>
        <p:nvSpPr>
          <p:cNvPr id="34" name="Text 32"/>
          <p:cNvSpPr/>
          <p:nvPr/>
        </p:nvSpPr>
        <p:spPr>
          <a:xfrm>
            <a:off x="6217920" y="38404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PBKDF2</a:t>
            </a:r>
            <a:endParaRPr lang="en-US" sz="1150" dirty="0"/>
          </a:p>
        </p:txBody>
      </p:sp>
      <p:sp>
        <p:nvSpPr>
          <p:cNvPr id="35" name="Text 33"/>
          <p:cNvSpPr/>
          <p:nvPr/>
        </p:nvSpPr>
        <p:spPr>
          <a:xfrm>
            <a:off x="7589520" y="38404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Deliberately slow KDF for human-chosen passwords.</a:t>
            </a:r>
            <a:endParaRPr lang="en-US" sz="1050" dirty="0"/>
          </a:p>
        </p:txBody>
      </p:sp>
      <p:sp>
        <p:nvSpPr>
          <p:cNvPr id="36" name="Text 34"/>
          <p:cNvSpPr/>
          <p:nvPr/>
        </p:nvSpPr>
        <p:spPr>
          <a:xfrm>
            <a:off x="6217920" y="42976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Plaintext</a:t>
            </a:r>
            <a:endParaRPr lang="en-US" sz="1150" dirty="0"/>
          </a:p>
        </p:txBody>
      </p:sp>
      <p:sp>
        <p:nvSpPr>
          <p:cNvPr id="37" name="Text 35"/>
          <p:cNvSpPr/>
          <p:nvPr/>
        </p:nvSpPr>
        <p:spPr>
          <a:xfrm>
            <a:off x="7589520" y="42976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Your data before encryption. Also what you get back only after the tag verifies.</a:t>
            </a:r>
            <a:endParaRPr lang="en-US" sz="1050" dirty="0"/>
          </a:p>
        </p:txBody>
      </p:sp>
      <p:sp>
        <p:nvSpPr>
          <p:cNvPr id="38" name="Text 36"/>
          <p:cNvSpPr/>
          <p:nvPr/>
        </p:nvSpPr>
        <p:spPr>
          <a:xfrm>
            <a:off x="6217920" y="47548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Salt</a:t>
            </a:r>
            <a:endParaRPr lang="en-US" sz="1150" dirty="0"/>
          </a:p>
        </p:txBody>
      </p:sp>
      <p:sp>
        <p:nvSpPr>
          <p:cNvPr id="39" name="Text 37"/>
          <p:cNvSpPr/>
          <p:nvPr/>
        </p:nvSpPr>
        <p:spPr>
          <a:xfrm>
            <a:off x="7589520" y="47548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Per-message randomness fed to the KDF. Public, travels with the ciphertext.</a:t>
            </a:r>
            <a:endParaRPr lang="en-US" sz="1050" dirty="0"/>
          </a:p>
        </p:txBody>
      </p:sp>
      <p:sp>
        <p:nvSpPr>
          <p:cNvPr id="40" name="Text 38"/>
          <p:cNvSpPr/>
          <p:nvPr/>
        </p:nvSpPr>
        <p:spPr>
          <a:xfrm>
            <a:off x="6217920" y="52120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Tag</a:t>
            </a:r>
            <a:endParaRPr lang="en-US" sz="1150" dirty="0"/>
          </a:p>
        </p:txBody>
      </p:sp>
      <p:sp>
        <p:nvSpPr>
          <p:cNvPr id="41" name="Text 39"/>
          <p:cNvSpPr/>
          <p:nvPr/>
        </p:nvSpPr>
        <p:spPr>
          <a:xfrm>
            <a:off x="7589520" y="52120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16 bytes of authentication. The tamper-evident seal.</a:t>
            </a:r>
            <a:endParaRPr lang="en-US" sz="1050" dirty="0"/>
          </a:p>
        </p:txBody>
      </p:sp>
      <p:sp>
        <p:nvSpPr>
          <p:cNvPr id="42" name="Text 40"/>
          <p:cNvSpPr/>
          <p:nvPr/>
        </p:nvSpPr>
        <p:spPr>
          <a:xfrm>
            <a:off x="6217920" y="5669280"/>
            <a:ext cx="1298448" cy="256032"/>
          </a:xfrm>
          <a:prstGeom prst="rect">
            <a:avLst/>
          </a:prstGeom>
          <a:noFill/>
          <a:ln/>
        </p:spPr>
        <p:txBody>
          <a:bodyPr wrap="square" lIns="0" tIns="0" rIns="0" bIns="0" rtlCol="0" anchor="t"/>
          <a:lstStyle/>
          <a:p>
            <a:pPr marL="0" indent="0" algn="l">
              <a:lnSpc>
                <a:spcPct val="106000"/>
              </a:lnSpc>
              <a:buNone/>
            </a:pPr>
            <a:r>
              <a:rPr lang="en-US" sz="1150" b="1" dirty="0">
                <a:solidFill>
                  <a:srgbClr val="16212E"/>
                </a:solidFill>
                <a:latin typeface="Calibri" pitchFamily="34" charset="0"/>
                <a:ea typeface="Calibri" pitchFamily="34" charset="-122"/>
                <a:cs typeface="Calibri" pitchFamily="34" charset="-120"/>
              </a:rPr>
              <a:t>TLS</a:t>
            </a:r>
            <a:endParaRPr lang="en-US" sz="1150" dirty="0"/>
          </a:p>
        </p:txBody>
      </p:sp>
      <p:sp>
        <p:nvSpPr>
          <p:cNvPr id="43" name="Text 41"/>
          <p:cNvSpPr/>
          <p:nvPr/>
        </p:nvSpPr>
        <p:spPr>
          <a:xfrm>
            <a:off x="7589520" y="5669280"/>
            <a:ext cx="3986784" cy="402336"/>
          </a:xfrm>
          <a:prstGeom prst="rect">
            <a:avLst/>
          </a:prstGeom>
          <a:noFill/>
          <a:ln/>
        </p:spPr>
        <p:txBody>
          <a:bodyPr wrap="square" lIns="0" tIns="0" rIns="0" bIns="0" rtlCol="0" anchor="t"/>
          <a:lstStyle/>
          <a:p>
            <a:pPr marL="0" indent="0" algn="l">
              <a:lnSpc>
                <a:spcPct val="105000"/>
              </a:lnSpc>
              <a:buNone/>
            </a:pPr>
            <a:r>
              <a:rPr lang="en-US" sz="1050" dirty="0">
                <a:solidFill>
                  <a:srgbClr val="3D4C5A"/>
                </a:solidFill>
                <a:latin typeface="Calibri" pitchFamily="34" charset="0"/>
                <a:ea typeface="Calibri" pitchFamily="34" charset="-122"/>
                <a:cs typeface="Calibri" pitchFamily="34" charset="-120"/>
              </a:rPr>
              <a:t>Encryption of the connection. Complementary to this, not a replacement.</a:t>
            </a:r>
            <a:endParaRPr lang="en-US" sz="1050" dirty="0"/>
          </a:p>
        </p:txBody>
      </p:sp>
      <p:sp>
        <p:nvSpPr>
          <p:cNvPr id="44" name="Text 42"/>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Appendix</a:t>
            </a:r>
            <a:endParaRPr lang="en-US" sz="950" dirty="0"/>
          </a:p>
        </p:txBody>
      </p:sp>
      <p:sp>
        <p:nvSpPr>
          <p:cNvPr id="45" name="Text 43"/>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26</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E8A033"/>
                </a:solidFill>
                <a:latin typeface="Calibri" pitchFamily="34" charset="0"/>
                <a:ea typeface="Calibri" pitchFamily="34" charset="-122"/>
                <a:cs typeface="Calibri" pitchFamily="34" charset="-120"/>
              </a:rPr>
              <a:t>APPENDIX C</a:t>
            </a:r>
            <a:endParaRPr lang="en-US" sz="1100" dirty="0"/>
          </a:p>
        </p:txBody>
      </p:sp>
      <p:sp>
        <p:nvSpPr>
          <p:cNvPr id="3" name="Text 1"/>
          <p:cNvSpPr/>
          <p:nvPr/>
        </p:nvSpPr>
        <p:spPr>
          <a:xfrm>
            <a:off x="566928" y="658368"/>
            <a:ext cx="11057839" cy="621792"/>
          </a:xfrm>
          <a:prstGeom prst="rect">
            <a:avLst/>
          </a:prstGeom>
          <a:noFill/>
          <a:ln/>
        </p:spPr>
        <p:txBody>
          <a:bodyPr wrap="square" lIns="0" tIns="0" rIns="0" bIns="0" rtlCol="0" anchor="t"/>
          <a:lstStyle/>
          <a:p>
            <a:pPr marL="0" indent="0">
              <a:buNone/>
            </a:pPr>
            <a:r>
              <a:rPr lang="en-US" sz="3100" b="1" dirty="0">
                <a:solidFill>
                  <a:srgbClr val="16212E"/>
                </a:solidFill>
                <a:latin typeface="Cambria" pitchFamily="34" charset="0"/>
                <a:ea typeface="Cambria" pitchFamily="34" charset="-122"/>
                <a:cs typeface="Cambria" pitchFamily="34" charset="-120"/>
              </a:rPr>
              <a:t>One-page cheat sheet</a:t>
            </a:r>
            <a:endParaRPr lang="en-US" sz="3100" dirty="0"/>
          </a:p>
        </p:txBody>
      </p:sp>
      <p:sp>
        <p:nvSpPr>
          <p:cNvPr id="4" name="Shape 2"/>
          <p:cNvSpPr/>
          <p:nvPr/>
        </p:nvSpPr>
        <p:spPr>
          <a:xfrm>
            <a:off x="566928" y="1554480"/>
            <a:ext cx="829338" cy="658368"/>
          </a:xfrm>
          <a:prstGeom prst="rect">
            <a:avLst/>
          </a:prstGeom>
          <a:solidFill>
            <a:srgbClr val="2C3E50"/>
          </a:solidFill>
          <a:ln w="19050">
            <a:solidFill>
              <a:srgbClr val="FFFFFF"/>
            </a:solidFill>
            <a:prstDash val="solid"/>
          </a:ln>
        </p:spPr>
        <p:txBody>
          <a:bodyPr/>
          <a:lstStyle/>
          <a:p>
            <a:endParaRPr lang="en-US"/>
          </a:p>
        </p:txBody>
      </p:sp>
      <p:sp>
        <p:nvSpPr>
          <p:cNvPr id="5" name="Text 3"/>
          <p:cNvSpPr/>
          <p:nvPr/>
        </p:nvSpPr>
        <p:spPr>
          <a:xfrm>
            <a:off x="566928" y="1645920"/>
            <a:ext cx="829338" cy="23774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header</a:t>
            </a:r>
            <a:endParaRPr lang="en-US" sz="1150" dirty="0"/>
          </a:p>
        </p:txBody>
      </p:sp>
      <p:sp>
        <p:nvSpPr>
          <p:cNvPr id="6" name="Text 4"/>
          <p:cNvSpPr/>
          <p:nvPr/>
        </p:nvSpPr>
        <p:spPr>
          <a:xfrm>
            <a:off x="566928" y="1883664"/>
            <a:ext cx="829338" cy="219456"/>
          </a:xfrm>
          <a:prstGeom prst="rect">
            <a:avLst/>
          </a:prstGeom>
          <a:noFill/>
          <a:ln/>
        </p:spPr>
        <p:txBody>
          <a:bodyPr wrap="square" lIns="0" tIns="0" rIns="0" bIns="0" rtlCol="0" anchor="ctr"/>
          <a:lstStyle/>
          <a:p>
            <a:pPr marL="0" indent="0" algn="ctr">
              <a:buNone/>
            </a:pPr>
            <a:r>
              <a:rPr lang="en-US" sz="950" dirty="0">
                <a:solidFill>
                  <a:srgbClr val="FFFFFF"/>
                </a:solidFill>
                <a:latin typeface="Courier New" pitchFamily="34" charset="0"/>
                <a:ea typeface="Courier New" pitchFamily="34" charset="-122"/>
                <a:cs typeface="Courier New" pitchFamily="34" charset="-120"/>
              </a:rPr>
              <a:t>4 B</a:t>
            </a:r>
            <a:endParaRPr lang="en-US" sz="950" dirty="0"/>
          </a:p>
        </p:txBody>
      </p:sp>
      <p:sp>
        <p:nvSpPr>
          <p:cNvPr id="7" name="Shape 5"/>
          <p:cNvSpPr/>
          <p:nvPr/>
        </p:nvSpPr>
        <p:spPr>
          <a:xfrm>
            <a:off x="1396266" y="1554480"/>
            <a:ext cx="1658676" cy="658368"/>
          </a:xfrm>
          <a:prstGeom prst="rect">
            <a:avLst/>
          </a:prstGeom>
          <a:solidFill>
            <a:srgbClr val="E8A033"/>
          </a:solidFill>
          <a:ln w="19050">
            <a:solidFill>
              <a:srgbClr val="FFFFFF"/>
            </a:solidFill>
            <a:prstDash val="solid"/>
          </a:ln>
        </p:spPr>
        <p:txBody>
          <a:bodyPr/>
          <a:lstStyle/>
          <a:p>
            <a:endParaRPr lang="en-US"/>
          </a:p>
        </p:txBody>
      </p:sp>
      <p:sp>
        <p:nvSpPr>
          <p:cNvPr id="8" name="Text 6"/>
          <p:cNvSpPr/>
          <p:nvPr/>
        </p:nvSpPr>
        <p:spPr>
          <a:xfrm>
            <a:off x="1396266" y="1645920"/>
            <a:ext cx="1658676" cy="237744"/>
          </a:xfrm>
          <a:prstGeom prst="rect">
            <a:avLst/>
          </a:prstGeom>
          <a:noFill/>
          <a:ln/>
        </p:spPr>
        <p:txBody>
          <a:bodyPr wrap="square" lIns="0" tIns="0" rIns="0" bIns="0" rtlCol="0" anchor="ctr"/>
          <a:lstStyle/>
          <a:p>
            <a:pPr marL="0" indent="0" algn="ctr">
              <a:buNone/>
            </a:pPr>
            <a:r>
              <a:rPr lang="en-US" sz="1150" b="1" dirty="0">
                <a:solidFill>
                  <a:srgbClr val="0F1721"/>
                </a:solidFill>
                <a:latin typeface="Calibri" pitchFamily="34" charset="0"/>
                <a:ea typeface="Calibri" pitchFamily="34" charset="-122"/>
                <a:cs typeface="Calibri" pitchFamily="34" charset="-120"/>
              </a:rPr>
              <a:t>salt</a:t>
            </a:r>
            <a:endParaRPr lang="en-US" sz="1150" dirty="0"/>
          </a:p>
        </p:txBody>
      </p:sp>
      <p:sp>
        <p:nvSpPr>
          <p:cNvPr id="9" name="Text 7"/>
          <p:cNvSpPr/>
          <p:nvPr/>
        </p:nvSpPr>
        <p:spPr>
          <a:xfrm>
            <a:off x="1396266" y="1883664"/>
            <a:ext cx="1658676" cy="219456"/>
          </a:xfrm>
          <a:prstGeom prst="rect">
            <a:avLst/>
          </a:prstGeom>
          <a:noFill/>
          <a:ln/>
        </p:spPr>
        <p:txBody>
          <a:bodyPr wrap="square" lIns="0" tIns="0" rIns="0" bIns="0" rtlCol="0" anchor="ctr"/>
          <a:lstStyle/>
          <a:p>
            <a:pPr marL="0" indent="0" algn="ctr">
              <a:buNone/>
            </a:pPr>
            <a:r>
              <a:rPr lang="en-US" sz="950" dirty="0">
                <a:solidFill>
                  <a:srgbClr val="0F1721"/>
                </a:solidFill>
                <a:latin typeface="Courier New" pitchFamily="34" charset="0"/>
                <a:ea typeface="Courier New" pitchFamily="34" charset="-122"/>
                <a:cs typeface="Courier New" pitchFamily="34" charset="-120"/>
              </a:rPr>
              <a:t>16 B</a:t>
            </a:r>
            <a:endParaRPr lang="en-US" sz="950" dirty="0"/>
          </a:p>
        </p:txBody>
      </p:sp>
      <p:sp>
        <p:nvSpPr>
          <p:cNvPr id="10" name="Shape 8"/>
          <p:cNvSpPr/>
          <p:nvPr/>
        </p:nvSpPr>
        <p:spPr>
          <a:xfrm>
            <a:off x="3054942" y="1554480"/>
            <a:ext cx="1326941" cy="658368"/>
          </a:xfrm>
          <a:prstGeom prst="rect">
            <a:avLst/>
          </a:prstGeom>
          <a:solidFill>
            <a:srgbClr val="C98F2E"/>
          </a:solidFill>
          <a:ln w="19050">
            <a:solidFill>
              <a:srgbClr val="FFFFFF"/>
            </a:solidFill>
            <a:prstDash val="solid"/>
          </a:ln>
        </p:spPr>
        <p:txBody>
          <a:bodyPr/>
          <a:lstStyle/>
          <a:p>
            <a:endParaRPr lang="en-US"/>
          </a:p>
        </p:txBody>
      </p:sp>
      <p:sp>
        <p:nvSpPr>
          <p:cNvPr id="11" name="Text 9"/>
          <p:cNvSpPr/>
          <p:nvPr/>
        </p:nvSpPr>
        <p:spPr>
          <a:xfrm>
            <a:off x="3054942" y="1645920"/>
            <a:ext cx="1326941" cy="23774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nonce</a:t>
            </a:r>
            <a:endParaRPr lang="en-US" sz="1150" dirty="0"/>
          </a:p>
        </p:txBody>
      </p:sp>
      <p:sp>
        <p:nvSpPr>
          <p:cNvPr id="12" name="Text 10"/>
          <p:cNvSpPr/>
          <p:nvPr/>
        </p:nvSpPr>
        <p:spPr>
          <a:xfrm>
            <a:off x="3054942" y="1883664"/>
            <a:ext cx="1326941" cy="219456"/>
          </a:xfrm>
          <a:prstGeom prst="rect">
            <a:avLst/>
          </a:prstGeom>
          <a:noFill/>
          <a:ln/>
        </p:spPr>
        <p:txBody>
          <a:bodyPr wrap="square" lIns="0" tIns="0" rIns="0" bIns="0" rtlCol="0" anchor="ctr"/>
          <a:lstStyle/>
          <a:p>
            <a:pPr marL="0" indent="0" algn="ctr">
              <a:buNone/>
            </a:pPr>
            <a:r>
              <a:rPr lang="en-US" sz="950" dirty="0">
                <a:solidFill>
                  <a:srgbClr val="FFFFFF"/>
                </a:solidFill>
                <a:latin typeface="Courier New" pitchFamily="34" charset="0"/>
                <a:ea typeface="Courier New" pitchFamily="34" charset="-122"/>
                <a:cs typeface="Courier New" pitchFamily="34" charset="-120"/>
              </a:rPr>
              <a:t>12 B</a:t>
            </a:r>
            <a:endParaRPr lang="en-US" sz="950" dirty="0"/>
          </a:p>
        </p:txBody>
      </p:sp>
      <p:sp>
        <p:nvSpPr>
          <p:cNvPr id="13" name="Shape 11"/>
          <p:cNvSpPr/>
          <p:nvPr/>
        </p:nvSpPr>
        <p:spPr>
          <a:xfrm>
            <a:off x="4381883" y="1554480"/>
            <a:ext cx="5584209" cy="658368"/>
          </a:xfrm>
          <a:prstGeom prst="rect">
            <a:avLst/>
          </a:prstGeom>
          <a:solidFill>
            <a:srgbClr val="1B2735"/>
          </a:solidFill>
          <a:ln w="19050">
            <a:solidFill>
              <a:srgbClr val="FFFFFF"/>
            </a:solidFill>
            <a:prstDash val="solid"/>
          </a:ln>
        </p:spPr>
        <p:txBody>
          <a:bodyPr/>
          <a:lstStyle/>
          <a:p>
            <a:endParaRPr lang="en-US"/>
          </a:p>
        </p:txBody>
      </p:sp>
      <p:sp>
        <p:nvSpPr>
          <p:cNvPr id="14" name="Text 12"/>
          <p:cNvSpPr/>
          <p:nvPr/>
        </p:nvSpPr>
        <p:spPr>
          <a:xfrm>
            <a:off x="4381883" y="1645920"/>
            <a:ext cx="5584209" cy="23774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ciphertext</a:t>
            </a:r>
            <a:endParaRPr lang="en-US" sz="1150" dirty="0"/>
          </a:p>
        </p:txBody>
      </p:sp>
      <p:sp>
        <p:nvSpPr>
          <p:cNvPr id="15" name="Text 13"/>
          <p:cNvSpPr/>
          <p:nvPr/>
        </p:nvSpPr>
        <p:spPr>
          <a:xfrm>
            <a:off x="4381883" y="1883664"/>
            <a:ext cx="5584209" cy="219456"/>
          </a:xfrm>
          <a:prstGeom prst="rect">
            <a:avLst/>
          </a:prstGeom>
          <a:noFill/>
          <a:ln/>
        </p:spPr>
        <p:txBody>
          <a:bodyPr wrap="square" lIns="0" tIns="0" rIns="0" bIns="0" rtlCol="0" anchor="ctr"/>
          <a:lstStyle/>
          <a:p>
            <a:pPr marL="0" indent="0" algn="ctr">
              <a:buNone/>
            </a:pPr>
            <a:r>
              <a:rPr lang="en-US" sz="950" dirty="0">
                <a:solidFill>
                  <a:srgbClr val="FFFFFF"/>
                </a:solidFill>
                <a:latin typeface="Courier New" pitchFamily="34" charset="0"/>
                <a:ea typeface="Courier New" pitchFamily="34" charset="-122"/>
                <a:cs typeface="Courier New" pitchFamily="34" charset="-120"/>
              </a:rPr>
              <a:t>N bytes</a:t>
            </a:r>
            <a:endParaRPr lang="en-US" sz="950" dirty="0"/>
          </a:p>
        </p:txBody>
      </p:sp>
      <p:sp>
        <p:nvSpPr>
          <p:cNvPr id="16" name="Shape 14"/>
          <p:cNvSpPr/>
          <p:nvPr/>
        </p:nvSpPr>
        <p:spPr>
          <a:xfrm>
            <a:off x="9966091" y="1554480"/>
            <a:ext cx="1658676" cy="658368"/>
          </a:xfrm>
          <a:prstGeom prst="rect">
            <a:avLst/>
          </a:prstGeom>
          <a:solidFill>
            <a:srgbClr val="2BA88C"/>
          </a:solidFill>
          <a:ln w="19050">
            <a:solidFill>
              <a:srgbClr val="FFFFFF"/>
            </a:solidFill>
            <a:prstDash val="solid"/>
          </a:ln>
        </p:spPr>
        <p:txBody>
          <a:bodyPr/>
          <a:lstStyle/>
          <a:p>
            <a:endParaRPr lang="en-US"/>
          </a:p>
        </p:txBody>
      </p:sp>
      <p:sp>
        <p:nvSpPr>
          <p:cNvPr id="17" name="Text 15"/>
          <p:cNvSpPr/>
          <p:nvPr/>
        </p:nvSpPr>
        <p:spPr>
          <a:xfrm>
            <a:off x="9966091" y="1645920"/>
            <a:ext cx="1658676" cy="23774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tag</a:t>
            </a:r>
            <a:endParaRPr lang="en-US" sz="1150" dirty="0"/>
          </a:p>
        </p:txBody>
      </p:sp>
      <p:sp>
        <p:nvSpPr>
          <p:cNvPr id="18" name="Text 16"/>
          <p:cNvSpPr/>
          <p:nvPr/>
        </p:nvSpPr>
        <p:spPr>
          <a:xfrm>
            <a:off x="9966091" y="1883664"/>
            <a:ext cx="1658676" cy="219456"/>
          </a:xfrm>
          <a:prstGeom prst="rect">
            <a:avLst/>
          </a:prstGeom>
          <a:noFill/>
          <a:ln/>
        </p:spPr>
        <p:txBody>
          <a:bodyPr wrap="square" lIns="0" tIns="0" rIns="0" bIns="0" rtlCol="0" anchor="ctr"/>
          <a:lstStyle/>
          <a:p>
            <a:pPr marL="0" indent="0" algn="ctr">
              <a:buNone/>
            </a:pPr>
            <a:r>
              <a:rPr lang="en-US" sz="950" dirty="0">
                <a:solidFill>
                  <a:srgbClr val="FFFFFF"/>
                </a:solidFill>
                <a:latin typeface="Courier New" pitchFamily="34" charset="0"/>
                <a:ea typeface="Courier New" pitchFamily="34" charset="-122"/>
                <a:cs typeface="Courier New" pitchFamily="34" charset="-120"/>
              </a:rPr>
              <a:t>16 B</a:t>
            </a:r>
            <a:endParaRPr lang="en-US" sz="950" dirty="0"/>
          </a:p>
        </p:txBody>
      </p:sp>
      <p:sp>
        <p:nvSpPr>
          <p:cNvPr id="19" name="Shape 17"/>
          <p:cNvSpPr/>
          <p:nvPr/>
        </p:nvSpPr>
        <p:spPr>
          <a:xfrm>
            <a:off x="566928" y="2450592"/>
            <a:ext cx="5230368" cy="2048256"/>
          </a:xfrm>
          <a:prstGeom prst="roundRect">
            <a:avLst>
              <a:gd name="adj" fmla="val 2679"/>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20" name="Text 18"/>
          <p:cNvSpPr/>
          <p:nvPr/>
        </p:nvSpPr>
        <p:spPr>
          <a:xfrm>
            <a:off x="877824" y="2633472"/>
            <a:ext cx="3657600" cy="292608"/>
          </a:xfrm>
          <a:prstGeom prst="rect">
            <a:avLst/>
          </a:prstGeom>
          <a:noFill/>
          <a:ln/>
        </p:spPr>
        <p:txBody>
          <a:bodyPr wrap="square" lIns="0" tIns="0" rIns="0" bIns="0" rtlCol="0" anchor="t"/>
          <a:lstStyle/>
          <a:p>
            <a:pPr marL="0" indent="0" algn="l">
              <a:lnSpc>
                <a:spcPct val="106000"/>
              </a:lnSpc>
              <a:buNone/>
            </a:pPr>
            <a:r>
              <a:rPr lang="en-US" sz="1500" b="1" dirty="0">
                <a:solidFill>
                  <a:srgbClr val="16212E"/>
                </a:solidFill>
                <a:latin typeface="Calibri" pitchFamily="34" charset="0"/>
                <a:ea typeface="Calibri" pitchFamily="34" charset="-122"/>
                <a:cs typeface="Calibri" pitchFamily="34" charset="-120"/>
              </a:rPr>
              <a:t>Encrypt</a:t>
            </a:r>
            <a:endParaRPr lang="en-US" sz="1500" dirty="0"/>
          </a:p>
        </p:txBody>
      </p:sp>
      <p:sp>
        <p:nvSpPr>
          <p:cNvPr id="21" name="Text 19"/>
          <p:cNvSpPr/>
          <p:nvPr/>
        </p:nvSpPr>
        <p:spPr>
          <a:xfrm>
            <a:off x="877824" y="2962656"/>
            <a:ext cx="4608576" cy="1371600"/>
          </a:xfrm>
          <a:prstGeom prst="rect">
            <a:avLst/>
          </a:prstGeom>
          <a:noFill/>
          <a:ln/>
        </p:spPr>
        <p:txBody>
          <a:bodyPr wrap="square" lIns="0" tIns="0" rIns="0" bIns="0" rtlCol="0" anchor="t"/>
          <a:lstStyle/>
          <a:p>
            <a:pPr marL="0" indent="0" algn="l">
              <a:lnSpc>
                <a:spcPct val="130000"/>
              </a:lnSpc>
              <a:buNone/>
            </a:pPr>
            <a:r>
              <a:rPr lang="en-US" sz="1150" dirty="0">
                <a:solidFill>
                  <a:srgbClr val="16212E"/>
                </a:solidFill>
                <a:latin typeface="Courier New" pitchFamily="34" charset="0"/>
                <a:ea typeface="Courier New" pitchFamily="34" charset="-122"/>
                <a:cs typeface="Courier New" pitchFamily="34" charset="-120"/>
              </a:rPr>
              <a:t>salt   = random(16)</a:t>
            </a:r>
            <a:endParaRPr lang="en-US" sz="1150" dirty="0"/>
          </a:p>
          <a:p>
            <a:pPr marL="0" indent="0" algn="l">
              <a:lnSpc>
                <a:spcPct val="130000"/>
              </a:lnSpc>
              <a:buNone/>
            </a:pPr>
            <a:r>
              <a:rPr lang="en-US" sz="1150" dirty="0">
                <a:solidFill>
                  <a:srgbClr val="16212E"/>
                </a:solidFill>
                <a:latin typeface="Courier New" pitchFamily="34" charset="0"/>
                <a:ea typeface="Courier New" pitchFamily="34" charset="-122"/>
                <a:cs typeface="Courier New" pitchFamily="34" charset="-120"/>
              </a:rPr>
              <a:t>key    = HKDF-SHA384(km, salt, info, 32)</a:t>
            </a:r>
            <a:endParaRPr lang="en-US" sz="1150" dirty="0"/>
          </a:p>
          <a:p>
            <a:pPr marL="0" indent="0" algn="l">
              <a:lnSpc>
                <a:spcPct val="130000"/>
              </a:lnSpc>
              <a:buNone/>
            </a:pPr>
            <a:r>
              <a:rPr lang="en-US" sz="1150" dirty="0">
                <a:solidFill>
                  <a:srgbClr val="16212E"/>
                </a:solidFill>
                <a:latin typeface="Courier New" pitchFamily="34" charset="0"/>
                <a:ea typeface="Courier New" pitchFamily="34" charset="-122"/>
                <a:cs typeface="Courier New" pitchFamily="34" charset="-120"/>
              </a:rPr>
              <a:t>nonce  = random(12)</a:t>
            </a:r>
            <a:endParaRPr lang="en-US" sz="1150" dirty="0"/>
          </a:p>
          <a:p>
            <a:pPr marL="0" indent="0" algn="l">
              <a:lnSpc>
                <a:spcPct val="130000"/>
              </a:lnSpc>
              <a:buNone/>
            </a:pPr>
            <a:r>
              <a:rPr lang="en-US" sz="1150" dirty="0">
                <a:solidFill>
                  <a:srgbClr val="16212E"/>
                </a:solidFill>
                <a:latin typeface="Courier New" pitchFamily="34" charset="0"/>
                <a:ea typeface="Courier New" pitchFamily="34" charset="-122"/>
                <a:cs typeface="Courier New" pitchFamily="34" charset="-120"/>
              </a:rPr>
              <a:t>ct,tag = AES-256-GCM(key, nonce, pt, aad)</a:t>
            </a:r>
            <a:endParaRPr lang="en-US" sz="1150" dirty="0"/>
          </a:p>
          <a:p>
            <a:pPr marL="0" indent="0" algn="l">
              <a:lnSpc>
                <a:spcPct val="130000"/>
              </a:lnSpc>
              <a:buNone/>
            </a:pPr>
            <a:r>
              <a:rPr lang="en-US" sz="1150" dirty="0">
                <a:solidFill>
                  <a:srgbClr val="16212E"/>
                </a:solidFill>
                <a:latin typeface="Courier New" pitchFamily="34" charset="0"/>
                <a:ea typeface="Courier New" pitchFamily="34" charset="-122"/>
                <a:cs typeface="Courier New" pitchFamily="34" charset="-120"/>
              </a:rPr>
              <a:t>out    = base64(hdr||salt||nonce||ct||tag)</a:t>
            </a:r>
            <a:endParaRPr lang="en-US" sz="1150" dirty="0"/>
          </a:p>
        </p:txBody>
      </p:sp>
      <p:sp>
        <p:nvSpPr>
          <p:cNvPr id="22" name="Shape 20"/>
          <p:cNvSpPr/>
          <p:nvPr/>
        </p:nvSpPr>
        <p:spPr>
          <a:xfrm>
            <a:off x="6126480" y="2450592"/>
            <a:ext cx="5230368" cy="2048256"/>
          </a:xfrm>
          <a:prstGeom prst="roundRect">
            <a:avLst>
              <a:gd name="adj" fmla="val 2679"/>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23" name="Text 21"/>
          <p:cNvSpPr/>
          <p:nvPr/>
        </p:nvSpPr>
        <p:spPr>
          <a:xfrm>
            <a:off x="6437376" y="2633472"/>
            <a:ext cx="3657600" cy="292608"/>
          </a:xfrm>
          <a:prstGeom prst="rect">
            <a:avLst/>
          </a:prstGeom>
          <a:noFill/>
          <a:ln/>
        </p:spPr>
        <p:txBody>
          <a:bodyPr wrap="square" lIns="0" tIns="0" rIns="0" bIns="0" rtlCol="0" anchor="t"/>
          <a:lstStyle/>
          <a:p>
            <a:pPr marL="0" indent="0" algn="l">
              <a:lnSpc>
                <a:spcPct val="106000"/>
              </a:lnSpc>
              <a:buNone/>
            </a:pPr>
            <a:r>
              <a:rPr lang="en-US" sz="1500" b="1" dirty="0">
                <a:solidFill>
                  <a:srgbClr val="16212E"/>
                </a:solidFill>
                <a:latin typeface="Calibri" pitchFamily="34" charset="0"/>
                <a:ea typeface="Calibri" pitchFamily="34" charset="-122"/>
                <a:cs typeface="Calibri" pitchFamily="34" charset="-120"/>
              </a:rPr>
              <a:t>Decrypt</a:t>
            </a:r>
            <a:endParaRPr lang="en-US" sz="1500" dirty="0"/>
          </a:p>
        </p:txBody>
      </p:sp>
      <p:sp>
        <p:nvSpPr>
          <p:cNvPr id="24" name="Text 22"/>
          <p:cNvSpPr/>
          <p:nvPr/>
        </p:nvSpPr>
        <p:spPr>
          <a:xfrm>
            <a:off x="6437376" y="2962656"/>
            <a:ext cx="4608576" cy="1371600"/>
          </a:xfrm>
          <a:prstGeom prst="rect">
            <a:avLst/>
          </a:prstGeom>
          <a:noFill/>
          <a:ln/>
        </p:spPr>
        <p:txBody>
          <a:bodyPr wrap="square" lIns="0" tIns="0" rIns="0" bIns="0" rtlCol="0" anchor="t"/>
          <a:lstStyle/>
          <a:p>
            <a:pPr marL="0" indent="0" algn="l">
              <a:lnSpc>
                <a:spcPct val="130000"/>
              </a:lnSpc>
              <a:buNone/>
            </a:pPr>
            <a:r>
              <a:rPr lang="en-US" sz="1150" dirty="0">
                <a:solidFill>
                  <a:srgbClr val="16212E"/>
                </a:solidFill>
                <a:latin typeface="Courier New" pitchFamily="34" charset="0"/>
                <a:ea typeface="Courier New" pitchFamily="34" charset="-122"/>
                <a:cs typeface="Courier New" pitchFamily="34" charset="-120"/>
              </a:rPr>
              <a:t>raw   = base64decode(in)      // &gt;= 48 B</a:t>
            </a:r>
            <a:endParaRPr lang="en-US" sz="1150" dirty="0"/>
          </a:p>
          <a:p>
            <a:pPr marL="0" indent="0" algn="l">
              <a:lnSpc>
                <a:spcPct val="130000"/>
              </a:lnSpc>
              <a:buNone/>
            </a:pPr>
            <a:r>
              <a:rPr lang="en-US" sz="1150" dirty="0">
                <a:solidFill>
                  <a:srgbClr val="16212E"/>
                </a:solidFill>
                <a:latin typeface="Courier New" pitchFamily="34" charset="0"/>
                <a:ea typeface="Courier New" pitchFamily="34" charset="-122"/>
                <a:cs typeface="Courier New" pitchFamily="34" charset="-120"/>
              </a:rPr>
              <a:t>assert raw[0:4] == hdr</a:t>
            </a:r>
            <a:endParaRPr lang="en-US" sz="1150" dirty="0"/>
          </a:p>
          <a:p>
            <a:pPr marL="0" indent="0" algn="l">
              <a:lnSpc>
                <a:spcPct val="130000"/>
              </a:lnSpc>
              <a:buNone/>
            </a:pPr>
            <a:r>
              <a:rPr lang="en-US" sz="1150" dirty="0">
                <a:solidFill>
                  <a:srgbClr val="16212E"/>
                </a:solidFill>
                <a:latin typeface="Courier New" pitchFamily="34" charset="0"/>
                <a:ea typeface="Courier New" pitchFamily="34" charset="-122"/>
                <a:cs typeface="Courier New" pitchFamily="34" charset="-120"/>
              </a:rPr>
              <a:t>salt  = raw[4:20]   nonce = raw[20:32]</a:t>
            </a:r>
            <a:endParaRPr lang="en-US" sz="1150" dirty="0"/>
          </a:p>
          <a:p>
            <a:pPr marL="0" indent="0" algn="l">
              <a:lnSpc>
                <a:spcPct val="130000"/>
              </a:lnSpc>
              <a:buNone/>
            </a:pPr>
            <a:r>
              <a:rPr lang="en-US" sz="1150" dirty="0">
                <a:solidFill>
                  <a:srgbClr val="16212E"/>
                </a:solidFill>
                <a:latin typeface="Courier New" pitchFamily="34" charset="0"/>
                <a:ea typeface="Courier New" pitchFamily="34" charset="-122"/>
                <a:cs typeface="Courier New" pitchFamily="34" charset="-120"/>
              </a:rPr>
              <a:t>key   = HKDF-SHA384(km, salt, info, 32)</a:t>
            </a:r>
            <a:endParaRPr lang="en-US" sz="1150" dirty="0"/>
          </a:p>
          <a:p>
            <a:pPr marL="0" indent="0" algn="l">
              <a:lnSpc>
                <a:spcPct val="130000"/>
              </a:lnSpc>
              <a:buNone/>
            </a:pPr>
            <a:r>
              <a:rPr lang="en-US" sz="1150" dirty="0">
                <a:solidFill>
                  <a:srgbClr val="16212E"/>
                </a:solidFill>
                <a:latin typeface="Courier New" pitchFamily="34" charset="0"/>
                <a:ea typeface="Courier New" pitchFamily="34" charset="-122"/>
                <a:cs typeface="Courier New" pitchFamily="34" charset="-120"/>
              </a:rPr>
              <a:t>pt    = GCM-Open(key, nonce, raw[32:], aad)</a:t>
            </a:r>
            <a:endParaRPr lang="en-US" sz="1150" dirty="0"/>
          </a:p>
        </p:txBody>
      </p:sp>
      <p:sp>
        <p:nvSpPr>
          <p:cNvPr id="25" name="Shape 23"/>
          <p:cNvSpPr/>
          <p:nvPr/>
        </p:nvSpPr>
        <p:spPr>
          <a:xfrm>
            <a:off x="566928" y="4626864"/>
            <a:ext cx="5230368" cy="1426464"/>
          </a:xfrm>
          <a:prstGeom prst="roundRect">
            <a:avLst>
              <a:gd name="adj" fmla="val 3846"/>
            </a:avLst>
          </a:prstGeom>
          <a:solidFill>
            <a:srgbClr val="FBEEDA"/>
          </a:solidFill>
          <a:ln w="6350">
            <a:solidFill>
              <a:srgbClr val="FBEEDA"/>
            </a:solidFill>
            <a:prstDash val="solid"/>
          </a:ln>
          <a:effectLst>
            <a:outerShdw blurRad="114300" dist="25400" dir="5400000" algn="bl" rotWithShape="0">
              <a:srgbClr val="9FB0BF">
                <a:alpha val="25000"/>
              </a:srgbClr>
            </a:outerShdw>
          </a:effectLst>
        </p:spPr>
        <p:txBody>
          <a:bodyPr/>
          <a:lstStyle/>
          <a:p>
            <a:endParaRPr lang="en-US"/>
          </a:p>
        </p:txBody>
      </p:sp>
      <p:sp>
        <p:nvSpPr>
          <p:cNvPr id="26" name="Text 24"/>
          <p:cNvSpPr/>
          <p:nvPr/>
        </p:nvSpPr>
        <p:spPr>
          <a:xfrm>
            <a:off x="877824" y="4791456"/>
            <a:ext cx="3657600" cy="274320"/>
          </a:xfrm>
          <a:prstGeom prst="rect">
            <a:avLst/>
          </a:prstGeom>
          <a:noFill/>
          <a:ln/>
        </p:spPr>
        <p:txBody>
          <a:bodyPr wrap="square" lIns="0" tIns="0" rIns="0" bIns="0" rtlCol="0" anchor="t"/>
          <a:lstStyle/>
          <a:p>
            <a:pPr marL="0" indent="0" algn="l">
              <a:lnSpc>
                <a:spcPct val="106000"/>
              </a:lnSpc>
              <a:buNone/>
            </a:pPr>
            <a:r>
              <a:rPr lang="en-US" sz="1400" b="1" dirty="0">
                <a:solidFill>
                  <a:srgbClr val="16212E"/>
                </a:solidFill>
                <a:latin typeface="Calibri" pitchFamily="34" charset="0"/>
                <a:ea typeface="Calibri" pitchFamily="34" charset="-122"/>
                <a:cs typeface="Calibri" pitchFamily="34" charset="-120"/>
              </a:rPr>
              <a:t>Non-negotiables</a:t>
            </a:r>
            <a:endParaRPr lang="en-US" sz="1400" dirty="0"/>
          </a:p>
        </p:txBody>
      </p:sp>
      <p:sp>
        <p:nvSpPr>
          <p:cNvPr id="27" name="Text 25"/>
          <p:cNvSpPr/>
          <p:nvPr/>
        </p:nvSpPr>
        <p:spPr>
          <a:xfrm>
            <a:off x="877824" y="5102352"/>
            <a:ext cx="4608576" cy="859536"/>
          </a:xfrm>
          <a:prstGeom prst="rect">
            <a:avLst/>
          </a:prstGeom>
          <a:noFill/>
          <a:ln/>
        </p:spPr>
        <p:txBody>
          <a:bodyPr wrap="square" lIns="0" tIns="0" rIns="0" bIns="0" rtlCol="0" anchor="ctr"/>
          <a:lstStyle/>
          <a:p>
            <a:pPr marL="342900" indent="-342900">
              <a:lnSpc>
                <a:spcPct val="102000"/>
              </a:lnSpc>
              <a:spcAft>
                <a:spcPts val="300"/>
              </a:spcAft>
              <a:buSzPct val="100000"/>
              <a:buChar char="•"/>
            </a:pPr>
            <a:r>
              <a:rPr lang="en-US" sz="1150" dirty="0">
                <a:solidFill>
                  <a:srgbClr val="3D4C5A"/>
                </a:solidFill>
                <a:latin typeface="Calibri" pitchFamily="34" charset="0"/>
                <a:ea typeface="Calibri" pitchFamily="34" charset="-122"/>
                <a:cs typeface="Calibri" pitchFamily="34" charset="-120"/>
              </a:rPr>
              <a:t>HKDF-SHA384, never SHA-256</a:t>
            </a:r>
            <a:endParaRPr lang="en-US" sz="1150" dirty="0"/>
          </a:p>
          <a:p>
            <a:pPr marL="342900" indent="-342900">
              <a:lnSpc>
                <a:spcPct val="102000"/>
              </a:lnSpc>
              <a:spcAft>
                <a:spcPts val="300"/>
              </a:spcAft>
              <a:buSzPct val="100000"/>
              <a:buChar char="•"/>
            </a:pPr>
            <a:r>
              <a:rPr lang="en-US" sz="1150" dirty="0">
                <a:solidFill>
                  <a:srgbClr val="3D4C5A"/>
                </a:solidFill>
                <a:latin typeface="Calibri" pitchFamily="34" charset="0"/>
                <a:ea typeface="Calibri" pitchFamily="34" charset="-122"/>
                <a:cs typeface="Calibri" pitchFamily="34" charset="-120"/>
              </a:rPr>
              <a:t>Exact info string, byte for byte</a:t>
            </a:r>
            <a:endParaRPr lang="en-US" sz="1150" dirty="0"/>
          </a:p>
          <a:p>
            <a:pPr marL="342900" indent="-342900">
              <a:lnSpc>
                <a:spcPct val="102000"/>
              </a:lnSpc>
              <a:spcAft>
                <a:spcPts val="300"/>
              </a:spcAft>
              <a:buSzPct val="100000"/>
              <a:buChar char="•"/>
            </a:pPr>
            <a:r>
              <a:rPr lang="en-US" sz="1150" dirty="0">
                <a:solidFill>
                  <a:srgbClr val="3D4C5A"/>
                </a:solidFill>
                <a:latin typeface="Calibri" pitchFamily="34" charset="0"/>
                <a:ea typeface="Calibri" pitchFamily="34" charset="-122"/>
                <a:cs typeface="Calibri" pitchFamily="34" charset="-120"/>
              </a:rPr>
              <a:t>Fresh salt and nonce every single message</a:t>
            </a:r>
            <a:endParaRPr lang="en-US" sz="1150" dirty="0"/>
          </a:p>
        </p:txBody>
      </p:sp>
      <p:sp>
        <p:nvSpPr>
          <p:cNvPr id="28" name="Shape 26"/>
          <p:cNvSpPr/>
          <p:nvPr/>
        </p:nvSpPr>
        <p:spPr>
          <a:xfrm>
            <a:off x="6126480" y="4626864"/>
            <a:ext cx="5230368" cy="1426464"/>
          </a:xfrm>
          <a:prstGeom prst="roundRect">
            <a:avLst>
              <a:gd name="adj" fmla="val 3846"/>
            </a:avLst>
          </a:prstGeom>
          <a:solidFill>
            <a:srgbClr val="F1F5F9"/>
          </a:solidFill>
          <a:ln w="6350">
            <a:solidFill>
              <a:srgbClr val="F1F5F9"/>
            </a:solidFill>
            <a:prstDash val="solid"/>
          </a:ln>
          <a:effectLst>
            <a:outerShdw blurRad="114300" dist="25400" dir="5400000" algn="bl" rotWithShape="0">
              <a:srgbClr val="9FB0BF">
                <a:alpha val="25000"/>
              </a:srgbClr>
            </a:outerShdw>
          </a:effectLst>
        </p:spPr>
        <p:txBody>
          <a:bodyPr/>
          <a:lstStyle/>
          <a:p>
            <a:endParaRPr lang="en-US"/>
          </a:p>
        </p:txBody>
      </p:sp>
      <p:sp>
        <p:nvSpPr>
          <p:cNvPr id="29" name="Text 27"/>
          <p:cNvSpPr/>
          <p:nvPr/>
        </p:nvSpPr>
        <p:spPr>
          <a:xfrm>
            <a:off x="6437376" y="4791456"/>
            <a:ext cx="3657600" cy="274320"/>
          </a:xfrm>
          <a:prstGeom prst="rect">
            <a:avLst/>
          </a:prstGeom>
          <a:noFill/>
          <a:ln/>
        </p:spPr>
        <p:txBody>
          <a:bodyPr wrap="square" lIns="0" tIns="0" rIns="0" bIns="0" rtlCol="0" anchor="t"/>
          <a:lstStyle/>
          <a:p>
            <a:pPr marL="0" indent="0" algn="l">
              <a:lnSpc>
                <a:spcPct val="106000"/>
              </a:lnSpc>
              <a:buNone/>
            </a:pPr>
            <a:r>
              <a:rPr lang="en-US" sz="1400" b="1" dirty="0">
                <a:solidFill>
                  <a:srgbClr val="16212E"/>
                </a:solidFill>
                <a:latin typeface="Calibri" pitchFamily="34" charset="0"/>
                <a:ea typeface="Calibri" pitchFamily="34" charset="-122"/>
                <a:cs typeface="Calibri" pitchFamily="34" charset="-120"/>
              </a:rPr>
              <a:t>References</a:t>
            </a:r>
            <a:endParaRPr lang="en-US" sz="1400" dirty="0"/>
          </a:p>
        </p:txBody>
      </p:sp>
      <p:sp>
        <p:nvSpPr>
          <p:cNvPr id="30" name="Text 28"/>
          <p:cNvSpPr/>
          <p:nvPr/>
        </p:nvSpPr>
        <p:spPr>
          <a:xfrm>
            <a:off x="6437376" y="5102352"/>
            <a:ext cx="4608576" cy="822960"/>
          </a:xfrm>
          <a:prstGeom prst="rect">
            <a:avLst/>
          </a:prstGeom>
          <a:noFill/>
          <a:ln/>
        </p:spPr>
        <p:txBody>
          <a:bodyPr wrap="square" lIns="0" tIns="0" rIns="0" bIns="0" rtlCol="0" anchor="t"/>
          <a:lstStyle/>
          <a:p>
            <a:pPr marL="0" indent="0" algn="l">
              <a:lnSpc>
                <a:spcPct val="125000"/>
              </a:lnSpc>
              <a:buNone/>
            </a:pPr>
            <a:r>
              <a:rPr lang="en-US" sz="1150" dirty="0">
                <a:solidFill>
                  <a:srgbClr val="3D4C5A"/>
                </a:solidFill>
                <a:latin typeface="Calibri" pitchFamily="34" charset="0"/>
                <a:ea typeface="Calibri" pitchFamily="34" charset="-122"/>
                <a:cs typeface="Calibri" pitchFamily="34" charset="-120"/>
              </a:rPr>
              <a:t>RFC 5869 HKDF  ·  RFC 5116 AEAD  ·  RFC 8452 AES-GCM-SIV</a:t>
            </a:r>
            <a:endParaRPr lang="en-US" sz="1150" dirty="0"/>
          </a:p>
          <a:p>
            <a:pPr marL="0" indent="0" algn="l">
              <a:lnSpc>
                <a:spcPct val="125000"/>
              </a:lnSpc>
              <a:buNone/>
            </a:pPr>
            <a:r>
              <a:rPr lang="en-US" sz="1150" dirty="0">
                <a:solidFill>
                  <a:srgbClr val="3D4C5A"/>
                </a:solidFill>
                <a:latin typeface="Calibri" pitchFamily="34" charset="0"/>
                <a:ea typeface="Calibri" pitchFamily="34" charset="-122"/>
                <a:cs typeface="Calibri" pitchFamily="34" charset="-120"/>
              </a:rPr>
              <a:t>FIPS 197 AES  ·  NIST SP 800-38D GCM  ·  NIST SP 800-131A</a:t>
            </a:r>
            <a:endParaRPr lang="en-US" sz="1150" dirty="0"/>
          </a:p>
          <a:p>
            <a:pPr marL="0" indent="0" algn="l">
              <a:lnSpc>
                <a:spcPct val="125000"/>
              </a:lnSpc>
              <a:buNone/>
            </a:pPr>
            <a:r>
              <a:rPr lang="en-US" sz="1150" dirty="0">
                <a:solidFill>
                  <a:srgbClr val="3D4C5A"/>
                </a:solidFill>
                <a:latin typeface="Calibri" pitchFamily="34" charset="0"/>
                <a:ea typeface="Calibri" pitchFamily="34" charset="-122"/>
                <a:cs typeface="Calibri" pitchFamily="34" charset="-120"/>
              </a:rPr>
              <a:t>OWASP Cryptographic Storage Cheat Sheet</a:t>
            </a:r>
            <a:endParaRPr lang="en-US" sz="1150" dirty="0"/>
          </a:p>
        </p:txBody>
      </p:sp>
      <p:sp>
        <p:nvSpPr>
          <p:cNvPr id="31" name="Text 29"/>
          <p:cNvSpPr/>
          <p:nvPr/>
        </p:nvSpPr>
        <p:spPr>
          <a:xfrm>
            <a:off x="566928" y="6382512"/>
            <a:ext cx="6400800" cy="274320"/>
          </a:xfrm>
          <a:prstGeom prst="rect">
            <a:avLst/>
          </a:prstGeom>
          <a:noFill/>
          <a:ln/>
        </p:spPr>
        <p:txBody>
          <a:bodyPr wrap="square" lIns="0" tIns="0" rIns="0" bIns="0" rtlCol="0" anchor="ctr"/>
          <a:lstStyle/>
          <a:p>
            <a:pPr marL="0" indent="0">
              <a:buNone/>
            </a:pPr>
            <a:r>
              <a:rPr lang="en-US" sz="950" kern="0" spc="100" dirty="0">
                <a:solidFill>
                  <a:srgbClr val="7A8894"/>
                </a:solidFill>
                <a:latin typeface="Calibri" pitchFamily="34" charset="0"/>
                <a:ea typeface="Calibri" pitchFamily="34" charset="-122"/>
                <a:cs typeface="Calibri" pitchFamily="34" charset="-120"/>
              </a:rPr>
              <a:t>Appendix</a:t>
            </a:r>
            <a:endParaRPr lang="en-US" sz="950" dirty="0"/>
          </a:p>
        </p:txBody>
      </p:sp>
      <p:sp>
        <p:nvSpPr>
          <p:cNvPr id="32" name="Text 30"/>
          <p:cNvSpPr/>
          <p:nvPr/>
        </p:nvSpPr>
        <p:spPr>
          <a:xfrm>
            <a:off x="10527487" y="6382512"/>
            <a:ext cx="1097280" cy="274320"/>
          </a:xfrm>
          <a:prstGeom prst="rect">
            <a:avLst/>
          </a:prstGeom>
          <a:noFill/>
          <a:ln/>
        </p:spPr>
        <p:txBody>
          <a:bodyPr wrap="square" lIns="0" tIns="0" rIns="0" bIns="0" rtlCol="0" anchor="ctr"/>
          <a:lstStyle/>
          <a:p>
            <a:pPr marL="0" indent="0" algn="r">
              <a:buNone/>
            </a:pPr>
            <a:r>
              <a:rPr lang="en-US" sz="950" dirty="0">
                <a:solidFill>
                  <a:srgbClr val="7A8894"/>
                </a:solidFill>
                <a:latin typeface="Calibri" pitchFamily="34" charset="0"/>
                <a:ea typeface="Calibri" pitchFamily="34" charset="-122"/>
                <a:cs typeface="Calibri" pitchFamily="34" charset="-120"/>
              </a:rPr>
              <a:t>27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4686</TotalTime>
  <Words>6819</Words>
  <Application>Microsoft Office PowerPoint</Application>
  <PresentationFormat>Widescreen</PresentationFormat>
  <Paragraphs>815</Paragraphs>
  <Slides>34</Slides>
  <Notes>34</Notes>
  <HiddenSlides>4</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AES-256-GCM + HKDF Knowledge Transfer</dc:title>
  <dc:subject>PptxGenJS Presentation</dc:subject>
  <dc:creator>Crypto KT</dc:creator>
  <cp:lastModifiedBy>Suman Kumar1</cp:lastModifiedBy>
  <cp:revision>4</cp:revision>
  <cp:lastPrinted>2026-07-23T20:58:00Z</cp:lastPrinted>
  <dcterms:created xsi:type="dcterms:W3CDTF">2026-07-23T07:58:18Z</dcterms:created>
  <dcterms:modified xsi:type="dcterms:W3CDTF">2026-08-17T10:48:15Z</dcterms:modified>
</cp:coreProperties>
</file>